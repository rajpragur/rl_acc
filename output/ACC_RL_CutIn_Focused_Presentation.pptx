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b6e04af09654a6c" /><Relationship Type="http://schemas.openxmlformats.org/officeDocument/2006/relationships/extended-properties" Target="/docProps/app.xml" Id="R99502ea90e2e416b" /><Relationship Type="http://schemas.openxmlformats.org/officeDocument/2006/relationships/officeDocument" Target="/ppt/presentation.xml" Id="Rf1bc1b0c32bd4d57" /></Relationships>
</file>

<file path=ppt/presentation.xml><?xml version="1.0" encoding="utf-8"?>
<p:presentation xmlns:p="http://schemas.openxmlformats.org/presentationml/2006/main">
  <p:sldMasterIdLst>
    <p:sldMasterId xmlns:r="http://schemas.openxmlformats.org/officeDocument/2006/relationships" id="2147483648" r:id="Rd93e60306e124410"/>
  </p:sldMasterIdLst>
  <p:notesMasterIdLst>
    <p:notesMasterId xmlns:r="http://schemas.openxmlformats.org/officeDocument/2006/relationships" r:id="Re0e9ea4649384712"/>
  </p:notesMasterIdLst>
  <p:sldIdLst>
    <p:sldId xmlns:r="http://schemas.openxmlformats.org/officeDocument/2006/relationships" id="256" r:id="R72af13f67e894a37"/>
    <p:sldId xmlns:r="http://schemas.openxmlformats.org/officeDocument/2006/relationships" id="257" r:id="R70070e093daf49f2"/>
    <p:sldId xmlns:r="http://schemas.openxmlformats.org/officeDocument/2006/relationships" id="258" r:id="R533d2a4464da43bf"/>
    <p:sldId xmlns:r="http://schemas.openxmlformats.org/officeDocument/2006/relationships" id="259" r:id="R3cc02c4e31e94c67"/>
    <p:sldId xmlns:r="http://schemas.openxmlformats.org/officeDocument/2006/relationships" id="260" r:id="Rf4a26d25e8d843b4"/>
    <p:sldId xmlns:r="http://schemas.openxmlformats.org/officeDocument/2006/relationships" id="261" r:id="R9edec61c0e4e49a0"/>
    <p:sldId xmlns:r="http://schemas.openxmlformats.org/officeDocument/2006/relationships" id="262" r:id="Rd6c737370d1040cb"/>
    <p:sldId xmlns:r="http://schemas.openxmlformats.org/officeDocument/2006/relationships" id="263" r:id="Rb5d1263aee4742b1"/>
    <p:sldId xmlns:r="http://schemas.openxmlformats.org/officeDocument/2006/relationships" id="264" r:id="Rda5b85d34adf46ac"/>
    <p:sldId xmlns:r="http://schemas.openxmlformats.org/officeDocument/2006/relationships" id="265" r:id="Rc56ad2f29aa0406a"/>
    <p:sldId xmlns:r="http://schemas.openxmlformats.org/officeDocument/2006/relationships" id="266" r:id="R5bf778030d3a414a"/>
    <p:sldId xmlns:r="http://schemas.openxmlformats.org/officeDocument/2006/relationships" id="267" r:id="R16d1e4e658ac4ee1"/>
    <p:sldId xmlns:r="http://schemas.openxmlformats.org/officeDocument/2006/relationships" id="268" r:id="Re940662e84374ca9"/>
    <p:sldId xmlns:r="http://schemas.openxmlformats.org/officeDocument/2006/relationships" id="269" r:id="R2bc3841f18d6447d"/>
    <p:sldId xmlns:r="http://schemas.openxmlformats.org/officeDocument/2006/relationships" id="270" r:id="R298ca31580374415"/>
    <p:sldId xmlns:r="http://schemas.openxmlformats.org/officeDocument/2006/relationships" id="271" r:id="Ra69b31e9ff4543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6eae6b98fb48fa" /><Relationship Type="http://schemas.openxmlformats.org/officeDocument/2006/relationships/slideMaster" Target="/ppt/slideMasters/slideMaster1.xml" Id="Rd93e60306e124410" /><Relationship Type="http://schemas.openxmlformats.org/officeDocument/2006/relationships/notesMaster" Target="/ppt/notesMasters/notesMaster1.xml" Id="Re0e9ea4649384712" /><Relationship Type="http://schemas.openxmlformats.org/officeDocument/2006/relationships/presProps" Target="/ppt/presProps.xml" Id="R8f4315f87a70430c" /><Relationship Type="http://schemas.openxmlformats.org/officeDocument/2006/relationships/tableStyles" Target="/ppt/tableStyles.xml" Id="R79e2fef477de4752" /><Relationship Type="http://schemas.openxmlformats.org/officeDocument/2006/relationships/slide" Target="/ppt/slides/slide1.xml" Id="R72af13f67e894a37" /><Relationship Type="http://schemas.openxmlformats.org/officeDocument/2006/relationships/slide" Target="/ppt/slides/slide2.xml" Id="R70070e093daf49f2" /><Relationship Type="http://schemas.openxmlformats.org/officeDocument/2006/relationships/slide" Target="/ppt/slides/slide3.xml" Id="R533d2a4464da43bf" /><Relationship Type="http://schemas.openxmlformats.org/officeDocument/2006/relationships/slide" Target="/ppt/slides/slide4.xml" Id="R3cc02c4e31e94c67" /><Relationship Type="http://schemas.openxmlformats.org/officeDocument/2006/relationships/slide" Target="/ppt/slides/slide5.xml" Id="Rf4a26d25e8d843b4" /><Relationship Type="http://schemas.openxmlformats.org/officeDocument/2006/relationships/slide" Target="/ppt/slides/slide6.xml" Id="R9edec61c0e4e49a0" /><Relationship Type="http://schemas.openxmlformats.org/officeDocument/2006/relationships/slide" Target="/ppt/slides/slide7.xml" Id="Rd6c737370d1040cb" /><Relationship Type="http://schemas.openxmlformats.org/officeDocument/2006/relationships/slide" Target="/ppt/slides/slide8.xml" Id="Rb5d1263aee4742b1" /><Relationship Type="http://schemas.openxmlformats.org/officeDocument/2006/relationships/slide" Target="/ppt/slides/slide9.xml" Id="Rda5b85d34adf46ac" /><Relationship Type="http://schemas.openxmlformats.org/officeDocument/2006/relationships/slide" Target="/ppt/slides/slide10.xml" Id="Rc56ad2f29aa0406a" /><Relationship Type="http://schemas.openxmlformats.org/officeDocument/2006/relationships/slide" Target="/ppt/slides/slide11.xml" Id="R5bf778030d3a414a" /><Relationship Type="http://schemas.openxmlformats.org/officeDocument/2006/relationships/slide" Target="/ppt/slides/slide12.xml" Id="R16d1e4e658ac4ee1" /><Relationship Type="http://schemas.openxmlformats.org/officeDocument/2006/relationships/slide" Target="/ppt/slides/slide13.xml" Id="Re940662e84374ca9" /><Relationship Type="http://schemas.openxmlformats.org/officeDocument/2006/relationships/slide" Target="/ppt/slides/slide14.xml" Id="R2bc3841f18d6447d" /><Relationship Type="http://schemas.openxmlformats.org/officeDocument/2006/relationships/slide" Target="/ppt/slides/slide15.xml" Id="R298ca31580374415" /><Relationship Type="http://schemas.openxmlformats.org/officeDocument/2006/relationships/slide" Target="/ppt/slides/slide16.xml" Id="Ra69b31e9ff4543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bcad1b78114a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c1bd0cdf2f448a" /><Relationship Type="http://schemas.openxmlformats.org/officeDocument/2006/relationships/notesMaster" Target="/ppt/notesMasters/notesMaster1.xml" Id="R34e93eaa18e04f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7fd089b72a4984" /><Relationship Type="http://schemas.openxmlformats.org/officeDocument/2006/relationships/notesMaster" Target="/ppt/notesMasters/notesMaster1.xml" Id="R17ee658bfcc843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ec7e565812440b" /><Relationship Type="http://schemas.openxmlformats.org/officeDocument/2006/relationships/notesMaster" Target="/ppt/notesMasters/notesMaster1.xml" Id="R9fda9fd781a64d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356bed4fba4ac0" /><Relationship Type="http://schemas.openxmlformats.org/officeDocument/2006/relationships/notesMaster" Target="/ppt/notesMasters/notesMaster1.xml" Id="R19dbd6b588c84c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229458633e41e5" /><Relationship Type="http://schemas.openxmlformats.org/officeDocument/2006/relationships/notesMaster" Target="/ppt/notesMasters/notesMaster1.xml" Id="Re37fd2d3d7344c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033fc87fd64466" /><Relationship Type="http://schemas.openxmlformats.org/officeDocument/2006/relationships/notesMaster" Target="/ppt/notesMasters/notesMaster1.xml" Id="R0414fc9b400244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35d4f06dbe4722" /><Relationship Type="http://schemas.openxmlformats.org/officeDocument/2006/relationships/notesMaster" Target="/ppt/notesMasters/notesMaster1.xml" Id="R7a1dd3b6f7204a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d4477ebb6b426c" /><Relationship Type="http://schemas.openxmlformats.org/officeDocument/2006/relationships/notesMaster" Target="/ppt/notesMasters/notesMaster1.xml" Id="Rd1198bd87b7641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f48680d82c4fcc" /><Relationship Type="http://schemas.openxmlformats.org/officeDocument/2006/relationships/notesMaster" Target="/ppt/notesMasters/notesMaster1.xml" Id="Rd4d5830bde154f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1f03e229394ced" /><Relationship Type="http://schemas.openxmlformats.org/officeDocument/2006/relationships/notesMaster" Target="/ppt/notesMasters/notesMaster1.xml" Id="R0670621f7b294a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4be0ef717c4814" /><Relationship Type="http://schemas.openxmlformats.org/officeDocument/2006/relationships/notesMaster" Target="/ppt/notesMasters/notesMaster1.xml" Id="Recebf10d3a2547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367510d6f94e89" /><Relationship Type="http://schemas.openxmlformats.org/officeDocument/2006/relationships/notesMaster" Target="/ppt/notesMasters/notesMaster1.xml" Id="R5fb2a8a9386d4f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181970a26243e0" /><Relationship Type="http://schemas.openxmlformats.org/officeDocument/2006/relationships/notesMaster" Target="/ppt/notesMasters/notesMaster1.xml" Id="R3464b1513beb4f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14d95eedc24f90" /><Relationship Type="http://schemas.openxmlformats.org/officeDocument/2006/relationships/notesMaster" Target="/ppt/notesMasters/notesMaster1.xml" Id="R7aafcb462b0742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abb868e6fa4142" /><Relationship Type="http://schemas.openxmlformats.org/officeDocument/2006/relationships/notesMaster" Target="/ppt/notesMasters/notesMaster1.xml" Id="Rf6e939c1451b4f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94605c730846a7" /><Relationship Type="http://schemas.openxmlformats.org/officeDocument/2006/relationships/notesMaster" Target="/ppt/notesMasters/notesMaster1.xml" Id="R9a2af06136f940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We asked whether a compact tabular Q-learning correction can help an ACC controller react to a sudden cut-in. We compare CTG-PID, a simplified MPC, residual Q and residual Q with a braking-distance guard over 1,000 matched episodes. A public commercial ACC field trace provides real-world context, but not a direct head-to-head cut-in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cut-in in everyday terms: a new lead vehicle appears closer than the one being followed. The chosen niche is the short response window: braking must reduce closing speed, but sudden commands can feel harsh. Across seeds, the model instantly drops the longitudinal gap by 16–26 m at 6–10 s, then the lead brakes 3.5–5.0 m/s² for 2–3 s. It does not draw a lane change, model radar perception, or claim that an actual commercial ACC system uses these exact maneuvers.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Synthesize by research question. Classical control papers study tracking and transitions; RL studies may reproduce human trajectories, coordinate vehicles, or optimize traffic flow; safety papers define different kinds of filters or formal conditions. Do not treat their results as directly interchangeable. References: Bageshwar et al. 2004, https://doi.org/10.1109/TVT.2004.833625; Li et al. 2011, https://doi.org/10.1109/TCST.2010.2049203; He et al. 2019, https://doi.org/10.1016/j.ifacol.2019.09.004; Desjardins &amp; Chaib-draa 2011, https://doi.org/10.1109/TITS.2011.2157145; Zhu et al. 2018, https://doi.org/10.1016/j.trc.2018.10.024; Zhu et al. 2020, https://doi.org/10.1016/j.trc.2020.102662; Lin et al. 2021, https://doi.org/10.1109/TIV.2020.3012947; Ames et al. 2014, https://doi.org/10.1109/CDC.2014.7040372; Shalev-Shwartz et al. 2017, https://arxiv.org/abs/1708.06374; Alshiekh et al. 2018, https://doi.org/10.1609/AAAI.V32I1.11797; Hailemichael et al. 2022, https://doi.org/10.1016/j.ifacol.2022.10.276.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attached course guide allocates 30–35 marks to the literature review, 10 to own work/findings, and 30–35 to actual research. It separately suggests about 13 papers. We interpreted the mark values correctly and designed a focused review rather than assuming the team needs 30–35 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lead profile sets speed; state features describe the car-following situation; CTG-PID supplies the nominal acceleration; Q chooses a discrete residual; an optional braking-distance guard can clip the command; actuator and longitudinal plant determine next state. In unseen or tied table states the action is zero residual. This fallback does not prove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10 Hz longitudinal point-mass model and the chosen time-gap policy. The Q-table has five discretized state features and seven acceleration residuals. The reward combines normalized tracking, relative-speed, acceleration and jerk penalties, a soft negative-margin shaping cost and a large collision penalty. The discretization is intentionally inspectable but many bins are never visited; the chosen action granularity is a limitation. Q-learning update follows Watkins and Dayan (1992), https://doi.org/10.1007/BF00992698.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6,000 episodes on steady, wave and moderate braking. Evaluation: 50 seeds for each of five scenario families and four controllers, totalling 1,000. That is 600 training-family episodes and 400 held-out cut-in/emergency episodes. Each seed randomizes initial conditions and, for holdouts, event settings; all four controllers see the same seed. We report episode means, sample SDs and approximate 95% intervals. Cut-in onset is 6–10 s, gap loss is 16–26 m, and lead braking is 3.5–5.0 m/s² for 2–3 s. This is still a longitudinal distance-step approximation, not lane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episode gap RMSE, lower is closer to the target. Common profiles combine 150 episodes (three scenarios × 50); held-out stresses combine 100 episodes (two × 50). MPC is lowest at 1.75 m and 2.36 m. CTG-PID is 2.46 m and 3.58 m. Residual Q is 3.24 m and 4.77 m; Q+guard is 3.24 m and 3.91 m. Approximate 95% intervals for the group means: common-profile CTG [2.20,2.72], MPC [1.55,1.95], Q [2.86,3.61]; holdout CTG [3.08,4.07], MPC [2.06,2.65], Q [4.29,5.25], Q+guard [3.58,4.23]. This is model simulation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Jerk is the rate of change of acceleration and a rough ride-comfort proxy. Across all scenarios, CTG-PID has the lowest mean absolute jerk. In the cut-in family, Q had 0.957 m/s³ and Q+guard 1.222 m/s³. The guard changed the action 25.8 times per 400-step episode on average (6.46% of steps). Paired Q+guard minus Q jerk was +0.265 m/s³, approximate 95% interval [+0.239,+0.290]. The guard effect is visible but comes with a real smoothness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50 randomized and seed-matched cut-in episodes, unfiltered Q had a 7.00 m mean episode minimum gap (sample SD 3.14) and TTC below 2 seconds during 2.04% of closing samples. Q+guard raised mean minimum gap to 11.35 m and had zero observed TTC&lt;2 exposure in these runs. Paired Q+guard minus Q minimum gap was +4.355 m, approximate 95% interval [+4.026,+4.683]; paired short-TTC exposure change was −2.037 percentage points, interval [−3.138,−0.936]. MPC still had the best cut-in gap RMSE (3.76 m) and largest mean minimum gap (13.11 m). The guard changed the Q action about 25.8 times per episode and increased jerk. No collision occurred in these 50 cut-in simulations; that is not a risk estimate or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matched cut-in seed chosen for a readable example, not a cherry-picked summary. All controllers receive the same onset, gap reduction, lead braking, initial speeds and starting gap. The abrupt discontinuity in gap is intentional in the model. The aggregate claims come from 50 randomized episodes per controller in the preceding result slides. The MP4 simulation clip can be played alongside this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requested production comparison, bounded carefully. Honda’s official 2025 Accord Hybrid manual describes a settable following interval and a warning if the lead vehicle slows abruptly or another vehicle cuts in; it does not publish a controller we can replay. For data context, the European Commission JRC OpenACC database includes on-road runs of commercial ACC systems. We analyzed one Vicolungo 2019 trace: a Human-driven Mitsubishi SpaceStar leads a Ford S-Max with ACC at minimum distance setting; 5,505 interpolated samples span 550.4 s; observed median time headway is 1.314 s. Because the original GNSS data were 3–5 Hz and spline-interpolated to 10 Hz, we avoid claiming high-frequency jerk from it. At the median follower speed of 31.36 m/s, our project target 5+1.3v equals 45.77 m, or 1.459 s effective headway. This is a descriptive reference, not a same-condition cut-in test. The commercial control logic is not a directly available benchmark, so we make no claim that our RL beats a production car. Sources: Honda owner manual https://techinfo.honda.com/rjanisis/pubs/om/ah/a30b2525iom/enu/details/131245047-520366.html; JRC OpenACC dataset https://data.jrc.ec.europa.eu/dataset/9702c950-c80f-4d2f-982f-44d06ea0009f; Makridis et al. 2021, https://doi.org/10.1016/j.trc.2021.103047.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our own design iteration. The absolute-action Q pilot had 15.20 m in-distribution RMSE and one collision in 24 episodes. We retained it, then switched to residual Q so the nominal CTG controller remains active. In the expanded common-profile comparison (150 episodes per controller), CTG-PID mean RMSE was 2.46 m, MPC 1.75 m, and residual Q 3.24 m. The guard does not reverse that overall ranking. This is a negative performance result and a positive engineering lesson about keeping a transparent baseline in the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the examiner plainly. The safety guard improved Q relative to Q in this randomized cut-in family: mean minimum gap rose from 7.00 to 11.35 m and time with TTC&lt;2 s went from 2.04% to zero across the 50 runs. But MPC still had the lowest cut-in gap RMSE (3.76 m) and the largest mean minimum gap (13.11 m). Guarded Q also had the highest mean absolute jerk among these cut-in methods. We have not run our policy head-to-head with a commercial car; the OpenACC sample is context and Honda’s manual is a feature comparison. This project demonstrates a focused, reproducible experiment, not vehicle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references support ACC/MPC, field data and RL claims. The course guide contains a broader critical review and paper-analysis matrix. Consult full papers before repeating paper-level numerical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terminology references: Ames et al. 2014 is an ACC-specific CBF-QP study; RSS is a safe-distance model; shielding filters actions against modeled specifications; ISO 15622 covers ACC performance requirements and test procedures; ISO 21448 provides a SOTIF framework. Our simplified guard does not implement or inherit a formal guarantee. The Honda link is a production-feature reference; the OpenACC citation describes the data used for the headway context. ISO/DIS 15622 was registered as a draft revision as of this project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e3a89de2044d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3fddc11d7d43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a34c81ff1342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19f8562d7f4b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0b5bd8859f41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ab0b9080f947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5C1387-2145-4DC7-8F51-103823C1813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A22CBB-0ED6-4A49-BB2B-B0EA54C400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27E80A-E1C4-4B87-93B2-54FC72B3A3F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B12143-9E47-4D49-BC19-B8BD1DAF87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65A2F4-149F-46E3-A759-C76897B650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6BC98B-443F-4FE9-A039-77903A27B2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444601-D840-4672-BE66-DB69B87A70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56AAC4-1CEB-433B-B681-5E702A8CFC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C9C36B-75BD-4E96-961B-3A38386520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838850-2EC7-4CD7-99E3-31121226A1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1e070d511b451f" /><Relationship Type="http://schemas.openxmlformats.org/officeDocument/2006/relationships/slideLayout" Target="/ppt/slideLayouts/slideLayout1.xml" Id="R2b0ff05ee9274182" /><Relationship Type="http://schemas.openxmlformats.org/officeDocument/2006/relationships/slideLayout" Target="/ppt/slideLayouts/slideLayout2.xml" Id="R70cfa6eeccfe49c3" /><Relationship Type="http://schemas.openxmlformats.org/officeDocument/2006/relationships/slideLayout" Target="/ppt/slideLayouts/slideLayout3.xml" Id="R6f0197948b0d406b" /><Relationship Type="http://schemas.openxmlformats.org/officeDocument/2006/relationships/slideLayout" Target="/ppt/slideLayouts/slideLayout4.xml" Id="Raba171a19d404af9" /><Relationship Type="http://schemas.openxmlformats.org/officeDocument/2006/relationships/slideLayout" Target="/ppt/slideLayouts/slideLayout5.xml" Id="Rbce7ac2c8f3d49b1" /><Relationship Type="http://schemas.openxmlformats.org/officeDocument/2006/relationships/slideLayout" Target="/ppt/slideLayouts/slideLayout6.xml" Id="R9b64dbe0ff0241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0ff05ee9274182"/>
    <p:sldLayoutId xmlns:r="http://schemas.openxmlformats.org/officeDocument/2006/relationships" id="2147483650" r:id="R70cfa6eeccfe49c3"/>
    <p:sldLayoutId xmlns:r="http://schemas.openxmlformats.org/officeDocument/2006/relationships" id="2147483651" r:id="R6f0197948b0d406b"/>
    <p:sldLayoutId xmlns:r="http://schemas.openxmlformats.org/officeDocument/2006/relationships" id="2147483652" r:id="Raba171a19d404af9"/>
    <p:sldLayoutId xmlns:r="http://schemas.openxmlformats.org/officeDocument/2006/relationships" id="2147483653" r:id="Rbce7ac2c8f3d49b1"/>
    <p:sldLayoutId xmlns:r="http://schemas.openxmlformats.org/officeDocument/2006/relationships" id="2147483654" r:id="R9b64dbe0ff0241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ba59daef8648ff" /><Relationship Type="http://schemas.openxmlformats.org/officeDocument/2006/relationships/notesSlide" Target="/ppt/notesSlides/notesSlide1.xml" Id="Rd437b844483646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3a393bb279471b" /><Relationship Type="http://schemas.openxmlformats.org/officeDocument/2006/relationships/notesSlide" Target="/ppt/notesSlides/notesSlide2.xml" Id="R5e608412c9874a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89952b6df74982" /><Relationship Type="http://schemas.openxmlformats.org/officeDocument/2006/relationships/notesSlide" Target="/ppt/notesSlides/notesSlide3.xml" Id="R84ee2c1db60945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e383830a054202" /><Relationship Type="http://schemas.openxmlformats.org/officeDocument/2006/relationships/notesSlide" Target="/ppt/notesSlides/notesSlide4.xml" Id="Rfe35bb088a4642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390e97ffa346f5" /><Relationship Type="http://schemas.openxmlformats.org/officeDocument/2006/relationships/notesSlide" Target="/ppt/notesSlides/notesSlide5.xml" Id="R879c45fce38f41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379fbd5d6d54ba4" /><Relationship Type="http://schemas.openxmlformats.org/officeDocument/2006/relationships/notesSlide" Target="/ppt/notesSlides/notesSlide6.xml" Id="Re0984d85111b45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b80c7dd96b4b92" /><Relationship Type="http://schemas.openxmlformats.org/officeDocument/2006/relationships/notesSlide" Target="/ppt/notesSlides/notesSlide7.xml" Id="R7608d55375a043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f0e233895a4149" /><Relationship Type="http://schemas.openxmlformats.org/officeDocument/2006/relationships/chart" Target="/ppt/slides/charts/chart1.xml" Id="R937fbbede30a4ad9" /><Relationship Type="http://schemas.openxmlformats.org/officeDocument/2006/relationships/notesSlide" Target="/ppt/notesSlides/notesSlide8.xml" Id="R287d76161f8745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3db42d27884b42" /><Relationship Type="http://schemas.openxmlformats.org/officeDocument/2006/relationships/chart" Target="/ppt/slides/charts/chart2.xml" Id="R174c0f4080cc4892" /><Relationship Type="http://schemas.openxmlformats.org/officeDocument/2006/relationships/notesSlide" Target="/ppt/notesSlides/notesSlide9.xml" Id="R27472683703648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d1eed1d52a4d5b" /><Relationship Type="http://schemas.openxmlformats.org/officeDocument/2006/relationships/chart" Target="/ppt/slides/charts/chart3.xml" Id="R2607c85c06aa4f46" /><Relationship Type="http://schemas.openxmlformats.org/officeDocument/2006/relationships/notesSlide" Target="/ppt/notesSlides/notesSlide10.xml" Id="R4fd5fd1f7d264d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3573aea6d04359" /><Relationship Type="http://schemas.openxmlformats.org/officeDocument/2006/relationships/chart" Target="/ppt/slides/charts/chart4.xml" Id="R2c7dc8a69b3e4abd" /><Relationship Type="http://schemas.openxmlformats.org/officeDocument/2006/relationships/notesSlide" Target="/ppt/notesSlides/notesSlide11.xml" Id="Re9e2afd5c8874f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bef94cb4234568" /><Relationship Type="http://schemas.openxmlformats.org/officeDocument/2006/relationships/notesSlide" Target="/ppt/notesSlides/notesSlide12.xml" Id="Rdbcdec86932449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86c856aae854403" /><Relationship Type="http://schemas.openxmlformats.org/officeDocument/2006/relationships/notesSlide" Target="/ppt/notesSlides/notesSlide13.xml" Id="R3688078cf7344b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999bcce0a29425c" /><Relationship Type="http://schemas.openxmlformats.org/officeDocument/2006/relationships/notesSlide" Target="/ppt/notesSlides/notesSlide14.xml" Id="R6c98bda015f240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0c3a280b134836" /><Relationship Type="http://schemas.openxmlformats.org/officeDocument/2006/relationships/notesSlide" Target="/ppt/notesSlides/notesSlide15.xml" Id="Rb3e8ebbca5a44c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bb4c2d6757649e1" /><Relationship Type="http://schemas.openxmlformats.org/officeDocument/2006/relationships/notesSlide" Target="/ppt/notesSlides/notesSlide16.xml" Id="R9f862956959f41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02437"/>
                </a:solidFill>
                <a:latin typeface="Arial"/>
                <a:ea typeface="Arial"/>
                <a:cs typeface="Arial"/>
              </a:rPr>
              <a:t>Episode gap RMSE (m) · mean across scenarios and seeds</a:t>
            </a:r>
          </a:p>
        </c:rich>
      </c:tx>
      <c:overlay val="0"/>
      <c:txPr>
        <a:bodyPr xmlns:a="http://schemas.openxmlformats.org/drawingml/2006/main" anchorCtr="1"/>
        <a:lstStyle xmlns:a="http://schemas.openxmlformats.org/drawingml/2006/main"/>
        <a:p xmlns:a="http://schemas.openxmlformats.org/drawingml/2006/main">
          <a:pPr>
            <a:defRPr sz="1350" b="1">
              <a:solidFill>
                <a:srgbClr val="102437"/>
              </a:solidFill>
              <a:latin typeface="Arial"/>
              <a:ea typeface="Arial"/>
              <a:cs typeface="Arial"/>
            </a:defRPr>
          </a:pPr>
        </a:p>
      </c:txPr>
    </c:title>
    <c:plotArea>
      <c:barChart>
        <c:barDir val="col"/>
        <c:grouping val="clustered"/>
        <c:varyColors val="0"/>
        <c:ser>
          <c:idx val="0"/>
          <c:order val="0"/>
          <c:tx>
            <c:v>Common profiles (150 episodes)</c:v>
          </c:tx>
          <c:spPr>
            <a:solidFill xmlns:a="http://schemas.openxmlformats.org/drawingml/2006/main">
              <a:srgbClr val="3F7990"/>
            </a:solidFill>
          </c:spPr>
          <c:invertIfNegative val="0"/>
          <c:cat>
            <c:strRef>
              <c:f>'Chart Data'!$A$2:$A$5</c:f>
              <c:strCache>
                <c:ptCount val="4"/>
                <c:pt idx="0">
                  <c:v>CTG-PID</c:v>
                </c:pt>
                <c:pt idx="1">
                  <c:v>MPC</c:v>
                </c:pt>
                <c:pt idx="2">
                  <c:v>Residual Q</c:v>
                </c:pt>
                <c:pt idx="3">
                  <c:v>Q + guard</c:v>
                </c:pt>
              </c:strCache>
            </c:strRef>
          </c:cat>
          <c:val>
            <c:numRef>
              <c:f>'Chart Data'!$B$2:$B$5</c:f>
              <c:numCache>
                <c:formatCode>0.0</c:formatCode>
                <c:ptCount val="4"/>
                <c:pt idx="0">
                  <c:v>2.46</c:v>
                </c:pt>
                <c:pt idx="1">
                  <c:v>1.75</c:v>
                </c:pt>
                <c:pt idx="2">
                  <c:v>3.24</c:v>
                </c:pt>
                <c:pt idx="3">
                  <c:v>3.24</c:v>
                </c:pt>
              </c:numCache>
            </c:numRef>
          </c:val>
        </c:ser>
        <c:ser>
          <c:idx val="1"/>
          <c:order val="1"/>
          <c:tx>
            <c:v>Held-out stresses (100 episodes)</c:v>
          </c:tx>
          <c:spPr>
            <a:solidFill xmlns:a="http://schemas.openxmlformats.org/drawingml/2006/main">
              <a:srgbClr val="D98F32"/>
            </a:solidFill>
          </c:spPr>
          <c:invertIfNegative val="0"/>
          <c:cat>
            <c:strRef>
              <c:f>'Chart Data'!$C$2:$C$5</c:f>
              <c:strCache>
                <c:ptCount val="4"/>
                <c:pt idx="0">
                  <c:v>CTG-PID</c:v>
                </c:pt>
                <c:pt idx="1">
                  <c:v>MPC</c:v>
                </c:pt>
                <c:pt idx="2">
                  <c:v>Residual Q</c:v>
                </c:pt>
                <c:pt idx="3">
                  <c:v>Q + guard</c:v>
                </c:pt>
              </c:strCache>
            </c:strRef>
          </c:cat>
          <c:val>
            <c:numRef>
              <c:f>'Chart Data'!$D$2:$D$5</c:f>
              <c:numCache>
                <c:formatCode>0.0</c:formatCode>
                <c:ptCount val="4"/>
                <c:pt idx="0">
                  <c:v>3.58</c:v>
                </c:pt>
                <c:pt idx="1">
                  <c:v>2.36</c:v>
                </c:pt>
                <c:pt idx="2">
                  <c:v>4.77</c:v>
                </c:pt>
                <c:pt idx="3">
                  <c:v>3.91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900" b="1">
                  <a:solidFill>
                    <a:srgbClr val="102437"/>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D2E3B"/>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667A8A"/>
                    </a:solidFill>
                    <a:latin typeface="Arial"/>
                    <a:ea typeface="Arial"/>
                    <a:cs typeface="Arial"/>
                  </a:rPr>
                  <a:t>RMSE (m)</a:t>
                </a:r>
              </a:p>
            </c:rich>
          </c:tx>
          <c:overlay val="0"/>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crossAx val="48650112"/>
        <c:crossBetween val="between"/>
        <c:majorUnit val="1"/>
      </c:valAx>
      <c:spPr>
        <a:solidFill xmlns:a="http://schemas.openxmlformats.org/drawingml/2006/main">
          <a:srgbClr val="F6F8F9"/>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legend>
    <c:plotVisOnly val="1"/>
  </c:chart>
  <c:spPr>
    <a:solidFill xmlns:a="http://schemas.openxmlformats.org/drawingml/2006/main">
      <a:srgbClr val="F6F8F9"/>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02437"/>
                </a:solidFill>
                <a:latin typeface="Arial"/>
                <a:ea typeface="Arial"/>
                <a:cs typeface="Arial"/>
              </a:rPr>
              <a:t>Mean absolute jerk (m/s³)</a:t>
            </a:r>
          </a:p>
        </c:rich>
      </c:tx>
      <c:overlay val="0"/>
      <c:txPr>
        <a:bodyPr xmlns:a="http://schemas.openxmlformats.org/drawingml/2006/main" anchorCtr="1"/>
        <a:lstStyle xmlns:a="http://schemas.openxmlformats.org/drawingml/2006/main"/>
        <a:p xmlns:a="http://schemas.openxmlformats.org/drawingml/2006/main">
          <a:pPr>
            <a:defRPr sz="1350" b="1">
              <a:solidFill>
                <a:srgbClr val="102437"/>
              </a:solidFill>
              <a:latin typeface="Arial"/>
              <a:ea typeface="Arial"/>
              <a:cs typeface="Arial"/>
            </a:defRPr>
          </a:pPr>
        </a:p>
      </c:txPr>
    </c:title>
    <c:plotArea>
      <c:barChart>
        <c:barDir val="col"/>
        <c:grouping val="clustered"/>
        <c:varyColors val="0"/>
        <c:ser>
          <c:idx val="0"/>
          <c:order val="0"/>
          <c:tx>
            <c:v>Common profiles</c:v>
          </c:tx>
          <c:spPr>
            <a:solidFill xmlns:a="http://schemas.openxmlformats.org/drawingml/2006/main">
              <a:srgbClr val="3F7990"/>
            </a:solidFill>
          </c:spPr>
          <c:invertIfNegative val="0"/>
          <c:cat>
            <c:strRef>
              <c:f>'Chart Data'!$A$2:$A$5</c:f>
              <c:strCache>
                <c:ptCount val="4"/>
                <c:pt idx="0">
                  <c:v>CTG-PID</c:v>
                </c:pt>
                <c:pt idx="1">
                  <c:v>MPC</c:v>
                </c:pt>
                <c:pt idx="2">
                  <c:v>Residual Q</c:v>
                </c:pt>
                <c:pt idx="3">
                  <c:v>Q + guard</c:v>
                </c:pt>
              </c:strCache>
            </c:strRef>
          </c:cat>
          <c:val>
            <c:numRef>
              <c:f>'Chart Data'!$B$2:$B$5</c:f>
              <c:numCache>
                <c:formatCode>0.0</c:formatCode>
                <c:ptCount val="4"/>
                <c:pt idx="0">
                  <c:v>0.216</c:v>
                </c:pt>
                <c:pt idx="1">
                  <c:v>0.268</c:v>
                </c:pt>
                <c:pt idx="2">
                  <c:v>0.505</c:v>
                </c:pt>
                <c:pt idx="3">
                  <c:v>0.505</c:v>
                </c:pt>
              </c:numCache>
            </c:numRef>
          </c:val>
        </c:ser>
        <c:ser>
          <c:idx val="1"/>
          <c:order val="1"/>
          <c:tx>
            <c:v>Held-out stresses</c:v>
          </c:tx>
          <c:spPr>
            <a:solidFill xmlns:a="http://schemas.openxmlformats.org/drawingml/2006/main">
              <a:srgbClr val="D98F32"/>
            </a:solidFill>
          </c:spPr>
          <c:invertIfNegative val="0"/>
          <c:cat>
            <c:strRef>
              <c:f>'Chart Data'!$C$2:$C$5</c:f>
              <c:strCache>
                <c:ptCount val="4"/>
                <c:pt idx="0">
                  <c:v>CTG-PID</c:v>
                </c:pt>
                <c:pt idx="1">
                  <c:v>MPC</c:v>
                </c:pt>
                <c:pt idx="2">
                  <c:v>Residual Q</c:v>
                </c:pt>
                <c:pt idx="3">
                  <c:v>Q + guard</c:v>
                </c:pt>
              </c:strCache>
            </c:strRef>
          </c:cat>
          <c:val>
            <c:numRef>
              <c:f>'Chart Data'!$D$2:$D$5</c:f>
              <c:numCache>
                <c:formatCode>0.0</c:formatCode>
                <c:ptCount val="4"/>
                <c:pt idx="0">
                  <c:v>0.282</c:v>
                </c:pt>
                <c:pt idx="1">
                  <c:v>0.579</c:v>
                </c:pt>
                <c:pt idx="2">
                  <c:v>0.738</c:v>
                </c:pt>
                <c:pt idx="3">
                  <c:v>0.85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825" b="1">
                  <a:solidFill>
                    <a:srgbClr val="102437"/>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D2E3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667A8A"/>
                    </a:solidFill>
                    <a:latin typeface="Arial"/>
                    <a:ea typeface="Arial"/>
                    <a:cs typeface="Arial"/>
                  </a:rPr>
                  <a:t>m/s³</a:t>
                </a:r>
              </a:p>
            </c:rich>
          </c:tx>
          <c:overlay val="0"/>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crossAx val="48650112"/>
        <c:crossBetween val="between"/>
        <c:majorUnit val="0.2"/>
      </c:valAx>
      <c:spPr>
        <a:solidFill xmlns:a="http://schemas.openxmlformats.org/drawingml/2006/main">
          <a:srgbClr val="F6F8F9"/>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legend>
    <c:plotVisOnly val="1"/>
  </c:chart>
  <c:spPr>
    <a:solidFill xmlns:a="http://schemas.openxmlformats.org/drawingml/2006/main">
      <a:srgbClr val="F6F8F9"/>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02437"/>
                </a:solidFill>
                <a:latin typeface="Arial"/>
                <a:ea typeface="Arial"/>
                <a:cs typeface="Arial"/>
              </a:rPr>
              <a:t>Mean episode minimum gap · 50 matched cut-in runs per controller (m)</a:t>
            </a:r>
          </a:p>
        </c:rich>
      </c:tx>
      <c:overlay val="0"/>
      <c:txPr>
        <a:bodyPr xmlns:a="http://schemas.openxmlformats.org/drawingml/2006/main" anchorCtr="1"/>
        <a:lstStyle xmlns:a="http://schemas.openxmlformats.org/drawingml/2006/main"/>
        <a:p xmlns:a="http://schemas.openxmlformats.org/drawingml/2006/main">
          <a:pPr>
            <a:defRPr sz="1350" b="1">
              <a:solidFill>
                <a:srgbClr val="102437"/>
              </a:solidFill>
              <a:latin typeface="Arial"/>
              <a:ea typeface="Arial"/>
              <a:cs typeface="Arial"/>
            </a:defRPr>
          </a:pPr>
        </a:p>
      </c:txPr>
    </c:title>
    <c:plotArea>
      <c:barChart>
        <c:barDir val="col"/>
        <c:grouping val="clustered"/>
        <c:varyColors val="0"/>
        <c:ser>
          <c:idx val="0"/>
          <c:order val="0"/>
          <c:tx>
            <c:v>Minimum gap</c:v>
          </c:tx>
          <c:spPr>
            <a:solidFill xmlns:a="http://schemas.openxmlformats.org/drawingml/2006/main">
              <a:srgbClr val="0E9F94"/>
            </a:solidFill>
          </c:spPr>
          <c:invertIfNegative val="0"/>
          <c:cat>
            <c:strRef>
              <c:f>'Chart Data'!$A$2:$A$5</c:f>
              <c:strCache>
                <c:ptCount val="4"/>
                <c:pt idx="0">
                  <c:v>CTG-PID</c:v>
                </c:pt>
                <c:pt idx="1">
                  <c:v>MPC</c:v>
                </c:pt>
                <c:pt idx="2">
                  <c:v>Residual Q</c:v>
                </c:pt>
                <c:pt idx="3">
                  <c:v>Q + guard</c:v>
                </c:pt>
              </c:strCache>
            </c:strRef>
          </c:cat>
          <c:val>
            <c:numRef>
              <c:f>'Chart Data'!$B$2:$B$5</c:f>
              <c:numCache>
                <c:formatCode>0</c:formatCode>
                <c:ptCount val="4"/>
                <c:pt idx="0">
                  <c:v>8.58</c:v>
                </c:pt>
                <c:pt idx="1">
                  <c:v>13.11</c:v>
                </c:pt>
                <c:pt idx="2">
                  <c:v>7</c:v>
                </c:pt>
                <c:pt idx="3">
                  <c:v>11.35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900" b="1">
                  <a:solidFill>
                    <a:srgbClr val="102437"/>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D2E3B"/>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667A8A"/>
                    </a:solidFill>
                    <a:latin typeface="Arial"/>
                    <a:ea typeface="Arial"/>
                    <a:cs typeface="Arial"/>
                  </a:rPr>
                  <a:t>m</a:t>
                </a:r>
              </a:p>
            </c:rich>
          </c:tx>
          <c:overlay val="0"/>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crossAx val="48650112"/>
        <c:crossBetween val="between"/>
        <c:majorUnit val="3"/>
      </c:valAx>
      <c:spPr>
        <a:solidFill xmlns:a="http://schemas.openxmlformats.org/drawingml/2006/main">
          <a:srgbClr val="F6F8F9"/>
        </a:solidFill>
        <a:ln xmlns:a="http://schemas.openxmlformats.org/drawingml/2006/main" w="0">
          <a:noFill/>
          <a:prstDash val="solid"/>
        </a:ln>
      </c:spPr>
    </c:plotArea>
    <c:plotVisOnly val="1"/>
  </c:chart>
  <c:spPr>
    <a:solidFill xmlns:a="http://schemas.openxmlformats.org/drawingml/2006/main">
      <a:srgbClr val="F6F8F9"/>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02437"/>
                </a:solidFill>
                <a:latin typeface="Arial"/>
                <a:ea typeface="Arial"/>
                <a:cs typeface="Arial"/>
              </a:rPr>
              <a:t>Bumper gap over time · representative seed 17</a:t>
            </a:r>
          </a:p>
        </c:rich>
      </c:tx>
      <c:overlay val="0"/>
      <c:txPr>
        <a:bodyPr xmlns:a="http://schemas.openxmlformats.org/drawingml/2006/main" anchorCtr="1"/>
        <a:lstStyle xmlns:a="http://schemas.openxmlformats.org/drawingml/2006/main"/>
        <a:p xmlns:a="http://schemas.openxmlformats.org/drawingml/2006/main">
          <a:pPr>
            <a:defRPr sz="1350" b="1">
              <a:solidFill>
                <a:srgbClr val="102437"/>
              </a:solidFill>
              <a:latin typeface="Arial"/>
              <a:ea typeface="Arial"/>
              <a:cs typeface="Arial"/>
            </a:defRPr>
          </a:pPr>
        </a:p>
      </c:txPr>
    </c:title>
    <c:plotArea>
      <c:lineChart>
        <c:grouping val="standard"/>
        <c:varyColors val="0"/>
        <c:ser>
          <c:idx val="0"/>
          <c:order val="0"/>
          <c:tx>
            <c:v>CTG-PID</c:v>
          </c:tx>
          <c:spPr>
            <a:solidFill xmlns:a="http://schemas.openxmlformats.org/drawingml/2006/main">
              <a:srgbClr val="3F7990"/>
            </a:solidFill>
          </c:spPr>
          <c:marker>
            <c:symbol val="none"/>
          </c:marker>
          <c:cat>
            <c:numRef>
              <c:f>'Chart Data'!$A$2:$A$22</c:f>
              <c:numCache>
                <c:formatCode>General</c:formatCode>
                <c:ptCount val="2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numCache>
            </c:numRef>
          </c:cat>
          <c:val>
            <c:numRef>
              <c:f>'Chart Data'!$B$2:$B$22</c:f>
              <c:numCache>
                <c:formatCode>0</c:formatCode>
                <c:ptCount val="21"/>
                <c:pt idx="0">
                  <c:v>37.05</c:v>
                </c:pt>
                <c:pt idx="1">
                  <c:v>37.46</c:v>
                </c:pt>
                <c:pt idx="2">
                  <c:v>37.08</c:v>
                </c:pt>
                <c:pt idx="3">
                  <c:v>36.74</c:v>
                </c:pt>
                <c:pt idx="4">
                  <c:v>36.46</c:v>
                </c:pt>
                <c:pt idx="5">
                  <c:v>13.78</c:v>
                </c:pt>
                <c:pt idx="6">
                  <c:v>11.51</c:v>
                </c:pt>
                <c:pt idx="7">
                  <c:v>13.64</c:v>
                </c:pt>
                <c:pt idx="8">
                  <c:v>15.67</c:v>
                </c:pt>
                <c:pt idx="9">
                  <c:v>17.29</c:v>
                </c:pt>
                <c:pt idx="10">
                  <c:v>18.57</c:v>
                </c:pt>
                <c:pt idx="11">
                  <c:v>19.6</c:v>
                </c:pt>
                <c:pt idx="12">
                  <c:v>20.41</c:v>
                </c:pt>
                <c:pt idx="13">
                  <c:v>21.05</c:v>
                </c:pt>
                <c:pt idx="14">
                  <c:v>21.56</c:v>
                </c:pt>
                <c:pt idx="15">
                  <c:v>21.97</c:v>
                </c:pt>
                <c:pt idx="16">
                  <c:v>22.29</c:v>
                </c:pt>
                <c:pt idx="17">
                  <c:v>22.55</c:v>
                </c:pt>
                <c:pt idx="18">
                  <c:v>22.75</c:v>
                </c:pt>
                <c:pt idx="19">
                  <c:v>22.91</c:v>
                </c:pt>
                <c:pt idx="20">
                  <c:v>23.04</c:v>
                </c:pt>
              </c:numCache>
            </c:numRef>
          </c:val>
        </c:ser>
        <c:ser>
          <c:idx val="1"/>
          <c:order val="1"/>
          <c:tx>
            <c:v>MPC</c:v>
          </c:tx>
          <c:spPr>
            <a:solidFill xmlns:a="http://schemas.openxmlformats.org/drawingml/2006/main">
              <a:srgbClr val="D98F32"/>
            </a:solidFill>
          </c:spPr>
          <c:marker>
            <c:symbol val="none"/>
          </c:marker>
          <c:cat>
            <c:numRef>
              <c:f>'Chart Data'!$C$2:$C$22</c:f>
              <c:numCache>
                <c:formatCode>General</c:formatCode>
                <c:ptCount val="2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numCache>
            </c:numRef>
          </c:cat>
          <c:val>
            <c:numRef>
              <c:f>'Chart Data'!$D$2:$D$22</c:f>
              <c:numCache>
                <c:formatCode>0</c:formatCode>
                <c:ptCount val="21"/>
                <c:pt idx="0">
                  <c:v>37.05</c:v>
                </c:pt>
                <c:pt idx="1">
                  <c:v>37.1</c:v>
                </c:pt>
                <c:pt idx="2">
                  <c:v>36.2</c:v>
                </c:pt>
                <c:pt idx="3">
                  <c:v>35.62</c:v>
                </c:pt>
                <c:pt idx="4">
                  <c:v>35.33</c:v>
                </c:pt>
                <c:pt idx="5">
                  <c:v>16.27</c:v>
                </c:pt>
                <c:pt idx="6">
                  <c:v>19.34</c:v>
                </c:pt>
                <c:pt idx="7">
                  <c:v>22.01</c:v>
                </c:pt>
                <c:pt idx="8">
                  <c:v>23.23</c:v>
                </c:pt>
                <c:pt idx="9">
                  <c:v>23.63</c:v>
                </c:pt>
                <c:pt idx="10">
                  <c:v>23.7</c:v>
                </c:pt>
                <c:pt idx="11">
                  <c:v>23.57</c:v>
                </c:pt>
                <c:pt idx="12">
                  <c:v>23.5</c:v>
                </c:pt>
                <c:pt idx="13">
                  <c:v>23.46</c:v>
                </c:pt>
                <c:pt idx="14">
                  <c:v>23.44</c:v>
                </c:pt>
                <c:pt idx="15">
                  <c:v>23.43</c:v>
                </c:pt>
                <c:pt idx="16">
                  <c:v>23.42</c:v>
                </c:pt>
                <c:pt idx="17">
                  <c:v>23.42</c:v>
                </c:pt>
                <c:pt idx="18">
                  <c:v>23.42</c:v>
                </c:pt>
                <c:pt idx="19">
                  <c:v>23.42</c:v>
                </c:pt>
                <c:pt idx="20">
                  <c:v>23.42</c:v>
                </c:pt>
              </c:numCache>
            </c:numRef>
          </c:val>
        </c:ser>
        <c:ser>
          <c:idx val="2"/>
          <c:order val="2"/>
          <c:tx>
            <c:v>Q-Learning</c:v>
          </c:tx>
          <c:spPr>
            <a:solidFill xmlns:a="http://schemas.openxmlformats.org/drawingml/2006/main">
              <a:srgbClr val="0E9F94"/>
            </a:solidFill>
          </c:spPr>
          <c:marker>
            <c:symbol val="none"/>
          </c:marker>
          <c:cat>
            <c:numRef>
              <c:f>'Chart Data'!$E$2:$E$22</c:f>
              <c:numCache>
                <c:formatCode>General</c:formatCode>
                <c:ptCount val="2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numCache>
            </c:numRef>
          </c:cat>
          <c:val>
            <c:numRef>
              <c:f>'Chart Data'!$F$2:$F$22</c:f>
              <c:numCache>
                <c:formatCode>0</c:formatCode>
                <c:ptCount val="21"/>
                <c:pt idx="0">
                  <c:v>37.05</c:v>
                </c:pt>
                <c:pt idx="1">
                  <c:v>37.38</c:v>
                </c:pt>
                <c:pt idx="2">
                  <c:v>35.62</c:v>
                </c:pt>
                <c:pt idx="3">
                  <c:v>33.2</c:v>
                </c:pt>
                <c:pt idx="4">
                  <c:v>33.35</c:v>
                </c:pt>
                <c:pt idx="5">
                  <c:v>11.55</c:v>
                </c:pt>
                <c:pt idx="6">
                  <c:v>9.74</c:v>
                </c:pt>
                <c:pt idx="7">
                  <c:v>12.24</c:v>
                </c:pt>
                <c:pt idx="8">
                  <c:v>14.56</c:v>
                </c:pt>
                <c:pt idx="9">
                  <c:v>16.41</c:v>
                </c:pt>
                <c:pt idx="10">
                  <c:v>17.75</c:v>
                </c:pt>
                <c:pt idx="11">
                  <c:v>18.48</c:v>
                </c:pt>
                <c:pt idx="12">
                  <c:v>19</c:v>
                </c:pt>
                <c:pt idx="13">
                  <c:v>19.42</c:v>
                </c:pt>
                <c:pt idx="14">
                  <c:v>19.76</c:v>
                </c:pt>
                <c:pt idx="15">
                  <c:v>20.23</c:v>
                </c:pt>
                <c:pt idx="16">
                  <c:v>21.31</c:v>
                </c:pt>
                <c:pt idx="17">
                  <c:v>22.28</c:v>
                </c:pt>
                <c:pt idx="18">
                  <c:v>23.05</c:v>
                </c:pt>
                <c:pt idx="19">
                  <c:v>23.67</c:v>
                </c:pt>
                <c:pt idx="20">
                  <c:v>24.13</c:v>
                </c:pt>
              </c:numCache>
            </c:numRef>
          </c:val>
        </c:ser>
        <c:ser>
          <c:idx val="3"/>
          <c:order val="3"/>
          <c:tx>
            <c:v>Q+RSS</c:v>
          </c:tx>
          <c:spPr>
            <a:solidFill xmlns:a="http://schemas.openxmlformats.org/drawingml/2006/main">
              <a:srgbClr val="102437"/>
            </a:solidFill>
          </c:spPr>
          <c:marker>
            <c:symbol val="none"/>
          </c:marker>
          <c:cat>
            <c:numRef>
              <c:f>'Chart Data'!$G$2:$G$22</c:f>
              <c:numCache>
                <c:formatCode>General</c:formatCode>
                <c:ptCount val="2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numCache>
            </c:numRef>
          </c:cat>
          <c:val>
            <c:numRef>
              <c:f>'Chart Data'!$H$2:$H$22</c:f>
              <c:numCache>
                <c:formatCode>0</c:formatCode>
                <c:ptCount val="21"/>
                <c:pt idx="0">
                  <c:v>37.05</c:v>
                </c:pt>
                <c:pt idx="1">
                  <c:v>37.38</c:v>
                </c:pt>
                <c:pt idx="2">
                  <c:v>35.62</c:v>
                </c:pt>
                <c:pt idx="3">
                  <c:v>33.2</c:v>
                </c:pt>
                <c:pt idx="4">
                  <c:v>33.35</c:v>
                </c:pt>
                <c:pt idx="5">
                  <c:v>14.36</c:v>
                </c:pt>
                <c:pt idx="6">
                  <c:v>14.67</c:v>
                </c:pt>
                <c:pt idx="7">
                  <c:v>16.7</c:v>
                </c:pt>
                <c:pt idx="8">
                  <c:v>17.97</c:v>
                </c:pt>
                <c:pt idx="9">
                  <c:v>18.64</c:v>
                </c:pt>
                <c:pt idx="10">
                  <c:v>19.13</c:v>
                </c:pt>
                <c:pt idx="11">
                  <c:v>19.52</c:v>
                </c:pt>
                <c:pt idx="12">
                  <c:v>19.84</c:v>
                </c:pt>
                <c:pt idx="13">
                  <c:v>20.49</c:v>
                </c:pt>
                <c:pt idx="14">
                  <c:v>21.58</c:v>
                </c:pt>
                <c:pt idx="15">
                  <c:v>22.49</c:v>
                </c:pt>
                <c:pt idx="16">
                  <c:v>23.22</c:v>
                </c:pt>
                <c:pt idx="17">
                  <c:v>23.8</c:v>
                </c:pt>
                <c:pt idx="18">
                  <c:v>24.26</c:v>
                </c:pt>
                <c:pt idx="19">
                  <c:v>24.63</c:v>
                </c:pt>
                <c:pt idx="20">
                  <c:v>24.9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667A8A"/>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1D2E3B"/>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667A8A"/>
                    </a:solidFill>
                    <a:latin typeface="Arial"/>
                    <a:ea typeface="Arial"/>
                    <a:cs typeface="Arial"/>
                  </a:rPr>
                  <a:t>Gap (m)</a:t>
                </a:r>
              </a:p>
            </c:rich>
          </c:tx>
          <c:overlay val="0"/>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crossAx val="48650112"/>
        <c:crossBetween val="between"/>
        <c:majorUnit val="10"/>
      </c:valAx>
      <c:spPr>
        <a:solidFill xmlns:a="http://schemas.openxmlformats.org/drawingml/2006/main">
          <a:srgbClr val="F6F8F9"/>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A8A"/>
              </a:solidFill>
              <a:latin typeface="Arial"/>
              <a:ea typeface="Arial"/>
              <a:cs typeface="Arial"/>
            </a:defRPr>
          </a:pPr>
        </a:p>
      </c:txPr>
    </c:legend>
    <c:plotVisOnly val="1"/>
  </c:chart>
  <c:spPr>
    <a:solidFill xmlns:a="http://schemas.openxmlformats.org/drawingml/2006/main">
      <a:srgbClr val="F6F8F9"/>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43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A7586F-6BD3-4D77-A489-24FDE5DF487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6F30CE-F5D2-4CC6-960E-23C5F7C72D4A}"/>
              </a:ext>
            </a:extLst>
          </p:cNvPr>
          <p:cNvSpPr>
            <a:spLocks xmlns:a="http://schemas.openxmlformats.org/drawingml/2006/main" noGrp="1"/>
          </p:cNvSpPr>
          <p:nvPr/>
        </p:nvSpPr>
        <p:spPr>
          <a:xfrm xmlns:a="http://schemas.openxmlformats.org/drawingml/2006/main">
            <a:off x="628650" y="4572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0E9F94"/>
                </a:solidFill>
                <a:latin typeface="Arial"/>
                <a:ea typeface="Arial"/>
                <a:cs typeface="Arial"/>
              </a:defRPr>
            </a:defPPr>
          </a:lstStyle>
          <a:p xmlns:a="http://schemas.openxmlformats.org/drawingml/2006/main">
            <a:pPr algn="l">
              <a:defRPr sz="1050" b="1">
                <a:solidFill>
                  <a:srgbClr val="0E9F94"/>
                </a:solidFill>
                <a:latin typeface="Arial"/>
                <a:ea typeface="Arial"/>
                <a:cs typeface="Arial"/>
              </a:defRPr>
            </a:pPr>
            <a:r>
              <a:rPr sz="1050" b="1">
                <a:solidFill>
                  <a:srgbClr val="0E9F94"/>
                </a:solidFill>
                <a:latin typeface="Arial"/>
                <a:ea typeface="Arial"/>
                <a:cs typeface="Arial"/>
              </a:rPr>
              <a:t>COURSE PROJECT</a:t>
            </a:r>
          </a:p>
        </p:txBody>
      </p:sp>
      <p:sp>
        <p:nvSpPr>
          <p:cNvPr id="3" name="slide-1-title">
            <a:extLst xmlns:a="http://schemas.openxmlformats.org/drawingml/2006/main">
              <a:ext uri="{FF2B5EF4-FFF2-40B4-BE49-F238E27FC236}">
                <a16:creationId xmlns:a16="http://schemas.microsoft.com/office/drawing/2014/main" id="{D5708FA1-1EB4-4388-BB84-F5AB17EAA1DC}"/>
              </a:ext>
            </a:extLst>
          </p:cNvPr>
          <p:cNvSpPr>
            <a:spLocks xmlns:a="http://schemas.openxmlformats.org/drawingml/2006/main" noGrp="1"/>
          </p:cNvSpPr>
          <p:nvPr/>
        </p:nvSpPr>
        <p:spPr>
          <a:xfrm xmlns:a="http://schemas.openxmlformats.org/drawingml/2006/main">
            <a:off x="628650" y="933450"/>
            <a:ext cx="1071562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750" b="1">
                <a:solidFill>
                  <a:srgbClr val="FFFFFF"/>
                </a:solidFill>
                <a:latin typeface="Arial"/>
                <a:ea typeface="Arial"/>
                <a:cs typeface="Arial"/>
              </a:defRPr>
            </a:defPPr>
          </a:lstStyle>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Can a small RL correction help ACC handle a sudden cut-in?</a:t>
            </a:r>
          </a:p>
        </p:txBody>
      </p:sp>
      <p:sp>
        <p:nvSpPr>
          <p:cNvPr id="4" name="">
            <a:extLst xmlns:a="http://schemas.openxmlformats.org/drawingml/2006/main">
              <a:ext uri="{FF2B5EF4-FFF2-40B4-BE49-F238E27FC236}">
                <a16:creationId xmlns:a16="http://schemas.microsoft.com/office/drawing/2014/main" id="{0C7292BE-7920-44F3-AC45-402543526799}"/>
              </a:ext>
            </a:extLst>
          </p:cNvPr>
          <p:cNvSpPr>
            <a:spLocks xmlns:a="http://schemas.openxmlformats.org/drawingml/2006/main" noGrp="1"/>
          </p:cNvSpPr>
          <p:nvPr/>
        </p:nvSpPr>
        <p:spPr>
          <a:xfrm xmlns:a="http://schemas.openxmlformats.org/drawingml/2006/main">
            <a:off x="10382250" y="641985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8C6D0"/>
                </a:solidFill>
                <a:latin typeface="Arial"/>
                <a:ea typeface="Arial"/>
                <a:cs typeface="Arial"/>
              </a:defRPr>
            </a:defPPr>
          </a:lstStyle>
          <a:p xmlns:a="http://schemas.openxmlformats.org/drawingml/2006/main">
            <a:pPr algn="r">
              <a:defRPr sz="900" b="0">
                <a:solidFill>
                  <a:srgbClr val="B8C6D0"/>
                </a:solidFill>
                <a:latin typeface="Arial"/>
                <a:ea typeface="Arial"/>
                <a:cs typeface="Arial"/>
              </a:defRPr>
            </a:pPr>
            <a:r>
              <a:rPr sz="900" b="0">
                <a:solidFill>
                  <a:srgbClr val="B8C6D0"/>
                </a:solidFill>
                <a:latin typeface="Arial"/>
                <a:ea typeface="Arial"/>
                <a:cs typeface="Arial"/>
              </a:rPr>
              <a:t>01   /   16</a:t>
            </a:r>
          </a:p>
        </p:txBody>
      </p:sp>
      <p:sp>
        <p:nvSpPr>
          <p:cNvPr id="5" name="">
            <a:extLst xmlns:a="http://schemas.openxmlformats.org/drawingml/2006/main">
              <a:ext uri="{FF2B5EF4-FFF2-40B4-BE49-F238E27FC236}">
                <a16:creationId xmlns:a16="http://schemas.microsoft.com/office/drawing/2014/main" id="{5FAD69D5-2FF0-4823-8489-CD231E895779}"/>
              </a:ext>
            </a:extLst>
          </p:cNvPr>
          <p:cNvSpPr>
            <a:spLocks xmlns:a="http://schemas.openxmlformats.org/drawingml/2006/main" noGrp="1"/>
          </p:cNvSpPr>
          <p:nvPr/>
        </p:nvSpPr>
        <p:spPr>
          <a:xfrm xmlns:a="http://schemas.openxmlformats.org/drawingml/2006/main">
            <a:off x="638175" y="2657475"/>
            <a:ext cx="9286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D5E0E7"/>
                </a:solidFill>
                <a:latin typeface="Arial"/>
                <a:ea typeface="Arial"/>
                <a:cs typeface="Arial"/>
              </a:defRPr>
            </a:defPPr>
          </a:lstStyle>
          <a:p xmlns:a="http://schemas.openxmlformats.org/drawingml/2006/main">
            <a:pPr algn="l">
              <a:defRPr sz="1800" b="0">
                <a:solidFill>
                  <a:srgbClr val="D5E0E7"/>
                </a:solidFill>
                <a:latin typeface="Arial"/>
                <a:ea typeface="Arial"/>
                <a:cs typeface="Arial"/>
              </a:defRPr>
            </a:pPr>
            <a:r>
              <a:rPr sz="1800" b="0">
                <a:solidFill>
                  <a:srgbClr val="D5E0E7"/>
                </a:solidFill>
                <a:latin typeface="Arial"/>
                <a:ea typeface="Arial"/>
                <a:cs typeface="Arial"/>
              </a:rPr>
              <a:t>A clear cut-in test against classical control and a real-world commercial ACC reference</a:t>
            </a:r>
          </a:p>
        </p:txBody>
      </p:sp>
      <p:sp>
        <p:nvSpPr>
          <p:cNvPr id="6" name="">
            <a:extLst xmlns:a="http://schemas.openxmlformats.org/drawingml/2006/main">
              <a:ext uri="{FF2B5EF4-FFF2-40B4-BE49-F238E27FC236}">
                <a16:creationId xmlns:a16="http://schemas.microsoft.com/office/drawing/2014/main" id="{71AB666F-6F58-4374-9359-7C7BE80D41DB}"/>
              </a:ext>
            </a:extLst>
          </p:cNvPr>
          <p:cNvSpPr>
            <a:spLocks xmlns:a="http://schemas.openxmlformats.org/drawingml/2006/main" noGrp="1"/>
          </p:cNvSpPr>
          <p:nvPr/>
        </p:nvSpPr>
        <p:spPr>
          <a:xfrm xmlns:a="http://schemas.openxmlformats.org/drawingml/2006/main">
            <a:off x="638175" y="3695700"/>
            <a:ext cx="666750" cy="38100"/>
          </a:xfrm>
          <a:prstGeom xmlns:a="http://schemas.openxmlformats.org/drawingml/2006/main" prst="rect">
            <a:avLst/>
          </a:prstGeom>
          <a:solidFill xmlns:a="http://schemas.openxmlformats.org/drawingml/2006/main">
            <a:srgbClr val="D98F3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191DAA4-5726-41B3-8256-482CF96DAC24}"/>
              </a:ext>
            </a:extLst>
          </p:cNvPr>
          <p:cNvSpPr>
            <a:spLocks xmlns:a="http://schemas.openxmlformats.org/drawingml/2006/main" noGrp="1"/>
          </p:cNvSpPr>
          <p:nvPr/>
        </p:nvSpPr>
        <p:spPr>
          <a:xfrm xmlns:a="http://schemas.openxmlformats.org/drawingml/2006/main">
            <a:off x="638175" y="39624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Automotive technology project</a:t>
            </a:r>
          </a:p>
        </p:txBody>
      </p:sp>
      <p:sp>
        <p:nvSpPr>
          <p:cNvPr id="8" name="">
            <a:extLst xmlns:a="http://schemas.openxmlformats.org/drawingml/2006/main">
              <a:ext uri="{FF2B5EF4-FFF2-40B4-BE49-F238E27FC236}">
                <a16:creationId xmlns:a16="http://schemas.microsoft.com/office/drawing/2014/main" id="{DFBF48DA-BAEE-42EF-B85A-7CD38FB6095C}"/>
              </a:ext>
            </a:extLst>
          </p:cNvPr>
          <p:cNvSpPr>
            <a:spLocks xmlns:a="http://schemas.openxmlformats.org/drawingml/2006/main" noGrp="1"/>
          </p:cNvSpPr>
          <p:nvPr/>
        </p:nvSpPr>
        <p:spPr>
          <a:xfrm xmlns:a="http://schemas.openxmlformats.org/drawingml/2006/main">
            <a:off x="638175" y="4371975"/>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B8C6D0"/>
                </a:solidFill>
                <a:latin typeface="Arial"/>
                <a:ea typeface="Arial"/>
                <a:cs typeface="Arial"/>
              </a:defRPr>
            </a:defPPr>
          </a:lstStyle>
          <a:p xmlns:a="http://schemas.openxmlformats.org/drawingml/2006/main">
            <a:pPr algn="l">
              <a:defRPr sz="1200" b="0">
                <a:solidFill>
                  <a:srgbClr val="B8C6D0"/>
                </a:solidFill>
                <a:latin typeface="Arial"/>
                <a:ea typeface="Arial"/>
                <a:cs typeface="Arial"/>
              </a:defRPr>
            </a:pPr>
            <a:r>
              <a:rPr sz="1200" b="0">
                <a:solidFill>
                  <a:srgbClr val="B8C6D0"/>
                </a:solidFill>
                <a:latin typeface="Arial"/>
                <a:ea typeface="Arial"/>
                <a:cs typeface="Arial"/>
              </a:rPr>
              <a:t>Team members: add names</a:t>
            </a:r>
          </a:p>
        </p:txBody>
      </p:sp>
      <p:sp>
        <p:nvSpPr>
          <p:cNvPr id="9" name="">
            <a:extLst xmlns:a="http://schemas.openxmlformats.org/drawingml/2006/main">
              <a:ext uri="{FF2B5EF4-FFF2-40B4-BE49-F238E27FC236}">
                <a16:creationId xmlns:a16="http://schemas.microsoft.com/office/drawing/2014/main" id="{BDACC565-8D0D-4A2E-A8E7-9101B8C0DC0B}"/>
              </a:ext>
            </a:extLst>
          </p:cNvPr>
          <p:cNvSpPr>
            <a:spLocks xmlns:a="http://schemas.openxmlformats.org/drawingml/2006/main" noGrp="1"/>
          </p:cNvSpPr>
          <p:nvPr/>
        </p:nvSpPr>
        <p:spPr>
          <a:xfrm xmlns:a="http://schemas.openxmlformats.org/drawingml/2006/main">
            <a:off x="638175" y="5829300"/>
            <a:ext cx="800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B8C6D0"/>
                </a:solidFill>
                <a:latin typeface="Arial"/>
                <a:ea typeface="Arial"/>
                <a:cs typeface="Arial"/>
              </a:defRPr>
            </a:defPPr>
          </a:lstStyle>
          <a:p xmlns:a="http://schemas.openxmlformats.org/drawingml/2006/main">
            <a:pPr algn="l">
              <a:defRPr sz="1200" b="0">
                <a:solidFill>
                  <a:srgbClr val="B8C6D0"/>
                </a:solidFill>
                <a:latin typeface="Arial"/>
                <a:ea typeface="Arial"/>
                <a:cs typeface="Arial"/>
              </a:defRPr>
            </a:pPr>
            <a:r>
              <a:rPr sz="1200" b="0">
                <a:solidFill>
                  <a:srgbClr val="B8C6D0"/>
                </a:solidFill>
                <a:latin typeface="Arial"/>
                <a:ea typeface="Arial"/>
                <a:cs typeface="Arial"/>
              </a:rPr>
              <a:t>1,000 matched simulation episodes · one focused automotive challenge</a:t>
            </a:r>
          </a:p>
        </p:txBody>
      </p:sp>
    </p:spTree>
    <p:extLst>
      <p:ext uri="{BB962C8B-B14F-4D97-AF65-F5344CB8AC3E}">
        <p14:creationId xmlns:p14="http://schemas.microsoft.com/office/powerpoint/2010/main" val="528247433"/>
      </p:ext>
    </p:extLst>
  </p:cSld>
</p:sld>
</file>

<file path=ppt/slides/slide2.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D88E814-B73A-4714-9A34-2B4579ED135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154F57-4E1E-4562-A92A-BBB61CDC33B8}"/>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01 · THE NICHE</a:t>
            </a:r>
          </a:p>
        </p:txBody>
      </p:sp>
      <p:sp>
        <p:nvSpPr>
          <p:cNvPr id="3" name="slide-2-title">
            <a:extLst xmlns:a="http://schemas.openxmlformats.org/drawingml/2006/main">
              <a:ext uri="{FF2B5EF4-FFF2-40B4-BE49-F238E27FC236}">
                <a16:creationId xmlns:a16="http://schemas.microsoft.com/office/drawing/2014/main" id="{D7BD7AED-1199-4614-9E37-4B7CB3FE099D}"/>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02437"/>
                </a:solidFill>
                <a:latin typeface="Arial"/>
                <a:ea typeface="Arial"/>
                <a:cs typeface="Arial"/>
              </a:defRPr>
            </a:defPPr>
          </a:lstStyle>
          <a:p xmlns:a="http://schemas.openxmlformats.org/drawingml/2006/main">
            <a:pPr algn="l">
              <a:defRPr sz="2325" b="1">
                <a:solidFill>
                  <a:srgbClr val="102437"/>
                </a:solidFill>
                <a:latin typeface="Arial"/>
                <a:ea typeface="Arial"/>
                <a:cs typeface="Arial"/>
              </a:defRPr>
            </a:pPr>
            <a:r>
              <a:rPr sz="2325" b="1">
                <a:solidFill>
                  <a:srgbClr val="102437"/>
                </a:solidFill>
                <a:latin typeface="Arial"/>
                <a:ea typeface="Arial"/>
                <a:cs typeface="Arial"/>
              </a:rPr>
              <a:t>A car joins the lane. ACC must close the gap without a harsh lurch.</a:t>
            </a:r>
          </a:p>
        </p:txBody>
      </p:sp>
      <p:sp>
        <p:nvSpPr>
          <p:cNvPr id="4" name="">
            <a:extLst xmlns:a="http://schemas.openxmlformats.org/drawingml/2006/main">
              <a:ext uri="{FF2B5EF4-FFF2-40B4-BE49-F238E27FC236}">
                <a16:creationId xmlns:a16="http://schemas.microsoft.com/office/drawing/2014/main" id="{3787B1B8-E6EE-4738-B20C-ADB1456BD684}"/>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FF1958AF-BA47-4053-B5E2-08EE93A9E6F5}"/>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1533359A-53A5-4502-B04A-8C795419553B}"/>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F99BFEA-333D-4C07-98F6-E8B9FB7529B7}"/>
              </a:ext>
            </a:extLst>
          </p:cNvPr>
          <p:cNvSpPr>
            <a:spLocks xmlns:a="http://schemas.openxmlformats.org/drawingml/2006/main" noGrp="1"/>
          </p:cNvSpPr>
          <p:nvPr/>
        </p:nvSpPr>
        <p:spPr>
          <a:xfrm xmlns:a="http://schemas.openxmlformats.org/drawingml/2006/main">
            <a:off x="552450" y="1409700"/>
            <a:ext cx="6619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1D2E3B"/>
                </a:solidFill>
                <a:latin typeface="Arial"/>
                <a:ea typeface="Arial"/>
                <a:cs typeface="Arial"/>
              </a:defRPr>
            </a:defPPr>
          </a:lstStyle>
          <a:p xmlns:a="http://schemas.openxmlformats.org/drawingml/2006/main">
            <a:pPr algn="l">
              <a:defRPr sz="1650" b="0">
                <a:solidFill>
                  <a:srgbClr val="1D2E3B"/>
                </a:solidFill>
                <a:latin typeface="Arial"/>
                <a:ea typeface="Arial"/>
                <a:cs typeface="Arial"/>
              </a:defRPr>
            </a:pPr>
            <a:r>
              <a:rPr sz="1650" b="0">
                <a:solidFill>
                  <a:srgbClr val="1D2E3B"/>
                </a:solidFill>
                <a:latin typeface="Arial"/>
                <a:ea typeface="Arial"/>
                <a:cs typeface="Arial"/>
              </a:rPr>
              <a:t>A cut-in is interesting because the target changes suddenly while the ego car is already moving.</a:t>
            </a:r>
          </a:p>
        </p:txBody>
      </p:sp>
      <p:sp>
        <p:nvSpPr>
          <p:cNvPr id="8" name="cutin-road-panel">
            <a:extLst xmlns:a="http://schemas.openxmlformats.org/drawingml/2006/main">
              <a:ext uri="{FF2B5EF4-FFF2-40B4-BE49-F238E27FC236}">
                <a16:creationId xmlns:a16="http://schemas.microsoft.com/office/drawing/2014/main" id="{5B15387C-7A71-411D-BC52-C01CA30559EE}"/>
              </a:ext>
            </a:extLst>
          </p:cNvPr>
          <p:cNvSpPr>
            <a:spLocks xmlns:a="http://schemas.openxmlformats.org/drawingml/2006/main" noGrp="1"/>
          </p:cNvSpPr>
          <p:nvPr/>
        </p:nvSpPr>
        <p:spPr>
          <a:xfrm xmlns:a="http://schemas.openxmlformats.org/drawingml/2006/main">
            <a:off x="552450" y="2238375"/>
            <a:ext cx="6572250" cy="2686050"/>
          </a:xfrm>
          <a:prstGeom xmlns:a="http://schemas.openxmlformats.org/drawingml/2006/main" prst="roundRect">
            <a:avLst>
              <a:gd name="adj" fmla="val 6383"/>
            </a:avLst>
          </a:prstGeom>
          <a:solidFill xmlns:a="http://schemas.openxmlformats.org/drawingml/2006/main">
            <a:srgbClr val="10243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0F76D4-52E2-41F2-A794-C677ABA4DFE4}"/>
              </a:ext>
            </a:extLst>
          </p:cNvPr>
          <p:cNvSpPr>
            <a:spLocks xmlns:a="http://schemas.openxmlformats.org/drawingml/2006/main" noGrp="1"/>
          </p:cNvSpPr>
          <p:nvPr/>
        </p:nvSpPr>
        <p:spPr>
          <a:xfrm xmlns:a="http://schemas.openxmlformats.org/drawingml/2006/main">
            <a:off x="781050" y="3571875"/>
            <a:ext cx="6115050" cy="0"/>
          </a:xfrm>
          <a:prstGeom xmlns:a="http://schemas.openxmlformats.org/drawingml/2006/main" prst="line">
            <a:avLst/>
          </a:prstGeom>
          <a:noFill xmlns:a="http://schemas.openxmlformats.org/drawingml/2006/main"/>
          <a:ln xmlns:a="http://schemas.openxmlformats.org/drawingml/2006/main" w="19050">
            <a:solidFill>
              <a:srgbClr val="7B8A96"/>
            </a:solidFill>
            <a:prstDash val="solid"/>
          </a:ln>
        </p:spPr>
      </p:sp>
      <p:sp>
        <p:nvSpPr>
          <p:cNvPr id="10" name="">
            <a:extLst xmlns:a="http://schemas.openxmlformats.org/drawingml/2006/main">
              <a:ext uri="{FF2B5EF4-FFF2-40B4-BE49-F238E27FC236}">
                <a16:creationId xmlns:a16="http://schemas.microsoft.com/office/drawing/2014/main" id="{C94BD225-CD1C-499C-885C-57D91E53BBFC}"/>
              </a:ext>
            </a:extLst>
          </p:cNvPr>
          <p:cNvSpPr>
            <a:spLocks xmlns:a="http://schemas.openxmlformats.org/drawingml/2006/main" noGrp="1"/>
          </p:cNvSpPr>
          <p:nvPr/>
        </p:nvSpPr>
        <p:spPr>
          <a:xfrm xmlns:a="http://schemas.openxmlformats.org/drawingml/2006/main">
            <a:off x="914400" y="3562350"/>
            <a:ext cx="400050" cy="4762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1912EFD-91FE-49ED-B955-EBC2D5DAD102}"/>
              </a:ext>
            </a:extLst>
          </p:cNvPr>
          <p:cNvSpPr>
            <a:spLocks xmlns:a="http://schemas.openxmlformats.org/drawingml/2006/main" noGrp="1"/>
          </p:cNvSpPr>
          <p:nvPr/>
        </p:nvSpPr>
        <p:spPr>
          <a:xfrm xmlns:a="http://schemas.openxmlformats.org/drawingml/2006/main">
            <a:off x="1733550" y="3562350"/>
            <a:ext cx="400050" cy="4762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E552C9-9EB7-4F39-81CC-6F0F9CE86732}"/>
              </a:ext>
            </a:extLst>
          </p:cNvPr>
          <p:cNvSpPr>
            <a:spLocks xmlns:a="http://schemas.openxmlformats.org/drawingml/2006/main" noGrp="1"/>
          </p:cNvSpPr>
          <p:nvPr/>
        </p:nvSpPr>
        <p:spPr>
          <a:xfrm xmlns:a="http://schemas.openxmlformats.org/drawingml/2006/main">
            <a:off x="2552700" y="3562350"/>
            <a:ext cx="400050" cy="4762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246FD17-5B2C-4F7A-BC31-DDF9141CB4AD}"/>
              </a:ext>
            </a:extLst>
          </p:cNvPr>
          <p:cNvSpPr>
            <a:spLocks xmlns:a="http://schemas.openxmlformats.org/drawingml/2006/main" noGrp="1"/>
          </p:cNvSpPr>
          <p:nvPr/>
        </p:nvSpPr>
        <p:spPr>
          <a:xfrm xmlns:a="http://schemas.openxmlformats.org/drawingml/2006/main">
            <a:off x="3371850" y="3562350"/>
            <a:ext cx="400050" cy="4762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34CB40-CD9D-4BAA-8C5D-616E97F33712}"/>
              </a:ext>
            </a:extLst>
          </p:cNvPr>
          <p:cNvSpPr>
            <a:spLocks xmlns:a="http://schemas.openxmlformats.org/drawingml/2006/main" noGrp="1"/>
          </p:cNvSpPr>
          <p:nvPr/>
        </p:nvSpPr>
        <p:spPr>
          <a:xfrm xmlns:a="http://schemas.openxmlformats.org/drawingml/2006/main">
            <a:off x="4191000" y="3562350"/>
            <a:ext cx="400050" cy="4762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BE2F9C0-1DCC-4177-952D-A3EFC4300B0D}"/>
              </a:ext>
            </a:extLst>
          </p:cNvPr>
          <p:cNvSpPr>
            <a:spLocks xmlns:a="http://schemas.openxmlformats.org/drawingml/2006/main" noGrp="1"/>
          </p:cNvSpPr>
          <p:nvPr/>
        </p:nvSpPr>
        <p:spPr>
          <a:xfrm xmlns:a="http://schemas.openxmlformats.org/drawingml/2006/main">
            <a:off x="5010150" y="3562350"/>
            <a:ext cx="400050" cy="4762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C429181-91C7-438F-A75C-FB8925198084}"/>
              </a:ext>
            </a:extLst>
          </p:cNvPr>
          <p:cNvSpPr>
            <a:spLocks xmlns:a="http://schemas.openxmlformats.org/drawingml/2006/main" noGrp="1"/>
          </p:cNvSpPr>
          <p:nvPr/>
        </p:nvSpPr>
        <p:spPr>
          <a:xfrm xmlns:a="http://schemas.openxmlformats.org/drawingml/2006/main">
            <a:off x="5829300" y="3562350"/>
            <a:ext cx="400050" cy="4762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26AFCF-B9A3-49A5-B77E-884D8103B743}"/>
              </a:ext>
            </a:extLst>
          </p:cNvPr>
          <p:cNvSpPr>
            <a:spLocks xmlns:a="http://schemas.openxmlformats.org/drawingml/2006/main" noGrp="1"/>
          </p:cNvSpPr>
          <p:nvPr/>
        </p:nvSpPr>
        <p:spPr>
          <a:xfrm xmlns:a="http://schemas.openxmlformats.org/drawingml/2006/main">
            <a:off x="6648450" y="3562350"/>
            <a:ext cx="400050" cy="4762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8" name="ego-car">
            <a:extLst xmlns:a="http://schemas.openxmlformats.org/drawingml/2006/main">
              <a:ext uri="{FF2B5EF4-FFF2-40B4-BE49-F238E27FC236}">
                <a16:creationId xmlns:a16="http://schemas.microsoft.com/office/drawing/2014/main" id="{4A1E401A-366B-4C7A-A881-946917762172}"/>
              </a:ext>
            </a:extLst>
          </p:cNvPr>
          <p:cNvSpPr>
            <a:spLocks xmlns:a="http://schemas.openxmlformats.org/drawingml/2006/main" noGrp="1"/>
          </p:cNvSpPr>
          <p:nvPr/>
        </p:nvSpPr>
        <p:spPr>
          <a:xfrm xmlns:a="http://schemas.openxmlformats.org/drawingml/2006/main">
            <a:off x="1962150" y="2857500"/>
            <a:ext cx="1257300" cy="533400"/>
          </a:xfrm>
          <a:prstGeom xmlns:a="http://schemas.openxmlformats.org/drawingml/2006/main" prst="roundRect">
            <a:avLst>
              <a:gd name="adj" fmla="val 21429"/>
            </a:avLst>
          </a:prstGeom>
          <a:solidFill xmlns:a="http://schemas.openxmlformats.org/drawingml/2006/main">
            <a:srgbClr val="0E9F94"/>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E4BEB903-BD73-4B22-A963-029B9215CD75}"/>
              </a:ext>
            </a:extLst>
          </p:cNvPr>
          <p:cNvSpPr>
            <a:spLocks xmlns:a="http://schemas.openxmlformats.org/drawingml/2006/main" noGrp="1"/>
          </p:cNvSpPr>
          <p:nvPr/>
        </p:nvSpPr>
        <p:spPr>
          <a:xfrm xmlns:a="http://schemas.openxmlformats.org/drawingml/2006/main">
            <a:off x="2266950" y="3019425"/>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FFFFFF"/>
                </a:solidFill>
                <a:latin typeface="Arial"/>
                <a:ea typeface="Arial"/>
                <a:cs typeface="Arial"/>
              </a:defRPr>
            </a:def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EGO</a:t>
            </a:r>
          </a:p>
        </p:txBody>
      </p:sp>
      <p:sp>
        <p:nvSpPr>
          <p:cNvPr id="20" name="lead-car">
            <a:extLst xmlns:a="http://schemas.openxmlformats.org/drawingml/2006/main">
              <a:ext uri="{FF2B5EF4-FFF2-40B4-BE49-F238E27FC236}">
                <a16:creationId xmlns:a16="http://schemas.microsoft.com/office/drawing/2014/main" id="{EFE2C700-9371-45B1-91D1-E1F33A1E7E83}"/>
              </a:ext>
            </a:extLst>
          </p:cNvPr>
          <p:cNvSpPr>
            <a:spLocks xmlns:a="http://schemas.openxmlformats.org/drawingml/2006/main" noGrp="1"/>
          </p:cNvSpPr>
          <p:nvPr/>
        </p:nvSpPr>
        <p:spPr>
          <a:xfrm xmlns:a="http://schemas.openxmlformats.org/drawingml/2006/main">
            <a:off x="4972050" y="2857500"/>
            <a:ext cx="1257300" cy="533400"/>
          </a:xfrm>
          <a:prstGeom xmlns:a="http://schemas.openxmlformats.org/drawingml/2006/main" prst="roundRect">
            <a:avLst>
              <a:gd name="adj" fmla="val 21429"/>
            </a:avLst>
          </a:prstGeom>
          <a:solidFill xmlns:a="http://schemas.openxmlformats.org/drawingml/2006/main">
            <a:srgbClr val="D98F32"/>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ACDA291E-5C30-4AB2-A67B-43BF5E225D79}"/>
              </a:ext>
            </a:extLst>
          </p:cNvPr>
          <p:cNvSpPr>
            <a:spLocks xmlns:a="http://schemas.openxmlformats.org/drawingml/2006/main" noGrp="1"/>
          </p:cNvSpPr>
          <p:nvPr/>
        </p:nvSpPr>
        <p:spPr>
          <a:xfrm xmlns:a="http://schemas.openxmlformats.org/drawingml/2006/main">
            <a:off x="5038725" y="3019425"/>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00" b="1">
                <a:solidFill>
                  <a:srgbClr val="FFFFFF"/>
                </a:solidFill>
                <a:latin typeface="Arial"/>
                <a:ea typeface="Arial"/>
                <a:cs typeface="Arial"/>
              </a:defRPr>
            </a:def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NEW LEAD</a:t>
            </a:r>
          </a:p>
        </p:txBody>
      </p:sp>
      <p:sp>
        <p:nvSpPr>
          <p:cNvPr id="22" name="">
            <a:extLst xmlns:a="http://schemas.openxmlformats.org/drawingml/2006/main">
              <a:ext uri="{FF2B5EF4-FFF2-40B4-BE49-F238E27FC236}">
                <a16:creationId xmlns:a16="http://schemas.microsoft.com/office/drawing/2014/main" id="{9884CC44-26B1-4984-B2D1-93B4BB516C79}"/>
              </a:ext>
            </a:extLst>
          </p:cNvPr>
          <p:cNvSpPr>
            <a:spLocks xmlns:a="http://schemas.openxmlformats.org/drawingml/2006/main" noGrp="1"/>
          </p:cNvSpPr>
          <p:nvPr/>
        </p:nvSpPr>
        <p:spPr>
          <a:xfrm xmlns:a="http://schemas.openxmlformats.org/drawingml/2006/main">
            <a:off x="3228975" y="3143250"/>
            <a:ext cx="17145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23" name="">
            <a:extLst xmlns:a="http://schemas.openxmlformats.org/drawingml/2006/main">
              <a:ext uri="{FF2B5EF4-FFF2-40B4-BE49-F238E27FC236}">
                <a16:creationId xmlns:a16="http://schemas.microsoft.com/office/drawing/2014/main" id="{E3E9C918-51A3-40BD-B8FE-5058DD3B1194}"/>
              </a:ext>
            </a:extLst>
          </p:cNvPr>
          <p:cNvSpPr>
            <a:spLocks xmlns:a="http://schemas.openxmlformats.org/drawingml/2006/main" noGrp="1"/>
          </p:cNvSpPr>
          <p:nvPr/>
        </p:nvSpPr>
        <p:spPr>
          <a:xfrm xmlns:a="http://schemas.openxmlformats.org/drawingml/2006/main">
            <a:off x="3352800" y="26955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CAD7DF"/>
                </a:solidFill>
                <a:latin typeface="Arial"/>
                <a:ea typeface="Arial"/>
                <a:cs typeface="Arial"/>
              </a:defRPr>
            </a:defPPr>
          </a:lstStyle>
          <a:p xmlns:a="http://schemas.openxmlformats.org/drawingml/2006/main">
            <a:pPr algn="ctr">
              <a:defRPr sz="1050" b="0">
                <a:solidFill>
                  <a:srgbClr val="CAD7DF"/>
                </a:solidFill>
                <a:latin typeface="Arial"/>
                <a:ea typeface="Arial"/>
                <a:cs typeface="Arial"/>
              </a:defRPr>
            </a:pPr>
            <a:r>
              <a:rPr sz="1050" b="0">
                <a:solidFill>
                  <a:srgbClr val="CAD7DF"/>
                </a:solidFill>
                <a:latin typeface="Arial"/>
                <a:ea typeface="Arial"/>
                <a:cs typeface="Arial"/>
              </a:rPr>
              <a:t>before: larger gap</a:t>
            </a:r>
          </a:p>
        </p:txBody>
      </p:sp>
      <p:sp>
        <p:nvSpPr>
          <p:cNvPr id="24" name="">
            <a:extLst xmlns:a="http://schemas.openxmlformats.org/drawingml/2006/main">
              <a:ext uri="{FF2B5EF4-FFF2-40B4-BE49-F238E27FC236}">
                <a16:creationId xmlns:a16="http://schemas.microsoft.com/office/drawing/2014/main" id="{385D144C-FEC4-464B-ACD8-85D3E4A12B67}"/>
              </a:ext>
            </a:extLst>
          </p:cNvPr>
          <p:cNvSpPr>
            <a:spLocks xmlns:a="http://schemas.openxmlformats.org/drawingml/2006/main" noGrp="1"/>
          </p:cNvSpPr>
          <p:nvPr/>
        </p:nvSpPr>
        <p:spPr>
          <a:xfrm xmlns:a="http://schemas.openxmlformats.org/drawingml/2006/main">
            <a:off x="3800475" y="3886200"/>
            <a:ext cx="933450" cy="361950"/>
          </a:xfrm>
          <a:prstGeom xmlns:a="http://schemas.openxmlformats.org/drawingml/2006/main" prst="rightArrow">
            <a:avLst/>
          </a:prstGeom>
          <a:solidFill xmlns:a="http://schemas.openxmlformats.org/drawingml/2006/main">
            <a:srgbClr val="D98F3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926C1DF-0E2D-4032-B646-C0CB20619621}"/>
              </a:ext>
            </a:extLst>
          </p:cNvPr>
          <p:cNvSpPr>
            <a:spLocks xmlns:a="http://schemas.openxmlformats.org/drawingml/2006/main" noGrp="1"/>
          </p:cNvSpPr>
          <p:nvPr/>
        </p:nvSpPr>
        <p:spPr>
          <a:xfrm xmlns:a="http://schemas.openxmlformats.org/drawingml/2006/main">
            <a:off x="3324225" y="43529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gap suddenly shrinks</a:t>
            </a:r>
          </a:p>
        </p:txBody>
      </p:sp>
      <p:sp>
        <p:nvSpPr>
          <p:cNvPr id="26" name="">
            <a:extLst xmlns:a="http://schemas.openxmlformats.org/drawingml/2006/main">
              <a:ext uri="{FF2B5EF4-FFF2-40B4-BE49-F238E27FC236}">
                <a16:creationId xmlns:a16="http://schemas.microsoft.com/office/drawing/2014/main" id="{416BB62B-4503-417D-BA15-A7D9CD553D39}"/>
              </a:ext>
            </a:extLst>
          </p:cNvPr>
          <p:cNvSpPr>
            <a:spLocks xmlns:a="http://schemas.openxmlformats.org/drawingml/2006/main" noGrp="1"/>
          </p:cNvSpPr>
          <p:nvPr/>
        </p:nvSpPr>
        <p:spPr>
          <a:xfrm xmlns:a="http://schemas.openxmlformats.org/drawingml/2006/main">
            <a:off x="7572375" y="1409700"/>
            <a:ext cx="0" cy="4305300"/>
          </a:xfrm>
          <a:prstGeom xmlns:a="http://schemas.openxmlformats.org/drawingml/2006/main" prst="line">
            <a:avLst/>
          </a:prstGeom>
          <a:noFill xmlns:a="http://schemas.openxmlformats.org/drawingml/2006/main"/>
          <a:ln xmlns:a="http://schemas.openxmlformats.org/drawingml/2006/main" w="13335">
            <a:solidFill>
              <a:srgbClr val="D8E1E7"/>
            </a:solidFill>
            <a:prstDash val="solid"/>
          </a:ln>
        </p:spPr>
      </p:sp>
      <p:sp>
        <p:nvSpPr>
          <p:cNvPr id="27" name="">
            <a:extLst xmlns:a="http://schemas.openxmlformats.org/drawingml/2006/main">
              <a:ext uri="{FF2B5EF4-FFF2-40B4-BE49-F238E27FC236}">
                <a16:creationId xmlns:a16="http://schemas.microsoft.com/office/drawing/2014/main" id="{41472B19-CBB6-4E97-8731-E38DEF4EEEEB}"/>
              </a:ext>
            </a:extLst>
          </p:cNvPr>
          <p:cNvSpPr>
            <a:spLocks xmlns:a="http://schemas.openxmlformats.org/drawingml/2006/main" noGrp="1"/>
          </p:cNvSpPr>
          <p:nvPr/>
        </p:nvSpPr>
        <p:spPr>
          <a:xfrm xmlns:a="http://schemas.openxmlformats.org/drawingml/2006/main">
            <a:off x="7962900" y="1562100"/>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D98F32"/>
                </a:solidFill>
                <a:latin typeface="Arial"/>
                <a:ea typeface="Arial"/>
                <a:cs typeface="Arial"/>
              </a:defRPr>
            </a:defPPr>
          </a:lstStyle>
          <a:p xmlns:a="http://schemas.openxmlformats.org/drawingml/2006/main">
            <a:pPr algn="l">
              <a:defRPr sz="975" b="1">
                <a:solidFill>
                  <a:srgbClr val="D98F32"/>
                </a:solidFill>
                <a:latin typeface="Arial"/>
                <a:ea typeface="Arial"/>
                <a:cs typeface="Arial"/>
              </a:defRPr>
            </a:pPr>
            <a:r>
              <a:rPr sz="975" b="1">
                <a:solidFill>
                  <a:srgbClr val="D98F32"/>
                </a:solidFill>
                <a:latin typeface="Arial"/>
                <a:ea typeface="Arial"/>
                <a:cs typeface="Arial"/>
              </a:rPr>
              <a:t>OUR CUT-IN STRESS</a:t>
            </a:r>
          </a:p>
        </p:txBody>
      </p:sp>
      <p:sp>
        <p:nvSpPr>
          <p:cNvPr id="28" name="">
            <a:extLst xmlns:a="http://schemas.openxmlformats.org/drawingml/2006/main">
              <a:ext uri="{FF2B5EF4-FFF2-40B4-BE49-F238E27FC236}">
                <a16:creationId xmlns:a16="http://schemas.microsoft.com/office/drawing/2014/main" id="{0AC215A5-3A29-4DAB-91E2-0C1CB890DCD0}"/>
              </a:ext>
            </a:extLst>
          </p:cNvPr>
          <p:cNvSpPr>
            <a:spLocks xmlns:a="http://schemas.openxmlformats.org/drawingml/2006/main" noGrp="1"/>
          </p:cNvSpPr>
          <p:nvPr/>
        </p:nvSpPr>
        <p:spPr>
          <a:xfrm xmlns:a="http://schemas.openxmlformats.org/drawingml/2006/main">
            <a:off x="7962900" y="1933575"/>
            <a:ext cx="285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02437"/>
                </a:solidFill>
                <a:latin typeface="Arial"/>
                <a:ea typeface="Arial"/>
                <a:cs typeface="Arial"/>
              </a:defRPr>
            </a:defPPr>
          </a:lstStyle>
          <a:p xmlns:a="http://schemas.openxmlformats.org/drawingml/2006/main">
            <a:pPr algn="l">
              <a:defRPr sz="2550" b="1">
                <a:solidFill>
                  <a:srgbClr val="102437"/>
                </a:solidFill>
                <a:latin typeface="Arial"/>
                <a:ea typeface="Arial"/>
                <a:cs typeface="Arial"/>
              </a:defRPr>
            </a:pPr>
            <a:r>
              <a:rPr sz="2550" b="1">
                <a:solidFill>
                  <a:srgbClr val="102437"/>
                </a:solidFill>
                <a:latin typeface="Arial"/>
                <a:ea typeface="Arial"/>
                <a:cs typeface="Arial"/>
              </a:rPr>
              <a:t>16–26 m</a:t>
            </a:r>
          </a:p>
        </p:txBody>
      </p:sp>
      <p:sp>
        <p:nvSpPr>
          <p:cNvPr id="29" name="">
            <a:extLst xmlns:a="http://schemas.openxmlformats.org/drawingml/2006/main">
              <a:ext uri="{FF2B5EF4-FFF2-40B4-BE49-F238E27FC236}">
                <a16:creationId xmlns:a16="http://schemas.microsoft.com/office/drawing/2014/main" id="{3BFDE37A-0FB9-40FB-82DA-23D610F806A8}"/>
              </a:ext>
            </a:extLst>
          </p:cNvPr>
          <p:cNvSpPr>
            <a:spLocks xmlns:a="http://schemas.openxmlformats.org/drawingml/2006/main" noGrp="1"/>
          </p:cNvSpPr>
          <p:nvPr/>
        </p:nvSpPr>
        <p:spPr>
          <a:xfrm xmlns:a="http://schemas.openxmlformats.org/drawingml/2006/main">
            <a:off x="7962900" y="2409825"/>
            <a:ext cx="31718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667A8A"/>
                </a:solidFill>
                <a:latin typeface="Arial"/>
                <a:ea typeface="Arial"/>
                <a:cs typeface="Arial"/>
              </a:defRPr>
            </a:defPPr>
          </a:lstStyle>
          <a:p xmlns:a="http://schemas.openxmlformats.org/drawingml/2006/main">
            <a:pPr algn="l">
              <a:defRPr sz="1200" b="0">
                <a:solidFill>
                  <a:srgbClr val="667A8A"/>
                </a:solidFill>
                <a:latin typeface="Arial"/>
                <a:ea typeface="Arial"/>
                <a:cs typeface="Arial"/>
              </a:defRPr>
            </a:pPr>
            <a:r>
              <a:rPr sz="1200" b="0">
                <a:solidFill>
                  <a:srgbClr val="667A8A"/>
                </a:solidFill>
                <a:latin typeface="Arial"/>
                <a:ea typeface="Arial"/>
                <a:cs typeface="Arial"/>
              </a:rPr>
              <a:t>instant gap drop, at a randomized time</a:t>
            </a:r>
          </a:p>
        </p:txBody>
      </p:sp>
      <p:sp>
        <p:nvSpPr>
          <p:cNvPr id="30" name="">
            <a:extLst xmlns:a="http://schemas.openxmlformats.org/drawingml/2006/main">
              <a:ext uri="{FF2B5EF4-FFF2-40B4-BE49-F238E27FC236}">
                <a16:creationId xmlns:a16="http://schemas.microsoft.com/office/drawing/2014/main" id="{E9E2A8F1-A568-4D7A-8EC3-37057E9C5189}"/>
              </a:ext>
            </a:extLst>
          </p:cNvPr>
          <p:cNvSpPr>
            <a:spLocks xmlns:a="http://schemas.openxmlformats.org/drawingml/2006/main" noGrp="1"/>
          </p:cNvSpPr>
          <p:nvPr/>
        </p:nvSpPr>
        <p:spPr>
          <a:xfrm xmlns:a="http://schemas.openxmlformats.org/drawingml/2006/main">
            <a:off x="7962900" y="304800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02437"/>
                </a:solidFill>
                <a:latin typeface="Arial"/>
                <a:ea typeface="Arial"/>
                <a:cs typeface="Arial"/>
              </a:defRPr>
            </a:defPPr>
          </a:lstStyle>
          <a:p xmlns:a="http://schemas.openxmlformats.org/drawingml/2006/main">
            <a:pPr algn="l">
              <a:defRPr sz="2325" b="1">
                <a:solidFill>
                  <a:srgbClr val="102437"/>
                </a:solidFill>
                <a:latin typeface="Arial"/>
                <a:ea typeface="Arial"/>
                <a:cs typeface="Arial"/>
              </a:defRPr>
            </a:pPr>
            <a:r>
              <a:rPr sz="2325" b="1">
                <a:solidFill>
                  <a:srgbClr val="102437"/>
                </a:solidFill>
                <a:latin typeface="Arial"/>
                <a:ea typeface="Arial"/>
                <a:cs typeface="Arial"/>
              </a:rPr>
              <a:t>3.5–5.0 m/s²</a:t>
            </a:r>
          </a:p>
        </p:txBody>
      </p:sp>
      <p:sp>
        <p:nvSpPr>
          <p:cNvPr id="31" name="">
            <a:extLst xmlns:a="http://schemas.openxmlformats.org/drawingml/2006/main">
              <a:ext uri="{FF2B5EF4-FFF2-40B4-BE49-F238E27FC236}">
                <a16:creationId xmlns:a16="http://schemas.microsoft.com/office/drawing/2014/main" id="{45063B91-BD24-4658-A45B-408D4FF187F9}"/>
              </a:ext>
            </a:extLst>
          </p:cNvPr>
          <p:cNvSpPr>
            <a:spLocks xmlns:a="http://schemas.openxmlformats.org/drawingml/2006/main" noGrp="1"/>
          </p:cNvSpPr>
          <p:nvPr/>
        </p:nvSpPr>
        <p:spPr>
          <a:xfrm xmlns:a="http://schemas.openxmlformats.org/drawingml/2006/main">
            <a:off x="7962900" y="3514725"/>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667A8A"/>
                </a:solidFill>
                <a:latin typeface="Arial"/>
                <a:ea typeface="Arial"/>
                <a:cs typeface="Arial"/>
              </a:defRPr>
            </a:defPPr>
          </a:lstStyle>
          <a:p xmlns:a="http://schemas.openxmlformats.org/drawingml/2006/main">
            <a:pPr algn="l">
              <a:defRPr sz="1200" b="0">
                <a:solidFill>
                  <a:srgbClr val="667A8A"/>
                </a:solidFill>
                <a:latin typeface="Arial"/>
                <a:ea typeface="Arial"/>
                <a:cs typeface="Arial"/>
              </a:defRPr>
            </a:pPr>
            <a:r>
              <a:rPr sz="1200" b="0">
                <a:solidFill>
                  <a:srgbClr val="667A8A"/>
                </a:solidFill>
                <a:latin typeface="Arial"/>
                <a:ea typeface="Arial"/>
                <a:cs typeface="Arial"/>
              </a:rPr>
              <a:t>lead-vehicle braking for 2–3 s</a:t>
            </a:r>
          </a:p>
        </p:txBody>
      </p:sp>
      <p:sp>
        <p:nvSpPr>
          <p:cNvPr id="32" name="">
            <a:extLst xmlns:a="http://schemas.openxmlformats.org/drawingml/2006/main">
              <a:ext uri="{FF2B5EF4-FFF2-40B4-BE49-F238E27FC236}">
                <a16:creationId xmlns:a16="http://schemas.microsoft.com/office/drawing/2014/main" id="{DD8F1B79-3859-4893-ADCD-1655FAF59F0D}"/>
              </a:ext>
            </a:extLst>
          </p:cNvPr>
          <p:cNvSpPr>
            <a:spLocks xmlns:a="http://schemas.openxmlformats.org/drawingml/2006/main" noGrp="1"/>
          </p:cNvSpPr>
          <p:nvPr/>
        </p:nvSpPr>
        <p:spPr>
          <a:xfrm xmlns:a="http://schemas.openxmlformats.org/drawingml/2006/main">
            <a:off x="7962900" y="4133850"/>
            <a:ext cx="2190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87C75"/>
                </a:solidFill>
                <a:latin typeface="Arial"/>
                <a:ea typeface="Arial"/>
                <a:cs typeface="Arial"/>
              </a:defRPr>
            </a:defPPr>
          </a:lstStyle>
          <a:p xmlns:a="http://schemas.openxmlformats.org/drawingml/2006/main">
            <a:pPr algn="l">
              <a:defRPr sz="1350" b="1">
                <a:solidFill>
                  <a:srgbClr val="087C75"/>
                </a:solidFill>
                <a:latin typeface="Arial"/>
                <a:ea typeface="Arial"/>
                <a:cs typeface="Arial"/>
              </a:defRPr>
            </a:pPr>
            <a:r>
              <a:rPr sz="1350" b="1">
                <a:solidFill>
                  <a:srgbClr val="087C75"/>
                </a:solidFill>
                <a:latin typeface="Arial"/>
                <a:ea typeface="Arial"/>
                <a:cs typeface="Arial"/>
              </a:rPr>
              <a:t>We measure</a:t>
            </a:r>
          </a:p>
        </p:txBody>
      </p:sp>
      <p:sp>
        <p:nvSpPr>
          <p:cNvPr id="33" name="">
            <a:extLst xmlns:a="http://schemas.openxmlformats.org/drawingml/2006/main">
              <a:ext uri="{FF2B5EF4-FFF2-40B4-BE49-F238E27FC236}">
                <a16:creationId xmlns:a16="http://schemas.microsoft.com/office/drawing/2014/main" id="{874EFF14-9D46-4C53-BED5-D5B16BF9A3AC}"/>
              </a:ext>
            </a:extLst>
          </p:cNvPr>
          <p:cNvSpPr>
            <a:spLocks xmlns:a="http://schemas.openxmlformats.org/drawingml/2006/main" noGrp="1"/>
          </p:cNvSpPr>
          <p:nvPr/>
        </p:nvSpPr>
        <p:spPr>
          <a:xfrm xmlns:a="http://schemas.openxmlformats.org/drawingml/2006/main">
            <a:off x="7962900" y="4467225"/>
            <a:ext cx="335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1D2E3B"/>
                </a:solidFill>
                <a:latin typeface="Arial"/>
                <a:ea typeface="Arial"/>
                <a:cs typeface="Arial"/>
              </a:defRPr>
            </a:defPPr>
          </a:lstStyle>
          <a:p xmlns:a="http://schemas.openxmlformats.org/drawingml/2006/main">
            <a:pPr algn="l">
              <a:defRPr sz="1275" b="0">
                <a:solidFill>
                  <a:srgbClr val="1D2E3B"/>
                </a:solidFill>
                <a:latin typeface="Arial"/>
                <a:ea typeface="Arial"/>
                <a:cs typeface="Arial"/>
              </a:defRPr>
            </a:pPr>
            <a:r>
              <a:rPr sz="1275" b="0">
                <a:solidFill>
                  <a:srgbClr val="1D2E3B"/>
                </a:solidFill>
                <a:latin typeface="Arial"/>
                <a:ea typeface="Arial"/>
                <a:cs typeface="Arial"/>
              </a:rPr>
              <a:t>minimum gap · time-to-collision · jerk</a:t>
            </a:r>
          </a:p>
        </p:txBody>
      </p:sp>
      <p:sp>
        <p:nvSpPr>
          <p:cNvPr id="34" name="">
            <a:extLst xmlns:a="http://schemas.openxmlformats.org/drawingml/2006/main">
              <a:ext uri="{FF2B5EF4-FFF2-40B4-BE49-F238E27FC236}">
                <a16:creationId xmlns:a16="http://schemas.microsoft.com/office/drawing/2014/main" id="{0FCA88AF-021F-4DAD-9947-722167649929}"/>
              </a:ext>
            </a:extLst>
          </p:cNvPr>
          <p:cNvSpPr>
            <a:spLocks xmlns:a="http://schemas.openxmlformats.org/drawingml/2006/main" noGrp="1"/>
          </p:cNvSpPr>
          <p:nvPr/>
        </p:nvSpPr>
        <p:spPr>
          <a:xfrm xmlns:a="http://schemas.openxmlformats.org/drawingml/2006/main">
            <a:off x="552450" y="5505450"/>
            <a:ext cx="1062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87C75"/>
                </a:solidFill>
                <a:latin typeface="Arial"/>
                <a:ea typeface="Arial"/>
                <a:cs typeface="Arial"/>
              </a:defRPr>
            </a:defPPr>
          </a:lstStyle>
          <a:p xmlns:a="http://schemas.openxmlformats.org/drawingml/2006/main">
            <a:pPr algn="l">
              <a:defRPr sz="1275" b="1">
                <a:solidFill>
                  <a:srgbClr val="087C75"/>
                </a:solidFill>
                <a:latin typeface="Arial"/>
                <a:ea typeface="Arial"/>
                <a:cs typeface="Arial"/>
              </a:defRPr>
            </a:pPr>
            <a:r>
              <a:rPr sz="1275" b="1">
                <a:solidFill>
                  <a:srgbClr val="087C75"/>
                </a:solidFill>
                <a:latin typeface="Arial"/>
                <a:ea typeface="Arial"/>
                <a:cs typeface="Arial"/>
              </a:rPr>
              <a:t>The simulator changes distance only; it does not simulate the lane change or perception.</a:t>
            </a:r>
          </a:p>
        </p:txBody>
      </p:sp>
    </p:spTree>
    <p:extLst>
      <p:ext uri="{BB962C8B-B14F-4D97-AF65-F5344CB8AC3E}">
        <p14:creationId xmlns:p14="http://schemas.microsoft.com/office/powerpoint/2010/main" val="316527160"/>
      </p:ext>
    </p:extLst>
  </p:cSld>
</p:sld>
</file>

<file path=ppt/slides/slide3.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C40D573-FF25-42BA-A1B6-AC8C70764B9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4B9AA8-FA9C-42B8-A1CC-63DE7BBBEA09}"/>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02 · LITERATURE</a:t>
            </a:r>
          </a:p>
        </p:txBody>
      </p:sp>
      <p:sp>
        <p:nvSpPr>
          <p:cNvPr id="3" name="slide-3-title">
            <a:extLst xmlns:a="http://schemas.openxmlformats.org/drawingml/2006/main">
              <a:ext uri="{FF2B5EF4-FFF2-40B4-BE49-F238E27FC236}">
                <a16:creationId xmlns:a16="http://schemas.microsoft.com/office/drawing/2014/main" id="{DE782BCF-599B-449C-9931-E57215EABF27}"/>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02437"/>
                </a:solidFill>
                <a:latin typeface="Arial"/>
                <a:ea typeface="Arial"/>
                <a:cs typeface="Arial"/>
              </a:defRPr>
            </a:defPPr>
          </a:lstStyle>
          <a:p xmlns:a="http://schemas.openxmlformats.org/drawingml/2006/main">
            <a:pPr algn="l">
              <a:defRPr sz="2550" b="1">
                <a:solidFill>
                  <a:srgbClr val="102437"/>
                </a:solidFill>
                <a:latin typeface="Arial"/>
                <a:ea typeface="Arial"/>
                <a:cs typeface="Arial"/>
              </a:defRPr>
            </a:pPr>
            <a:r>
              <a:rPr sz="2550" b="1">
                <a:solidFill>
                  <a:srgbClr val="102437"/>
                </a:solidFill>
                <a:latin typeface="Arial"/>
                <a:ea typeface="Arial"/>
                <a:cs typeface="Arial"/>
              </a:rPr>
              <a:t>Three research threads shape the question.</a:t>
            </a:r>
          </a:p>
        </p:txBody>
      </p:sp>
      <p:sp>
        <p:nvSpPr>
          <p:cNvPr id="4" name="">
            <a:extLst xmlns:a="http://schemas.openxmlformats.org/drawingml/2006/main">
              <a:ext uri="{FF2B5EF4-FFF2-40B4-BE49-F238E27FC236}">
                <a16:creationId xmlns:a16="http://schemas.microsoft.com/office/drawing/2014/main" id="{9B9954FE-A0EE-41F3-8F54-21B3CFC684E1}"/>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733E1F81-0DE2-4001-9498-6D3881823ADC}"/>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6563BF93-DB3A-4392-8FB6-2DE84626B6E7}"/>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0E9C7DF2-30BE-45F9-86FF-F0B6C96BD9B2}"/>
              </a:ext>
            </a:extLst>
          </p:cNvPr>
          <p:cNvSpPr>
            <a:spLocks xmlns:a="http://schemas.openxmlformats.org/drawingml/2006/main" noGrp="1"/>
          </p:cNvSpPr>
          <p:nvPr/>
        </p:nvSpPr>
        <p:spPr>
          <a:xfrm xmlns:a="http://schemas.openxmlformats.org/drawingml/2006/main">
            <a:off x="552450" y="1504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F7990"/>
                </a:solidFill>
                <a:latin typeface="Arial"/>
                <a:ea typeface="Arial"/>
                <a:cs typeface="Arial"/>
              </a:defRPr>
            </a:defPPr>
          </a:lstStyle>
          <a:p xmlns:a="http://schemas.openxmlformats.org/drawingml/2006/main">
            <a:pPr algn="l">
              <a:defRPr sz="1050" b="1">
                <a:solidFill>
                  <a:srgbClr val="3F7990"/>
                </a:solidFill>
                <a:latin typeface="Arial"/>
                <a:ea typeface="Arial"/>
                <a:cs typeface="Arial"/>
              </a:defRPr>
            </a:pPr>
            <a:r>
              <a:rPr sz="1050" b="1">
                <a:solidFill>
                  <a:srgbClr val="3F7990"/>
                </a:solidFill>
                <a:latin typeface="Arial"/>
                <a:ea typeface="Arial"/>
                <a:cs typeface="Arial"/>
              </a:rPr>
              <a:t>CLASSICAL ACC</a:t>
            </a:r>
          </a:p>
        </p:txBody>
      </p:sp>
      <p:sp>
        <p:nvSpPr>
          <p:cNvPr id="8" name="">
            <a:extLst xmlns:a="http://schemas.openxmlformats.org/drawingml/2006/main">
              <a:ext uri="{FF2B5EF4-FFF2-40B4-BE49-F238E27FC236}">
                <a16:creationId xmlns:a16="http://schemas.microsoft.com/office/drawing/2014/main" id="{A8AF8999-22C3-4468-AB0E-6BB60349DDA7}"/>
              </a:ext>
            </a:extLst>
          </p:cNvPr>
          <p:cNvSpPr>
            <a:spLocks xmlns:a="http://schemas.openxmlformats.org/drawingml/2006/main" noGrp="1"/>
          </p:cNvSpPr>
          <p:nvPr/>
        </p:nvSpPr>
        <p:spPr>
          <a:xfrm xmlns:a="http://schemas.openxmlformats.org/drawingml/2006/main">
            <a:off x="552450" y="1943100"/>
            <a:ext cx="3238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1D2E3B"/>
                </a:solidFill>
                <a:latin typeface="Arial"/>
                <a:ea typeface="Arial"/>
                <a:cs typeface="Arial"/>
              </a:defRPr>
            </a:defPPr>
          </a:lstStyle>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Bageshwar et al. (2004)</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Predictive control for transitional maneuvers.</a:t>
            </a:r>
          </a:p>
          <a:p xmlns:a="http://schemas.openxmlformats.org/drawingml/2006/main">
            <a:r>
              <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Li et al. (2011)</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Multi-objective ACC MPC.</a:t>
            </a:r>
          </a:p>
          <a:p xmlns:a="http://schemas.openxmlformats.org/drawingml/2006/main">
            <a:r>
              <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He et al. (2019)</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Review of experimental-vehicle strategies.</a:t>
            </a:r>
          </a:p>
        </p:txBody>
      </p:sp>
      <p:sp>
        <p:nvSpPr>
          <p:cNvPr id="9" name="">
            <a:extLst xmlns:a="http://schemas.openxmlformats.org/drawingml/2006/main">
              <a:ext uri="{FF2B5EF4-FFF2-40B4-BE49-F238E27FC236}">
                <a16:creationId xmlns:a16="http://schemas.microsoft.com/office/drawing/2014/main" id="{6366637A-9A97-4C79-9CD9-D323A4C94052}"/>
              </a:ext>
            </a:extLst>
          </p:cNvPr>
          <p:cNvSpPr>
            <a:spLocks xmlns:a="http://schemas.openxmlformats.org/drawingml/2006/main" noGrp="1"/>
          </p:cNvSpPr>
          <p:nvPr/>
        </p:nvSpPr>
        <p:spPr>
          <a:xfrm xmlns:a="http://schemas.openxmlformats.org/drawingml/2006/main">
            <a:off x="552450" y="4552950"/>
            <a:ext cx="31242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10" name="">
            <a:extLst xmlns:a="http://schemas.openxmlformats.org/drawingml/2006/main">
              <a:ext uri="{FF2B5EF4-FFF2-40B4-BE49-F238E27FC236}">
                <a16:creationId xmlns:a16="http://schemas.microsoft.com/office/drawing/2014/main" id="{0D729ECA-896E-49B4-9A71-1A6FDB6031B5}"/>
              </a:ext>
            </a:extLst>
          </p:cNvPr>
          <p:cNvSpPr>
            <a:spLocks xmlns:a="http://schemas.openxmlformats.org/drawingml/2006/main" noGrp="1"/>
          </p:cNvSpPr>
          <p:nvPr/>
        </p:nvSpPr>
        <p:spPr>
          <a:xfrm xmlns:a="http://schemas.openxmlformats.org/drawingml/2006/main">
            <a:off x="552450" y="4752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102437"/>
                </a:solidFill>
                <a:latin typeface="Arial"/>
                <a:ea typeface="Arial"/>
                <a:cs typeface="Arial"/>
              </a:defRPr>
            </a:defPPr>
          </a:lstStyle>
          <a:p xmlns:a="http://schemas.openxmlformats.org/drawingml/2006/main">
            <a:pPr algn="l">
              <a:defRPr sz="1200" b="1">
                <a:solidFill>
                  <a:srgbClr val="102437"/>
                </a:solidFill>
                <a:latin typeface="Arial"/>
                <a:ea typeface="Arial"/>
                <a:cs typeface="Arial"/>
              </a:defRPr>
            </a:pPr>
            <a:r>
              <a:rPr sz="1200" b="1">
                <a:solidFill>
                  <a:srgbClr val="102437"/>
                </a:solidFill>
                <a:latin typeface="Arial"/>
                <a:ea typeface="Arial"/>
                <a:cs typeface="Arial"/>
              </a:rPr>
              <a:t>Strong baselines; real-vehicle evidence remains comparatively limited.</a:t>
            </a:r>
          </a:p>
        </p:txBody>
      </p:sp>
      <p:sp>
        <p:nvSpPr>
          <p:cNvPr id="11" name="">
            <a:extLst xmlns:a="http://schemas.openxmlformats.org/drawingml/2006/main">
              <a:ext uri="{FF2B5EF4-FFF2-40B4-BE49-F238E27FC236}">
                <a16:creationId xmlns:a16="http://schemas.microsoft.com/office/drawing/2014/main" id="{468116BF-7865-4E78-8881-AEBAB8FD8728}"/>
              </a:ext>
            </a:extLst>
          </p:cNvPr>
          <p:cNvSpPr>
            <a:spLocks xmlns:a="http://schemas.openxmlformats.org/drawingml/2006/main" noGrp="1"/>
          </p:cNvSpPr>
          <p:nvPr/>
        </p:nvSpPr>
        <p:spPr>
          <a:xfrm xmlns:a="http://schemas.openxmlformats.org/drawingml/2006/main">
            <a:off x="4086225" y="1485900"/>
            <a:ext cx="0" cy="4238625"/>
          </a:xfrm>
          <a:prstGeom xmlns:a="http://schemas.openxmlformats.org/drawingml/2006/main" prst="line">
            <a:avLst/>
          </a:prstGeom>
          <a:noFill xmlns:a="http://schemas.openxmlformats.org/drawingml/2006/main"/>
          <a:ln xmlns:a="http://schemas.openxmlformats.org/drawingml/2006/main" w="11906">
            <a:solidFill>
              <a:srgbClr val="D8E1E7"/>
            </a:solidFill>
            <a:prstDash val="solid"/>
          </a:ln>
        </p:spPr>
      </p:sp>
      <p:sp>
        <p:nvSpPr>
          <p:cNvPr id="12" name="">
            <a:extLst xmlns:a="http://schemas.openxmlformats.org/drawingml/2006/main">
              <a:ext uri="{FF2B5EF4-FFF2-40B4-BE49-F238E27FC236}">
                <a16:creationId xmlns:a16="http://schemas.microsoft.com/office/drawing/2014/main" id="{EB0DFC7A-DDD5-4047-B857-DF75044CD0CF}"/>
              </a:ext>
            </a:extLst>
          </p:cNvPr>
          <p:cNvSpPr>
            <a:spLocks xmlns:a="http://schemas.openxmlformats.org/drawingml/2006/main" noGrp="1"/>
          </p:cNvSpPr>
          <p:nvPr/>
        </p:nvSpPr>
        <p:spPr>
          <a:xfrm xmlns:a="http://schemas.openxmlformats.org/drawingml/2006/main">
            <a:off x="4305300" y="1504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087C75"/>
                </a:solidFill>
                <a:latin typeface="Arial"/>
                <a:ea typeface="Arial"/>
                <a:cs typeface="Arial"/>
              </a:defRPr>
            </a:defPPr>
          </a:lstStyle>
          <a:p xmlns:a="http://schemas.openxmlformats.org/drawingml/2006/main">
            <a:pPr algn="l">
              <a:defRPr sz="1050" b="1">
                <a:solidFill>
                  <a:srgbClr val="087C75"/>
                </a:solidFill>
                <a:latin typeface="Arial"/>
                <a:ea typeface="Arial"/>
                <a:cs typeface="Arial"/>
              </a:defRPr>
            </a:pPr>
            <a:r>
              <a:rPr sz="1050" b="1">
                <a:solidFill>
                  <a:srgbClr val="087C75"/>
                </a:solidFill>
                <a:latin typeface="Arial"/>
                <a:ea typeface="Arial"/>
                <a:cs typeface="Arial"/>
              </a:rPr>
              <a:t>LEARNED FOLLOWING</a:t>
            </a:r>
          </a:p>
        </p:txBody>
      </p:sp>
      <p:sp>
        <p:nvSpPr>
          <p:cNvPr id="13" name="">
            <a:extLst xmlns:a="http://schemas.openxmlformats.org/drawingml/2006/main">
              <a:ext uri="{FF2B5EF4-FFF2-40B4-BE49-F238E27FC236}">
                <a16:creationId xmlns:a16="http://schemas.microsoft.com/office/drawing/2014/main" id="{7F5A8A3E-E446-4E6B-91F0-88FC654EA1A5}"/>
              </a:ext>
            </a:extLst>
          </p:cNvPr>
          <p:cNvSpPr>
            <a:spLocks xmlns:a="http://schemas.openxmlformats.org/drawingml/2006/main" noGrp="1"/>
          </p:cNvSpPr>
          <p:nvPr/>
        </p:nvSpPr>
        <p:spPr>
          <a:xfrm xmlns:a="http://schemas.openxmlformats.org/drawingml/2006/main">
            <a:off x="4305300" y="1943100"/>
            <a:ext cx="3238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1D2E3B"/>
                </a:solidFill>
                <a:latin typeface="Arial"/>
                <a:ea typeface="Arial"/>
                <a:cs typeface="Arial"/>
              </a:defRPr>
            </a:defPPr>
          </a:lstStyle>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Desjardins &amp; Chaib-draa (2011)</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RL for cooperative ACC.</a:t>
            </a:r>
          </a:p>
          <a:p xmlns:a="http://schemas.openxmlformats.org/drawingml/2006/main">
            <a:r>
              <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Zhu et al. (2018, 2020)</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Naturalistic car-following and safety/comfort objectives.</a:t>
            </a:r>
          </a:p>
          <a:p xmlns:a="http://schemas.openxmlformats.org/drawingml/2006/main">
            <a:r>
              <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Lin et al. (2021)</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DRL vs MPC for ACC.</a:t>
            </a:r>
          </a:p>
        </p:txBody>
      </p:sp>
      <p:sp>
        <p:nvSpPr>
          <p:cNvPr id="14" name="">
            <a:extLst xmlns:a="http://schemas.openxmlformats.org/drawingml/2006/main">
              <a:ext uri="{FF2B5EF4-FFF2-40B4-BE49-F238E27FC236}">
                <a16:creationId xmlns:a16="http://schemas.microsoft.com/office/drawing/2014/main" id="{89E160B1-E7F7-4FD1-8A78-D2FDE53B627B}"/>
              </a:ext>
            </a:extLst>
          </p:cNvPr>
          <p:cNvSpPr>
            <a:spLocks xmlns:a="http://schemas.openxmlformats.org/drawingml/2006/main" noGrp="1"/>
          </p:cNvSpPr>
          <p:nvPr/>
        </p:nvSpPr>
        <p:spPr>
          <a:xfrm xmlns:a="http://schemas.openxmlformats.org/drawingml/2006/main">
            <a:off x="4305300" y="4552950"/>
            <a:ext cx="31242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15" name="">
            <a:extLst xmlns:a="http://schemas.openxmlformats.org/drawingml/2006/main">
              <a:ext uri="{FF2B5EF4-FFF2-40B4-BE49-F238E27FC236}">
                <a16:creationId xmlns:a16="http://schemas.microsoft.com/office/drawing/2014/main" id="{8A782C80-DDBD-42CA-AC30-22DD2D4C1639}"/>
              </a:ext>
            </a:extLst>
          </p:cNvPr>
          <p:cNvSpPr>
            <a:spLocks xmlns:a="http://schemas.openxmlformats.org/drawingml/2006/main" noGrp="1"/>
          </p:cNvSpPr>
          <p:nvPr/>
        </p:nvSpPr>
        <p:spPr>
          <a:xfrm xmlns:a="http://schemas.openxmlformats.org/drawingml/2006/main">
            <a:off x="4305300" y="4752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102437"/>
                </a:solidFill>
                <a:latin typeface="Arial"/>
                <a:ea typeface="Arial"/>
                <a:cs typeface="Arial"/>
              </a:defRPr>
            </a:defPPr>
          </a:lstStyle>
          <a:p xmlns:a="http://schemas.openxmlformats.org/drawingml/2006/main">
            <a:pPr algn="l">
              <a:defRPr sz="1200" b="1">
                <a:solidFill>
                  <a:srgbClr val="102437"/>
                </a:solidFill>
                <a:latin typeface="Arial"/>
                <a:ea typeface="Arial"/>
                <a:cs typeface="Arial"/>
              </a:defRPr>
            </a:pPr>
            <a:r>
              <a:rPr sz="1200" b="1">
                <a:solidFill>
                  <a:srgbClr val="102437"/>
                </a:solidFill>
                <a:latin typeface="Arial"/>
                <a:ea typeface="Arial"/>
                <a:cs typeface="Arial"/>
              </a:rPr>
              <a:t>Objectives and evidence settings vary across papers.</a:t>
            </a:r>
          </a:p>
        </p:txBody>
      </p:sp>
      <p:sp>
        <p:nvSpPr>
          <p:cNvPr id="16" name="">
            <a:extLst xmlns:a="http://schemas.openxmlformats.org/drawingml/2006/main">
              <a:ext uri="{FF2B5EF4-FFF2-40B4-BE49-F238E27FC236}">
                <a16:creationId xmlns:a16="http://schemas.microsoft.com/office/drawing/2014/main" id="{372CE2D5-7E7A-418F-BFF3-580A1F851E99}"/>
              </a:ext>
            </a:extLst>
          </p:cNvPr>
          <p:cNvSpPr>
            <a:spLocks xmlns:a="http://schemas.openxmlformats.org/drawingml/2006/main" noGrp="1"/>
          </p:cNvSpPr>
          <p:nvPr/>
        </p:nvSpPr>
        <p:spPr>
          <a:xfrm xmlns:a="http://schemas.openxmlformats.org/drawingml/2006/main">
            <a:off x="7839075" y="1485900"/>
            <a:ext cx="0" cy="4238625"/>
          </a:xfrm>
          <a:prstGeom xmlns:a="http://schemas.openxmlformats.org/drawingml/2006/main" prst="line">
            <a:avLst/>
          </a:prstGeom>
          <a:noFill xmlns:a="http://schemas.openxmlformats.org/drawingml/2006/main"/>
          <a:ln xmlns:a="http://schemas.openxmlformats.org/drawingml/2006/main" w="11906">
            <a:solidFill>
              <a:srgbClr val="D8E1E7"/>
            </a:solidFill>
            <a:prstDash val="solid"/>
          </a:ln>
        </p:spPr>
      </p:sp>
      <p:sp>
        <p:nvSpPr>
          <p:cNvPr id="17" name="">
            <a:extLst xmlns:a="http://schemas.openxmlformats.org/drawingml/2006/main">
              <a:ext uri="{FF2B5EF4-FFF2-40B4-BE49-F238E27FC236}">
                <a16:creationId xmlns:a16="http://schemas.microsoft.com/office/drawing/2014/main" id="{FFB0262D-EFAD-410B-841E-BA3AB8C26E39}"/>
              </a:ext>
            </a:extLst>
          </p:cNvPr>
          <p:cNvSpPr>
            <a:spLocks xmlns:a="http://schemas.openxmlformats.org/drawingml/2006/main" noGrp="1"/>
          </p:cNvSpPr>
          <p:nvPr/>
        </p:nvSpPr>
        <p:spPr>
          <a:xfrm xmlns:a="http://schemas.openxmlformats.org/drawingml/2006/main">
            <a:off x="8058150" y="1504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D98F32"/>
                </a:solidFill>
                <a:latin typeface="Arial"/>
                <a:ea typeface="Arial"/>
                <a:cs typeface="Arial"/>
              </a:defRPr>
            </a:defPPr>
          </a:lstStyle>
          <a:p xmlns:a="http://schemas.openxmlformats.org/drawingml/2006/main">
            <a:pPr algn="l">
              <a:defRPr sz="1050" b="1">
                <a:solidFill>
                  <a:srgbClr val="D98F32"/>
                </a:solidFill>
                <a:latin typeface="Arial"/>
                <a:ea typeface="Arial"/>
                <a:cs typeface="Arial"/>
              </a:defRPr>
            </a:pPr>
            <a:r>
              <a:rPr sz="1050" b="1">
                <a:solidFill>
                  <a:srgbClr val="D98F32"/>
                </a:solidFill>
                <a:latin typeface="Arial"/>
                <a:ea typeface="Arial"/>
                <a:cs typeface="Arial"/>
              </a:rPr>
              <a:t>SAFETY METHODS</a:t>
            </a:r>
          </a:p>
        </p:txBody>
      </p:sp>
      <p:sp>
        <p:nvSpPr>
          <p:cNvPr id="18" name="">
            <a:extLst xmlns:a="http://schemas.openxmlformats.org/drawingml/2006/main">
              <a:ext uri="{FF2B5EF4-FFF2-40B4-BE49-F238E27FC236}">
                <a16:creationId xmlns:a16="http://schemas.microsoft.com/office/drawing/2014/main" id="{8AD91695-373E-4E8B-9659-F10FEC16B134}"/>
              </a:ext>
            </a:extLst>
          </p:cNvPr>
          <p:cNvSpPr>
            <a:spLocks xmlns:a="http://schemas.openxmlformats.org/drawingml/2006/main" noGrp="1"/>
          </p:cNvSpPr>
          <p:nvPr/>
        </p:nvSpPr>
        <p:spPr>
          <a:xfrm xmlns:a="http://schemas.openxmlformats.org/drawingml/2006/main">
            <a:off x="8058150" y="1943100"/>
            <a:ext cx="3238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1D2E3B"/>
                </a:solidFill>
                <a:latin typeface="Arial"/>
                <a:ea typeface="Arial"/>
                <a:cs typeface="Arial"/>
              </a:defRPr>
            </a:defPPr>
          </a:lstStyle>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Ames et al. (2014)</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CBF-QP applied to ACC.</a:t>
            </a:r>
          </a:p>
          <a:p xmlns:a="http://schemas.openxmlformats.org/drawingml/2006/main">
            <a:r>
              <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RSS (2017) · shielding (2018)</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Explicit safety rules / action filtering.</a:t>
            </a:r>
          </a:p>
          <a:p xmlns:a="http://schemas.openxmlformats.org/drawingml/2006/main">
            <a:r>
              <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Hailemichael et al. (2022)</a:t>
            </a:r>
          </a:p>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Safety filtering for RL-based ACC.</a:t>
            </a:r>
          </a:p>
        </p:txBody>
      </p:sp>
      <p:sp>
        <p:nvSpPr>
          <p:cNvPr id="19" name="">
            <a:extLst xmlns:a="http://schemas.openxmlformats.org/drawingml/2006/main">
              <a:ext uri="{FF2B5EF4-FFF2-40B4-BE49-F238E27FC236}">
                <a16:creationId xmlns:a16="http://schemas.microsoft.com/office/drawing/2014/main" id="{206D2FF7-E8E4-4196-A819-0697788633C7}"/>
              </a:ext>
            </a:extLst>
          </p:cNvPr>
          <p:cNvSpPr>
            <a:spLocks xmlns:a="http://schemas.openxmlformats.org/drawingml/2006/main" noGrp="1"/>
          </p:cNvSpPr>
          <p:nvPr/>
        </p:nvSpPr>
        <p:spPr>
          <a:xfrm xmlns:a="http://schemas.openxmlformats.org/drawingml/2006/main">
            <a:off x="8058150" y="4552950"/>
            <a:ext cx="31242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20" name="">
            <a:extLst xmlns:a="http://schemas.openxmlformats.org/drawingml/2006/main">
              <a:ext uri="{FF2B5EF4-FFF2-40B4-BE49-F238E27FC236}">
                <a16:creationId xmlns:a16="http://schemas.microsoft.com/office/drawing/2014/main" id="{B91F338B-A787-45B6-AB71-246EF41B1973}"/>
              </a:ext>
            </a:extLst>
          </p:cNvPr>
          <p:cNvSpPr>
            <a:spLocks xmlns:a="http://schemas.openxmlformats.org/drawingml/2006/main" noGrp="1"/>
          </p:cNvSpPr>
          <p:nvPr/>
        </p:nvSpPr>
        <p:spPr>
          <a:xfrm xmlns:a="http://schemas.openxmlformats.org/drawingml/2006/main">
            <a:off x="8058150" y="4752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102437"/>
                </a:solidFill>
                <a:latin typeface="Arial"/>
                <a:ea typeface="Arial"/>
                <a:cs typeface="Arial"/>
              </a:defRPr>
            </a:defPPr>
          </a:lstStyle>
          <a:p xmlns:a="http://schemas.openxmlformats.org/drawingml/2006/main">
            <a:pPr algn="l">
              <a:defRPr sz="1200" b="1">
                <a:solidFill>
                  <a:srgbClr val="102437"/>
                </a:solidFill>
                <a:latin typeface="Arial"/>
                <a:ea typeface="Arial"/>
                <a:cs typeface="Arial"/>
              </a:defRPr>
            </a:pPr>
            <a:r>
              <a:rPr sz="1200" b="1">
                <a:solidFill>
                  <a:srgbClr val="102437"/>
                </a:solidFill>
                <a:latin typeface="Arial"/>
                <a:ea typeface="Arial"/>
                <a:cs typeface="Arial"/>
              </a:rPr>
              <a:t>Assurance depends on explicit models and assumptions.</a:t>
            </a:r>
          </a:p>
        </p:txBody>
      </p:sp>
    </p:spTree>
    <p:extLst>
      <p:ext uri="{BB962C8B-B14F-4D97-AF65-F5344CB8AC3E}">
        <p14:creationId xmlns:p14="http://schemas.microsoft.com/office/powerpoint/2010/main" val="115763990"/>
      </p:ext>
    </p:extLst>
  </p:cSld>
</p:sld>
</file>

<file path=ppt/slides/slide4.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08A9A24-832A-4464-9BE3-1D33DA6293D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925DCB-C724-4158-BF80-48FA0B24FE76}"/>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03 · RESEARCH DESIGN</a:t>
            </a:r>
          </a:p>
        </p:txBody>
      </p:sp>
      <p:sp>
        <p:nvSpPr>
          <p:cNvPr id="3" name="slide-4-title">
            <a:extLst xmlns:a="http://schemas.openxmlformats.org/drawingml/2006/main">
              <a:ext uri="{FF2B5EF4-FFF2-40B4-BE49-F238E27FC236}">
                <a16:creationId xmlns:a16="http://schemas.microsoft.com/office/drawing/2014/main" id="{8BBE8D89-4840-4D2E-BD6B-9ADD653D14E8}"/>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02437"/>
                </a:solidFill>
                <a:latin typeface="Arial"/>
                <a:ea typeface="Arial"/>
                <a:cs typeface="Arial"/>
              </a:defRPr>
            </a:defPPr>
          </a:lstStyle>
          <a:p xmlns:a="http://schemas.openxmlformats.org/drawingml/2006/main">
            <a:pPr algn="l">
              <a:defRPr sz="2325" b="1">
                <a:solidFill>
                  <a:srgbClr val="102437"/>
                </a:solidFill>
                <a:latin typeface="Arial"/>
                <a:ea typeface="Arial"/>
                <a:cs typeface="Arial"/>
              </a:defRPr>
            </a:pPr>
            <a:r>
              <a:rPr sz="2325" b="1">
                <a:solidFill>
                  <a:srgbClr val="102437"/>
                </a:solidFill>
                <a:latin typeface="Arial"/>
                <a:ea typeface="Arial"/>
                <a:cs typeface="Arial"/>
              </a:rPr>
              <a:t>Can tabular RL improve a CTG controller without hiding the control logic?</a:t>
            </a:r>
          </a:p>
        </p:txBody>
      </p:sp>
      <p:sp>
        <p:nvSpPr>
          <p:cNvPr id="4" name="">
            <a:extLst xmlns:a="http://schemas.openxmlformats.org/drawingml/2006/main">
              <a:ext uri="{FF2B5EF4-FFF2-40B4-BE49-F238E27FC236}">
                <a16:creationId xmlns:a16="http://schemas.microsoft.com/office/drawing/2014/main" id="{41B4B429-0F1B-4851-A2CC-BBED1E4E21EE}"/>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1743A35A-97A0-46C6-984B-B3BAFB6F0052}"/>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B653CD07-C972-4C4B-BF54-2E6073455DE7}"/>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019376F6-0F36-46AF-A1CC-70388B7EC54E}"/>
              </a:ext>
            </a:extLst>
          </p:cNvPr>
          <p:cNvSpPr>
            <a:spLocks xmlns:a="http://schemas.openxmlformats.org/drawingml/2006/main" noGrp="1"/>
          </p:cNvSpPr>
          <p:nvPr/>
        </p:nvSpPr>
        <p:spPr>
          <a:xfrm xmlns:a="http://schemas.openxmlformats.org/drawingml/2006/main">
            <a:off x="552450" y="1495425"/>
            <a:ext cx="6286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1D2E3B"/>
                </a:solidFill>
                <a:latin typeface="Arial"/>
                <a:ea typeface="Arial"/>
                <a:cs typeface="Arial"/>
              </a:defRPr>
            </a:defPPr>
          </a:lstStyle>
          <a:p xmlns:a="http://schemas.openxmlformats.org/drawingml/2006/main">
            <a:pPr algn="l">
              <a:defRPr sz="1800" b="0">
                <a:solidFill>
                  <a:srgbClr val="1D2E3B"/>
                </a:solidFill>
                <a:latin typeface="Arial"/>
                <a:ea typeface="Arial"/>
                <a:cs typeface="Arial"/>
              </a:defRPr>
            </a:pPr>
            <a:r>
              <a:rPr sz="1800" b="0">
                <a:solidFill>
                  <a:srgbClr val="1D2E3B"/>
                </a:solidFill>
                <a:latin typeface="Arial"/>
                <a:ea typeface="Arial"/>
                <a:cs typeface="Arial"/>
              </a:rPr>
              <a:t>We test a small learned acceleration residual, then compare it with CTG-PID and simplified MPC.</a:t>
            </a:r>
          </a:p>
        </p:txBody>
      </p:sp>
      <p:sp>
        <p:nvSpPr>
          <p:cNvPr id="8" name="">
            <a:extLst xmlns:a="http://schemas.openxmlformats.org/drawingml/2006/main">
              <a:ext uri="{FF2B5EF4-FFF2-40B4-BE49-F238E27FC236}">
                <a16:creationId xmlns:a16="http://schemas.microsoft.com/office/drawing/2014/main" id="{A8C1BDDA-1ADB-446E-853C-8EAE1DB12451}"/>
              </a:ext>
            </a:extLst>
          </p:cNvPr>
          <p:cNvSpPr>
            <a:spLocks xmlns:a="http://schemas.openxmlformats.org/drawingml/2006/main" noGrp="1"/>
          </p:cNvSpPr>
          <p:nvPr/>
        </p:nvSpPr>
        <p:spPr>
          <a:xfrm xmlns:a="http://schemas.openxmlformats.org/drawingml/2006/main">
            <a:off x="552450" y="30003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D98F32"/>
                </a:solidFill>
                <a:latin typeface="Arial"/>
                <a:ea typeface="Arial"/>
                <a:cs typeface="Arial"/>
              </a:defRPr>
            </a:defPPr>
          </a:lstStyle>
          <a:p xmlns:a="http://schemas.openxmlformats.org/drawingml/2006/main">
            <a:pPr algn="l">
              <a:defRPr sz="975" b="1">
                <a:solidFill>
                  <a:srgbClr val="D98F32"/>
                </a:solidFill>
                <a:latin typeface="Arial"/>
                <a:ea typeface="Arial"/>
                <a:cs typeface="Arial"/>
              </a:defRPr>
            </a:pPr>
            <a:r>
              <a:rPr sz="975" b="1">
                <a:solidFill>
                  <a:srgbClr val="D98F32"/>
                </a:solidFill>
                <a:latin typeface="Arial"/>
                <a:ea typeface="Arial"/>
                <a:cs typeface="Arial"/>
              </a:rPr>
              <a:t>RUBRIC NOTE</a:t>
            </a:r>
          </a:p>
        </p:txBody>
      </p:sp>
      <p:sp>
        <p:nvSpPr>
          <p:cNvPr id="9" name="">
            <a:extLst xmlns:a="http://schemas.openxmlformats.org/drawingml/2006/main">
              <a:ext uri="{FF2B5EF4-FFF2-40B4-BE49-F238E27FC236}">
                <a16:creationId xmlns:a16="http://schemas.microsoft.com/office/drawing/2014/main" id="{11CF04D4-0441-4FAF-8D26-E55743E44B29}"/>
              </a:ext>
            </a:extLst>
          </p:cNvPr>
          <p:cNvSpPr>
            <a:spLocks xmlns:a="http://schemas.openxmlformats.org/drawingml/2006/main" noGrp="1"/>
          </p:cNvSpPr>
          <p:nvPr/>
        </p:nvSpPr>
        <p:spPr>
          <a:xfrm xmlns:a="http://schemas.openxmlformats.org/drawingml/2006/main">
            <a:off x="552450" y="3333750"/>
            <a:ext cx="2809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02437"/>
                </a:solidFill>
                <a:latin typeface="Arial"/>
                <a:ea typeface="Arial"/>
                <a:cs typeface="Arial"/>
              </a:defRPr>
            </a:defPPr>
          </a:lstStyle>
          <a:p xmlns:a="http://schemas.openxmlformats.org/drawingml/2006/main">
            <a:pPr algn="l">
              <a:defRPr sz="2550" b="1">
                <a:solidFill>
                  <a:srgbClr val="102437"/>
                </a:solidFill>
                <a:latin typeface="Arial"/>
                <a:ea typeface="Arial"/>
                <a:cs typeface="Arial"/>
              </a:defRPr>
            </a:pPr>
            <a:r>
              <a:rPr sz="2550" b="1">
                <a:solidFill>
                  <a:srgbClr val="102437"/>
                </a:solidFill>
                <a:latin typeface="Arial"/>
                <a:ea typeface="Arial"/>
                <a:cs typeface="Arial"/>
              </a:rPr>
              <a:t>30–35 marks</a:t>
            </a:r>
          </a:p>
        </p:txBody>
      </p:sp>
      <p:sp>
        <p:nvSpPr>
          <p:cNvPr id="10" name="">
            <a:extLst xmlns:a="http://schemas.openxmlformats.org/drawingml/2006/main">
              <a:ext uri="{FF2B5EF4-FFF2-40B4-BE49-F238E27FC236}">
                <a16:creationId xmlns:a16="http://schemas.microsoft.com/office/drawing/2014/main" id="{9BD958C3-DDA2-4DA4-8DD9-15677093BA52}"/>
              </a:ext>
            </a:extLst>
          </p:cNvPr>
          <p:cNvSpPr>
            <a:spLocks xmlns:a="http://schemas.openxmlformats.org/drawingml/2006/main" noGrp="1"/>
          </p:cNvSpPr>
          <p:nvPr/>
        </p:nvSpPr>
        <p:spPr>
          <a:xfrm xmlns:a="http://schemas.openxmlformats.org/drawingml/2006/main">
            <a:off x="552450" y="38481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667A8A"/>
                </a:solidFill>
                <a:latin typeface="Arial"/>
                <a:ea typeface="Arial"/>
                <a:cs typeface="Arial"/>
              </a:defRPr>
            </a:defPPr>
          </a:lstStyle>
          <a:p xmlns:a="http://schemas.openxmlformats.org/drawingml/2006/main">
            <a:pPr algn="l">
              <a:defRPr sz="1350" b="0">
                <a:solidFill>
                  <a:srgbClr val="667A8A"/>
                </a:solidFill>
                <a:latin typeface="Arial"/>
                <a:ea typeface="Arial"/>
                <a:cs typeface="Arial"/>
              </a:defRPr>
            </a:pPr>
            <a:r>
              <a:rPr sz="1350" b="0">
                <a:solidFill>
                  <a:srgbClr val="667A8A"/>
                </a:solidFill>
                <a:latin typeface="Arial"/>
                <a:ea typeface="Arial"/>
                <a:cs typeface="Arial"/>
              </a:rPr>
              <a:t>for the literature review</a:t>
            </a:r>
          </a:p>
        </p:txBody>
      </p:sp>
      <p:sp>
        <p:nvSpPr>
          <p:cNvPr id="11" name="">
            <a:extLst xmlns:a="http://schemas.openxmlformats.org/drawingml/2006/main">
              <a:ext uri="{FF2B5EF4-FFF2-40B4-BE49-F238E27FC236}">
                <a16:creationId xmlns:a16="http://schemas.microsoft.com/office/drawing/2014/main" id="{3E548D5A-12B0-4D4A-816F-729A37D4DB89}"/>
              </a:ext>
            </a:extLst>
          </p:cNvPr>
          <p:cNvSpPr>
            <a:spLocks xmlns:a="http://schemas.openxmlformats.org/drawingml/2006/main" noGrp="1"/>
          </p:cNvSpPr>
          <p:nvPr/>
        </p:nvSpPr>
        <p:spPr>
          <a:xfrm xmlns:a="http://schemas.openxmlformats.org/drawingml/2006/main">
            <a:off x="3886200" y="3333750"/>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02437"/>
                </a:solidFill>
                <a:latin typeface="Arial"/>
                <a:ea typeface="Arial"/>
                <a:cs typeface="Arial"/>
              </a:defRPr>
            </a:defPPr>
          </a:lstStyle>
          <a:p xmlns:a="http://schemas.openxmlformats.org/drawingml/2006/main">
            <a:pPr algn="l">
              <a:defRPr sz="2550" b="1">
                <a:solidFill>
                  <a:srgbClr val="102437"/>
                </a:solidFill>
                <a:latin typeface="Arial"/>
                <a:ea typeface="Arial"/>
                <a:cs typeface="Arial"/>
              </a:defRPr>
            </a:pPr>
            <a:r>
              <a:rPr sz="2550" b="1">
                <a:solidFill>
                  <a:srgbClr val="102437"/>
                </a:solidFill>
                <a:latin typeface="Arial"/>
                <a:ea typeface="Arial"/>
                <a:cs typeface="Arial"/>
              </a:rPr>
              <a:t>10 marks</a:t>
            </a:r>
          </a:p>
        </p:txBody>
      </p:sp>
      <p:sp>
        <p:nvSpPr>
          <p:cNvPr id="12" name="">
            <a:extLst xmlns:a="http://schemas.openxmlformats.org/drawingml/2006/main">
              <a:ext uri="{FF2B5EF4-FFF2-40B4-BE49-F238E27FC236}">
                <a16:creationId xmlns:a16="http://schemas.microsoft.com/office/drawing/2014/main" id="{5955F8CD-5C56-4959-8A2E-D08D0CF7CCE5}"/>
              </a:ext>
            </a:extLst>
          </p:cNvPr>
          <p:cNvSpPr>
            <a:spLocks xmlns:a="http://schemas.openxmlformats.org/drawingml/2006/main" noGrp="1"/>
          </p:cNvSpPr>
          <p:nvPr/>
        </p:nvSpPr>
        <p:spPr>
          <a:xfrm xmlns:a="http://schemas.openxmlformats.org/drawingml/2006/main">
            <a:off x="3886200" y="3848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667A8A"/>
                </a:solidFill>
                <a:latin typeface="Arial"/>
                <a:ea typeface="Arial"/>
                <a:cs typeface="Arial"/>
              </a:defRPr>
            </a:defPPr>
          </a:lstStyle>
          <a:p xmlns:a="http://schemas.openxmlformats.org/drawingml/2006/main">
            <a:pPr algn="l">
              <a:defRPr sz="1350" b="0">
                <a:solidFill>
                  <a:srgbClr val="667A8A"/>
                </a:solidFill>
                <a:latin typeface="Arial"/>
                <a:ea typeface="Arial"/>
                <a:cs typeface="Arial"/>
              </a:defRPr>
            </a:pPr>
            <a:r>
              <a:rPr sz="1350" b="0">
                <a:solidFill>
                  <a:srgbClr val="667A8A"/>
                </a:solidFill>
                <a:latin typeface="Arial"/>
                <a:ea typeface="Arial"/>
                <a:cs typeface="Arial"/>
              </a:rPr>
              <a:t>for own work / findings</a:t>
            </a:r>
          </a:p>
        </p:txBody>
      </p:sp>
      <p:sp>
        <p:nvSpPr>
          <p:cNvPr id="13" name="">
            <a:extLst xmlns:a="http://schemas.openxmlformats.org/drawingml/2006/main">
              <a:ext uri="{FF2B5EF4-FFF2-40B4-BE49-F238E27FC236}">
                <a16:creationId xmlns:a16="http://schemas.microsoft.com/office/drawing/2014/main" id="{54000627-2AEB-4EAC-83BB-BF3C8E4012F8}"/>
              </a:ext>
            </a:extLst>
          </p:cNvPr>
          <p:cNvSpPr>
            <a:spLocks xmlns:a="http://schemas.openxmlformats.org/drawingml/2006/main" noGrp="1"/>
          </p:cNvSpPr>
          <p:nvPr/>
        </p:nvSpPr>
        <p:spPr>
          <a:xfrm xmlns:a="http://schemas.openxmlformats.org/drawingml/2006/main">
            <a:off x="552450" y="43910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437"/>
                </a:solidFill>
                <a:latin typeface="Arial"/>
                <a:ea typeface="Arial"/>
                <a:cs typeface="Arial"/>
              </a:defRPr>
            </a:defPPr>
          </a:lstStyle>
          <a:p xmlns:a="http://schemas.openxmlformats.org/drawingml/2006/main">
            <a:pPr algn="l">
              <a:defRPr sz="2250" b="1">
                <a:solidFill>
                  <a:srgbClr val="102437"/>
                </a:solidFill>
                <a:latin typeface="Arial"/>
                <a:ea typeface="Arial"/>
                <a:cs typeface="Arial"/>
              </a:defRPr>
            </a:pPr>
            <a:r>
              <a:rPr sz="2250" b="1">
                <a:solidFill>
                  <a:srgbClr val="102437"/>
                </a:solidFill>
                <a:latin typeface="Arial"/>
                <a:ea typeface="Arial"/>
                <a:cs typeface="Arial"/>
              </a:rPr>
              <a:t>30–35 marks</a:t>
            </a:r>
          </a:p>
        </p:txBody>
      </p:sp>
      <p:sp>
        <p:nvSpPr>
          <p:cNvPr id="14" name="">
            <a:extLst xmlns:a="http://schemas.openxmlformats.org/drawingml/2006/main">
              <a:ext uri="{FF2B5EF4-FFF2-40B4-BE49-F238E27FC236}">
                <a16:creationId xmlns:a16="http://schemas.microsoft.com/office/drawing/2014/main" id="{236EE5DD-C159-414B-819B-4F6B71BCD6FC}"/>
              </a:ext>
            </a:extLst>
          </p:cNvPr>
          <p:cNvSpPr>
            <a:spLocks xmlns:a="http://schemas.openxmlformats.org/drawingml/2006/main" noGrp="1"/>
          </p:cNvSpPr>
          <p:nvPr/>
        </p:nvSpPr>
        <p:spPr>
          <a:xfrm xmlns:a="http://schemas.openxmlformats.org/drawingml/2006/main">
            <a:off x="552450" y="48672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667A8A"/>
                </a:solidFill>
                <a:latin typeface="Arial"/>
                <a:ea typeface="Arial"/>
                <a:cs typeface="Arial"/>
              </a:defRPr>
            </a:defPPr>
          </a:lstStyle>
          <a:p xmlns:a="http://schemas.openxmlformats.org/drawingml/2006/main">
            <a:pPr algn="l">
              <a:defRPr sz="1350" b="0">
                <a:solidFill>
                  <a:srgbClr val="667A8A"/>
                </a:solidFill>
                <a:latin typeface="Arial"/>
                <a:ea typeface="Arial"/>
                <a:cs typeface="Arial"/>
              </a:defRPr>
            </a:pPr>
            <a:r>
              <a:rPr sz="1350" b="0">
                <a:solidFill>
                  <a:srgbClr val="667A8A"/>
                </a:solidFill>
                <a:latin typeface="Arial"/>
                <a:ea typeface="Arial"/>
                <a:cs typeface="Arial"/>
              </a:rPr>
              <a:t>for actual research</a:t>
            </a:r>
          </a:p>
        </p:txBody>
      </p:sp>
      <p:sp>
        <p:nvSpPr>
          <p:cNvPr id="15" name="">
            <a:extLst xmlns:a="http://schemas.openxmlformats.org/drawingml/2006/main">
              <a:ext uri="{FF2B5EF4-FFF2-40B4-BE49-F238E27FC236}">
                <a16:creationId xmlns:a16="http://schemas.microsoft.com/office/drawing/2014/main" id="{F92C2E0B-9D6C-4013-BA43-064A6119975E}"/>
              </a:ext>
            </a:extLst>
          </p:cNvPr>
          <p:cNvSpPr>
            <a:spLocks xmlns:a="http://schemas.openxmlformats.org/drawingml/2006/main" noGrp="1"/>
          </p:cNvSpPr>
          <p:nvPr/>
        </p:nvSpPr>
        <p:spPr>
          <a:xfrm xmlns:a="http://schemas.openxmlformats.org/drawingml/2006/main">
            <a:off x="7239000" y="1504950"/>
            <a:ext cx="0" cy="4171950"/>
          </a:xfrm>
          <a:prstGeom xmlns:a="http://schemas.openxmlformats.org/drawingml/2006/main" prst="line">
            <a:avLst/>
          </a:prstGeom>
          <a:noFill xmlns:a="http://schemas.openxmlformats.org/drawingml/2006/main"/>
          <a:ln xmlns:a="http://schemas.openxmlformats.org/drawingml/2006/main" w="14288">
            <a:solidFill>
              <a:srgbClr val="D8E1E7"/>
            </a:solidFill>
            <a:prstDash val="solid"/>
          </a:ln>
        </p:spPr>
      </p:sp>
      <p:sp>
        <p:nvSpPr>
          <p:cNvPr id="16" name="">
            <a:extLst xmlns:a="http://schemas.openxmlformats.org/drawingml/2006/main">
              <a:ext uri="{FF2B5EF4-FFF2-40B4-BE49-F238E27FC236}">
                <a16:creationId xmlns:a16="http://schemas.microsoft.com/office/drawing/2014/main" id="{60CBC6CC-4903-4C92-857D-52516D9BB4FC}"/>
              </a:ext>
            </a:extLst>
          </p:cNvPr>
          <p:cNvSpPr>
            <a:spLocks xmlns:a="http://schemas.openxmlformats.org/drawingml/2006/main" noGrp="1"/>
          </p:cNvSpPr>
          <p:nvPr/>
        </p:nvSpPr>
        <p:spPr>
          <a:xfrm xmlns:a="http://schemas.openxmlformats.org/drawingml/2006/main">
            <a:off x="7848600" y="1733550"/>
            <a:ext cx="133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950" b="1">
                <a:solidFill>
                  <a:srgbClr val="0E9F94"/>
                </a:solidFill>
                <a:latin typeface="Arial"/>
                <a:ea typeface="Arial"/>
                <a:cs typeface="Arial"/>
              </a:defRPr>
            </a:defPPr>
          </a:lstStyle>
          <a:p xmlns:a="http://schemas.openxmlformats.org/drawingml/2006/main">
            <a:pPr algn="l">
              <a:defRPr sz="4950" b="1">
                <a:solidFill>
                  <a:srgbClr val="0E9F94"/>
                </a:solidFill>
                <a:latin typeface="Arial"/>
                <a:ea typeface="Arial"/>
                <a:cs typeface="Arial"/>
              </a:defRPr>
            </a:pPr>
            <a:r>
              <a:rPr sz="4950" b="1">
                <a:solidFill>
                  <a:srgbClr val="0E9F94"/>
                </a:solidFill>
                <a:latin typeface="Arial"/>
                <a:ea typeface="Arial"/>
                <a:cs typeface="Arial"/>
              </a:rPr>
              <a:t>13</a:t>
            </a:r>
          </a:p>
        </p:txBody>
      </p:sp>
      <p:sp>
        <p:nvSpPr>
          <p:cNvPr id="17" name="">
            <a:extLst xmlns:a="http://schemas.openxmlformats.org/drawingml/2006/main">
              <a:ext uri="{FF2B5EF4-FFF2-40B4-BE49-F238E27FC236}">
                <a16:creationId xmlns:a16="http://schemas.microsoft.com/office/drawing/2014/main" id="{446A873B-55D6-4288-9658-CD0573F2F6FB}"/>
              </a:ext>
            </a:extLst>
          </p:cNvPr>
          <p:cNvSpPr>
            <a:spLocks xmlns:a="http://schemas.openxmlformats.org/drawingml/2006/main" noGrp="1"/>
          </p:cNvSpPr>
          <p:nvPr/>
        </p:nvSpPr>
        <p:spPr>
          <a:xfrm xmlns:a="http://schemas.openxmlformats.org/drawingml/2006/main">
            <a:off x="7848600" y="2543175"/>
            <a:ext cx="3219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02437"/>
                </a:solidFill>
                <a:latin typeface="Arial"/>
                <a:ea typeface="Arial"/>
                <a:cs typeface="Arial"/>
              </a:defRPr>
            </a:defPPr>
          </a:lstStyle>
          <a:p xmlns:a="http://schemas.openxmlformats.org/drawingml/2006/main">
            <a:pPr algn="l">
              <a:defRPr sz="1650" b="1">
                <a:solidFill>
                  <a:srgbClr val="102437"/>
                </a:solidFill>
                <a:latin typeface="Arial"/>
                <a:ea typeface="Arial"/>
                <a:cs typeface="Arial"/>
              </a:defRPr>
            </a:pPr>
            <a:r>
              <a:rPr sz="1650" b="1">
                <a:solidFill>
                  <a:srgbClr val="102437"/>
                </a:solidFill>
                <a:latin typeface="Arial"/>
                <a:ea typeface="Arial"/>
                <a:cs typeface="Arial"/>
              </a:rPr>
              <a:t>The supplied guide suggests about 13 papers.</a:t>
            </a:r>
          </a:p>
        </p:txBody>
      </p:sp>
      <p:sp>
        <p:nvSpPr>
          <p:cNvPr id="18" name="">
            <a:extLst xmlns:a="http://schemas.openxmlformats.org/drawingml/2006/main">
              <a:ext uri="{FF2B5EF4-FFF2-40B4-BE49-F238E27FC236}">
                <a16:creationId xmlns:a16="http://schemas.microsoft.com/office/drawing/2014/main" id="{08148B30-B1FB-41DC-99DE-6933BC700B22}"/>
              </a:ext>
            </a:extLst>
          </p:cNvPr>
          <p:cNvSpPr>
            <a:spLocks xmlns:a="http://schemas.openxmlformats.org/drawingml/2006/main" noGrp="1"/>
          </p:cNvSpPr>
          <p:nvPr/>
        </p:nvSpPr>
        <p:spPr>
          <a:xfrm xmlns:a="http://schemas.openxmlformats.org/drawingml/2006/main">
            <a:off x="7848600" y="3505200"/>
            <a:ext cx="3219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1D2E3B"/>
                </a:solidFill>
                <a:latin typeface="Arial"/>
                <a:ea typeface="Arial"/>
                <a:cs typeface="Arial"/>
              </a:defRPr>
            </a:defPPr>
          </a:lstStyle>
          <a:p xmlns:a="http://schemas.openxmlformats.org/drawingml/2006/main">
            <a:pPr algn="l">
              <a:defRPr sz="1425" b="0">
                <a:solidFill>
                  <a:srgbClr val="1D2E3B"/>
                </a:solidFill>
                <a:latin typeface="Arial"/>
                <a:ea typeface="Arial"/>
                <a:cs typeface="Arial"/>
              </a:defRPr>
            </a:pPr>
            <a:r>
              <a:rPr sz="1425" b="0">
                <a:solidFill>
                  <a:srgbClr val="1D2E3B"/>
                </a:solidFill>
                <a:latin typeface="Arial"/>
                <a:ea typeface="Arial"/>
                <a:cs typeface="Arial"/>
              </a:rPr>
              <a:t>The 30–35 figures are mark bands, not required paper counts.</a:t>
            </a:r>
          </a:p>
        </p:txBody>
      </p:sp>
      <p:sp>
        <p:nvSpPr>
          <p:cNvPr id="19" name="">
            <a:extLst xmlns:a="http://schemas.openxmlformats.org/drawingml/2006/main">
              <a:ext uri="{FF2B5EF4-FFF2-40B4-BE49-F238E27FC236}">
                <a16:creationId xmlns:a16="http://schemas.microsoft.com/office/drawing/2014/main" id="{C4FB4E0B-31BA-4434-8EEE-7E74C1D1DEF7}"/>
              </a:ext>
            </a:extLst>
          </p:cNvPr>
          <p:cNvSpPr>
            <a:spLocks xmlns:a="http://schemas.openxmlformats.org/drawingml/2006/main" noGrp="1"/>
          </p:cNvSpPr>
          <p:nvPr/>
        </p:nvSpPr>
        <p:spPr>
          <a:xfrm xmlns:a="http://schemas.openxmlformats.org/drawingml/2006/main">
            <a:off x="7848600" y="4686300"/>
            <a:ext cx="32194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87C75"/>
                </a:solidFill>
                <a:latin typeface="Arial"/>
                <a:ea typeface="Arial"/>
                <a:cs typeface="Arial"/>
              </a:defRPr>
            </a:defPPr>
          </a:lstStyle>
          <a:p xmlns:a="http://schemas.openxmlformats.org/drawingml/2006/main">
            <a:pPr algn="l">
              <a:defRPr sz="1350" b="1">
                <a:solidFill>
                  <a:srgbClr val="087C75"/>
                </a:solidFill>
                <a:latin typeface="Arial"/>
                <a:ea typeface="Arial"/>
                <a:cs typeface="Arial"/>
              </a:defRPr>
            </a:pPr>
            <a:r>
              <a:rPr sz="1350" b="1">
                <a:solidFill>
                  <a:srgbClr val="087C75"/>
                </a:solidFill>
                <a:latin typeface="Arial"/>
                <a:ea typeface="Arial"/>
                <a:cs typeface="Arial"/>
              </a:rPr>
              <a:t>Project contribution: transparent residual Q + matched evaluation + honest limits.</a:t>
            </a:r>
          </a:p>
        </p:txBody>
      </p:sp>
    </p:spTree>
    <p:extLst>
      <p:ext uri="{BB962C8B-B14F-4D97-AF65-F5344CB8AC3E}">
        <p14:creationId xmlns:p14="http://schemas.microsoft.com/office/powerpoint/2010/main" val="1944365518"/>
      </p:ext>
    </p:extLst>
  </p:cSld>
</p:sld>
</file>

<file path=ppt/slides/slide5.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EB4C903-3056-420D-A678-15173948BE0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3D3786-BA69-4705-BA7C-88491C70705B}"/>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04 · ARCHITECTURE</a:t>
            </a:r>
          </a:p>
        </p:txBody>
      </p:sp>
      <p:sp>
        <p:nvSpPr>
          <p:cNvPr id="3" name="slide-5-title">
            <a:extLst xmlns:a="http://schemas.openxmlformats.org/drawingml/2006/main">
              <a:ext uri="{FF2B5EF4-FFF2-40B4-BE49-F238E27FC236}">
                <a16:creationId xmlns:a16="http://schemas.microsoft.com/office/drawing/2014/main" id="{582052E0-C40A-481B-9FB3-7C3031DCBF57}"/>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02437"/>
                </a:solidFill>
                <a:latin typeface="Arial"/>
                <a:ea typeface="Arial"/>
                <a:cs typeface="Arial"/>
              </a:defRPr>
            </a:defPPr>
          </a:lstStyle>
          <a:p xmlns:a="http://schemas.openxmlformats.org/drawingml/2006/main">
            <a:pPr algn="l">
              <a:defRPr sz="2325" b="1">
                <a:solidFill>
                  <a:srgbClr val="102437"/>
                </a:solidFill>
                <a:latin typeface="Arial"/>
                <a:ea typeface="Arial"/>
                <a:cs typeface="Arial"/>
              </a:defRPr>
            </a:pPr>
            <a:r>
              <a:rPr sz="2325" b="1">
                <a:solidFill>
                  <a:srgbClr val="102437"/>
                </a:solidFill>
                <a:latin typeface="Arial"/>
                <a:ea typeface="Arial"/>
                <a:cs typeface="Arial"/>
              </a:rPr>
              <a:t>The learned action is a small residual inside an automotive control loop.</a:t>
            </a:r>
          </a:p>
        </p:txBody>
      </p:sp>
      <p:sp>
        <p:nvSpPr>
          <p:cNvPr id="4" name="">
            <a:extLst xmlns:a="http://schemas.openxmlformats.org/drawingml/2006/main">
              <a:ext uri="{FF2B5EF4-FFF2-40B4-BE49-F238E27FC236}">
                <a16:creationId xmlns:a16="http://schemas.microsoft.com/office/drawing/2014/main" id="{0E044BDC-E619-4D78-B887-07DA0C7828BC}"/>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ED9F6F29-D723-4F2C-BB07-A5CDFEC6213B}"/>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89A1B00D-4C44-464E-AE6E-7ABC28EA069A}"/>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05</a:t>
            </a:r>
          </a:p>
        </p:txBody>
      </p:sp>
      <p:sp>
        <p:nvSpPr>
          <p:cNvPr id="7" name="architecture-block-1">
            <a:extLst xmlns:a="http://schemas.openxmlformats.org/drawingml/2006/main">
              <a:ext uri="{FF2B5EF4-FFF2-40B4-BE49-F238E27FC236}">
                <a16:creationId xmlns:a16="http://schemas.microsoft.com/office/drawing/2014/main" id="{2DA674EC-9AE3-4819-99C5-FDD7699998CB}"/>
              </a:ext>
            </a:extLst>
          </p:cNvPr>
          <p:cNvSpPr>
            <a:spLocks xmlns:a="http://schemas.openxmlformats.org/drawingml/2006/main" noGrp="1"/>
          </p:cNvSpPr>
          <p:nvPr/>
        </p:nvSpPr>
        <p:spPr>
          <a:xfrm xmlns:a="http://schemas.openxmlformats.org/drawingml/2006/main">
            <a:off x="552450" y="2362200"/>
            <a:ext cx="1666875" cy="1266825"/>
          </a:xfrm>
          <a:prstGeom xmlns:a="http://schemas.openxmlformats.org/drawingml/2006/main" prst="roundRect">
            <a:avLst>
              <a:gd name="adj" fmla="val 9023"/>
            </a:avLst>
          </a:prstGeom>
          <a:solidFill xmlns:a="http://schemas.openxmlformats.org/drawingml/2006/main">
            <a:srgbClr val="FFFFFF"/>
          </a:solidFill>
          <a:ln xmlns:a="http://schemas.openxmlformats.org/drawingml/2006/main" w="9525">
            <a:solidFill>
              <a:srgbClr val="D8E1E7"/>
            </a:solidFill>
            <a:prstDash val="solid"/>
          </a:ln>
        </p:spPr>
      </p:sp>
      <p:sp>
        <p:nvSpPr>
          <p:cNvPr id="8" name="">
            <a:extLst xmlns:a="http://schemas.openxmlformats.org/drawingml/2006/main">
              <a:ext uri="{FF2B5EF4-FFF2-40B4-BE49-F238E27FC236}">
                <a16:creationId xmlns:a16="http://schemas.microsoft.com/office/drawing/2014/main" id="{23251AD1-D7A3-4A34-8D75-D63C549F7AEF}"/>
              </a:ext>
            </a:extLst>
          </p:cNvPr>
          <p:cNvSpPr>
            <a:spLocks xmlns:a="http://schemas.openxmlformats.org/drawingml/2006/main" noGrp="1"/>
          </p:cNvSpPr>
          <p:nvPr/>
        </p:nvSpPr>
        <p:spPr>
          <a:xfrm xmlns:a="http://schemas.openxmlformats.org/drawingml/2006/main">
            <a:off x="676275" y="2581275"/>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102437"/>
                </a:solidFill>
                <a:latin typeface="Arial"/>
                <a:ea typeface="Arial"/>
                <a:cs typeface="Arial"/>
              </a:defRPr>
            </a:defPPr>
          </a:lstStyle>
          <a:p xmlns:a="http://schemas.openxmlformats.org/drawingml/2006/main">
            <a:pPr algn="ctr">
              <a:defRPr sz="1500" b="1">
                <a:solidFill>
                  <a:srgbClr val="102437"/>
                </a:solidFill>
                <a:latin typeface="Arial"/>
                <a:ea typeface="Arial"/>
                <a:cs typeface="Arial"/>
              </a:defRPr>
            </a:pPr>
            <a:r>
              <a:rPr sz="1500" b="1">
                <a:solidFill>
                  <a:srgbClr val="102437"/>
                </a:solidFill>
                <a:latin typeface="Arial"/>
                <a:ea typeface="Arial"/>
                <a:cs typeface="Arial"/>
              </a:rPr>
              <a:t>Lead profile</a:t>
            </a:r>
          </a:p>
        </p:txBody>
      </p:sp>
      <p:sp>
        <p:nvSpPr>
          <p:cNvPr id="9" name="">
            <a:extLst xmlns:a="http://schemas.openxmlformats.org/drawingml/2006/main">
              <a:ext uri="{FF2B5EF4-FFF2-40B4-BE49-F238E27FC236}">
                <a16:creationId xmlns:a16="http://schemas.microsoft.com/office/drawing/2014/main" id="{E83D07A9-3E4E-45D8-8D26-6156ADB7F992}"/>
              </a:ext>
            </a:extLst>
          </p:cNvPr>
          <p:cNvSpPr>
            <a:spLocks xmlns:a="http://schemas.openxmlformats.org/drawingml/2006/main" noGrp="1"/>
          </p:cNvSpPr>
          <p:nvPr/>
        </p:nvSpPr>
        <p:spPr>
          <a:xfrm xmlns:a="http://schemas.openxmlformats.org/drawingml/2006/main">
            <a:off x="666750" y="3000375"/>
            <a:ext cx="14382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63" b="0">
                <a:solidFill>
                  <a:srgbClr val="667A8A"/>
                </a:solidFill>
                <a:latin typeface="Arial"/>
                <a:ea typeface="Arial"/>
                <a:cs typeface="Arial"/>
              </a:defRPr>
            </a:defPPr>
          </a:lstStyle>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speed + braking</a:t>
            </a:r>
          </a:p>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AC26D626-7812-4B59-9763-925E13D67ACF}"/>
              </a:ext>
            </a:extLst>
          </p:cNvPr>
          <p:cNvSpPr>
            <a:spLocks xmlns:a="http://schemas.openxmlformats.org/drawingml/2006/main" noGrp="1"/>
          </p:cNvSpPr>
          <p:nvPr/>
        </p:nvSpPr>
        <p:spPr>
          <a:xfrm xmlns:a="http://schemas.openxmlformats.org/drawingml/2006/main">
            <a:off x="2276475" y="2809875"/>
            <a:ext cx="285750" cy="228600"/>
          </a:xfrm>
          <a:prstGeom xmlns:a="http://schemas.openxmlformats.org/drawingml/2006/main" prst="rightArrow">
            <a:avLst/>
          </a:prstGeom>
          <a:solidFill xmlns:a="http://schemas.openxmlformats.org/drawingml/2006/main">
            <a:srgbClr val="93A3AE"/>
          </a:solidFill>
          <a:ln xmlns:a="http://schemas.openxmlformats.org/drawingml/2006/main" w="0">
            <a:noFill/>
            <a:prstDash val="solid"/>
          </a:ln>
        </p:spPr>
      </p:sp>
      <p:sp>
        <p:nvSpPr>
          <p:cNvPr id="11" name="architecture-block-2">
            <a:extLst xmlns:a="http://schemas.openxmlformats.org/drawingml/2006/main">
              <a:ext uri="{FF2B5EF4-FFF2-40B4-BE49-F238E27FC236}">
                <a16:creationId xmlns:a16="http://schemas.microsoft.com/office/drawing/2014/main" id="{FBEED1C2-E279-4AD0-914B-E9A97B72B9D8}"/>
              </a:ext>
            </a:extLst>
          </p:cNvPr>
          <p:cNvSpPr>
            <a:spLocks xmlns:a="http://schemas.openxmlformats.org/drawingml/2006/main" noGrp="1"/>
          </p:cNvSpPr>
          <p:nvPr/>
        </p:nvSpPr>
        <p:spPr>
          <a:xfrm xmlns:a="http://schemas.openxmlformats.org/drawingml/2006/main">
            <a:off x="2628900" y="2362200"/>
            <a:ext cx="1809750" cy="1266825"/>
          </a:xfrm>
          <a:prstGeom xmlns:a="http://schemas.openxmlformats.org/drawingml/2006/main" prst="roundRect">
            <a:avLst>
              <a:gd name="adj" fmla="val 9023"/>
            </a:avLst>
          </a:prstGeom>
          <a:solidFill xmlns:a="http://schemas.openxmlformats.org/drawingml/2006/main">
            <a:srgbClr val="FFFFFF"/>
          </a:solidFill>
          <a:ln xmlns:a="http://schemas.openxmlformats.org/drawingml/2006/main" w="9525">
            <a:solidFill>
              <a:srgbClr val="D8E1E7"/>
            </a:solidFill>
            <a:prstDash val="solid"/>
          </a:ln>
        </p:spPr>
      </p:sp>
      <p:sp>
        <p:nvSpPr>
          <p:cNvPr id="12" name="">
            <a:extLst xmlns:a="http://schemas.openxmlformats.org/drawingml/2006/main">
              <a:ext uri="{FF2B5EF4-FFF2-40B4-BE49-F238E27FC236}">
                <a16:creationId xmlns:a16="http://schemas.microsoft.com/office/drawing/2014/main" id="{8C7D5D0F-E752-4500-96C9-F0E3CED79AB5}"/>
              </a:ext>
            </a:extLst>
          </p:cNvPr>
          <p:cNvSpPr>
            <a:spLocks xmlns:a="http://schemas.openxmlformats.org/drawingml/2006/main" noGrp="1"/>
          </p:cNvSpPr>
          <p:nvPr/>
        </p:nvSpPr>
        <p:spPr>
          <a:xfrm xmlns:a="http://schemas.openxmlformats.org/drawingml/2006/main">
            <a:off x="2752725" y="258127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102437"/>
                </a:solidFill>
                <a:latin typeface="Arial"/>
                <a:ea typeface="Arial"/>
                <a:cs typeface="Arial"/>
              </a:defRPr>
            </a:defPPr>
          </a:lstStyle>
          <a:p xmlns:a="http://schemas.openxmlformats.org/drawingml/2006/main">
            <a:pPr algn="ctr">
              <a:defRPr sz="1500" b="1">
                <a:solidFill>
                  <a:srgbClr val="102437"/>
                </a:solidFill>
                <a:latin typeface="Arial"/>
                <a:ea typeface="Arial"/>
                <a:cs typeface="Arial"/>
              </a:defRPr>
            </a:pPr>
            <a:r>
              <a:rPr sz="1500" b="1">
                <a:solidFill>
                  <a:srgbClr val="102437"/>
                </a:solidFill>
                <a:latin typeface="Arial"/>
                <a:ea typeface="Arial"/>
                <a:cs typeface="Arial"/>
              </a:rPr>
              <a:t>Observation</a:t>
            </a:r>
          </a:p>
        </p:txBody>
      </p:sp>
      <p:sp>
        <p:nvSpPr>
          <p:cNvPr id="13" name="">
            <a:extLst xmlns:a="http://schemas.openxmlformats.org/drawingml/2006/main">
              <a:ext uri="{FF2B5EF4-FFF2-40B4-BE49-F238E27FC236}">
                <a16:creationId xmlns:a16="http://schemas.microsoft.com/office/drawing/2014/main" id="{07DDF687-60F6-484E-9D96-55FDD1A8CC66}"/>
              </a:ext>
            </a:extLst>
          </p:cNvPr>
          <p:cNvSpPr>
            <a:spLocks xmlns:a="http://schemas.openxmlformats.org/drawingml/2006/main" noGrp="1"/>
          </p:cNvSpPr>
          <p:nvPr/>
        </p:nvSpPr>
        <p:spPr>
          <a:xfrm xmlns:a="http://schemas.openxmlformats.org/drawingml/2006/main">
            <a:off x="2743200" y="3000375"/>
            <a:ext cx="15811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63" b="0">
                <a:solidFill>
                  <a:srgbClr val="667A8A"/>
                </a:solidFill>
                <a:latin typeface="Arial"/>
                <a:ea typeface="Arial"/>
                <a:cs typeface="Arial"/>
              </a:defRPr>
            </a:defPPr>
          </a:lstStyle>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gap error · closing speed</a:t>
            </a:r>
          </a:p>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ego speed · acceleration</a:t>
            </a:r>
          </a:p>
        </p:txBody>
      </p:sp>
      <p:sp>
        <p:nvSpPr>
          <p:cNvPr id="14" name="">
            <a:extLst xmlns:a="http://schemas.openxmlformats.org/drawingml/2006/main">
              <a:ext uri="{FF2B5EF4-FFF2-40B4-BE49-F238E27FC236}">
                <a16:creationId xmlns:a16="http://schemas.microsoft.com/office/drawing/2014/main" id="{53869B98-F862-47EB-A52B-EF5A8E708725}"/>
              </a:ext>
            </a:extLst>
          </p:cNvPr>
          <p:cNvSpPr>
            <a:spLocks xmlns:a="http://schemas.openxmlformats.org/drawingml/2006/main" noGrp="1"/>
          </p:cNvSpPr>
          <p:nvPr/>
        </p:nvSpPr>
        <p:spPr>
          <a:xfrm xmlns:a="http://schemas.openxmlformats.org/drawingml/2006/main">
            <a:off x="4495800" y="2809875"/>
            <a:ext cx="285750" cy="228600"/>
          </a:xfrm>
          <a:prstGeom xmlns:a="http://schemas.openxmlformats.org/drawingml/2006/main" prst="rightArrow">
            <a:avLst/>
          </a:prstGeom>
          <a:solidFill xmlns:a="http://schemas.openxmlformats.org/drawingml/2006/main">
            <a:srgbClr val="93A3AE"/>
          </a:solidFill>
          <a:ln xmlns:a="http://schemas.openxmlformats.org/drawingml/2006/main" w="0">
            <a:noFill/>
            <a:prstDash val="solid"/>
          </a:ln>
        </p:spPr>
      </p:sp>
      <p:sp>
        <p:nvSpPr>
          <p:cNvPr id="15" name="architecture-block-3">
            <a:extLst xmlns:a="http://schemas.openxmlformats.org/drawingml/2006/main">
              <a:ext uri="{FF2B5EF4-FFF2-40B4-BE49-F238E27FC236}">
                <a16:creationId xmlns:a16="http://schemas.microsoft.com/office/drawing/2014/main" id="{30F9ABA6-10E5-4A68-93A6-FFA5B38EFD1C}"/>
              </a:ext>
            </a:extLst>
          </p:cNvPr>
          <p:cNvSpPr>
            <a:spLocks xmlns:a="http://schemas.openxmlformats.org/drawingml/2006/main" noGrp="1"/>
          </p:cNvSpPr>
          <p:nvPr/>
        </p:nvSpPr>
        <p:spPr>
          <a:xfrm xmlns:a="http://schemas.openxmlformats.org/drawingml/2006/main">
            <a:off x="4857750" y="2362200"/>
            <a:ext cx="1762125" cy="1266825"/>
          </a:xfrm>
          <a:prstGeom xmlns:a="http://schemas.openxmlformats.org/drawingml/2006/main" prst="roundRect">
            <a:avLst>
              <a:gd name="adj" fmla="val 9023"/>
            </a:avLst>
          </a:prstGeom>
          <a:solidFill xmlns:a="http://schemas.openxmlformats.org/drawingml/2006/main">
            <a:srgbClr val="FFFFFF"/>
          </a:solidFill>
          <a:ln xmlns:a="http://schemas.openxmlformats.org/drawingml/2006/main" w="9525">
            <a:solidFill>
              <a:srgbClr val="D8E1E7"/>
            </a:solidFill>
            <a:prstDash val="solid"/>
          </a:ln>
        </p:spPr>
      </p:sp>
      <p:sp>
        <p:nvSpPr>
          <p:cNvPr id="16" name="">
            <a:extLst xmlns:a="http://schemas.openxmlformats.org/drawingml/2006/main">
              <a:ext uri="{FF2B5EF4-FFF2-40B4-BE49-F238E27FC236}">
                <a16:creationId xmlns:a16="http://schemas.microsoft.com/office/drawing/2014/main" id="{8D28B788-33D6-4A09-B1F4-CAEB4E0D01C4}"/>
              </a:ext>
            </a:extLst>
          </p:cNvPr>
          <p:cNvSpPr>
            <a:spLocks xmlns:a="http://schemas.openxmlformats.org/drawingml/2006/main" noGrp="1"/>
          </p:cNvSpPr>
          <p:nvPr/>
        </p:nvSpPr>
        <p:spPr>
          <a:xfrm xmlns:a="http://schemas.openxmlformats.org/drawingml/2006/main">
            <a:off x="4981575" y="2581275"/>
            <a:ext cx="15144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102437"/>
                </a:solidFill>
                <a:latin typeface="Arial"/>
                <a:ea typeface="Arial"/>
                <a:cs typeface="Arial"/>
              </a:defRPr>
            </a:defPPr>
          </a:lstStyle>
          <a:p xmlns:a="http://schemas.openxmlformats.org/drawingml/2006/main">
            <a:pPr algn="ctr">
              <a:defRPr sz="1500" b="1">
                <a:solidFill>
                  <a:srgbClr val="102437"/>
                </a:solidFill>
                <a:latin typeface="Arial"/>
                <a:ea typeface="Arial"/>
                <a:cs typeface="Arial"/>
              </a:defRPr>
            </a:pPr>
            <a:r>
              <a:rPr sz="1500" b="1">
                <a:solidFill>
                  <a:srgbClr val="102437"/>
                </a:solidFill>
                <a:latin typeface="Arial"/>
                <a:ea typeface="Arial"/>
                <a:cs typeface="Arial"/>
              </a:rPr>
              <a:t>CTG-PID</a:t>
            </a:r>
          </a:p>
        </p:txBody>
      </p:sp>
      <p:sp>
        <p:nvSpPr>
          <p:cNvPr id="17" name="">
            <a:extLst xmlns:a="http://schemas.openxmlformats.org/drawingml/2006/main">
              <a:ext uri="{FF2B5EF4-FFF2-40B4-BE49-F238E27FC236}">
                <a16:creationId xmlns:a16="http://schemas.microsoft.com/office/drawing/2014/main" id="{49A28CD6-C849-44A2-B25D-37836FE3A6C4}"/>
              </a:ext>
            </a:extLst>
          </p:cNvPr>
          <p:cNvSpPr>
            <a:spLocks xmlns:a="http://schemas.openxmlformats.org/drawingml/2006/main" noGrp="1"/>
          </p:cNvSpPr>
          <p:nvPr/>
        </p:nvSpPr>
        <p:spPr>
          <a:xfrm xmlns:a="http://schemas.openxmlformats.org/drawingml/2006/main">
            <a:off x="4972050" y="3000375"/>
            <a:ext cx="15335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63" b="0">
                <a:solidFill>
                  <a:srgbClr val="667A8A"/>
                </a:solidFill>
                <a:latin typeface="Arial"/>
                <a:ea typeface="Arial"/>
                <a:cs typeface="Arial"/>
              </a:defRPr>
            </a:defPPr>
          </a:lstStyle>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nominal time-gap</a:t>
            </a:r>
          </a:p>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feedback command</a:t>
            </a:r>
          </a:p>
        </p:txBody>
      </p:sp>
      <p:sp>
        <p:nvSpPr>
          <p:cNvPr id="18" name="">
            <a:extLst xmlns:a="http://schemas.openxmlformats.org/drawingml/2006/main">
              <a:ext uri="{FF2B5EF4-FFF2-40B4-BE49-F238E27FC236}">
                <a16:creationId xmlns:a16="http://schemas.microsoft.com/office/drawing/2014/main" id="{C43507E0-5236-4A03-8498-F2A04BACBE0C}"/>
              </a:ext>
            </a:extLst>
          </p:cNvPr>
          <p:cNvSpPr>
            <a:spLocks xmlns:a="http://schemas.openxmlformats.org/drawingml/2006/main" noGrp="1"/>
          </p:cNvSpPr>
          <p:nvPr/>
        </p:nvSpPr>
        <p:spPr>
          <a:xfrm xmlns:a="http://schemas.openxmlformats.org/drawingml/2006/main">
            <a:off x="6677025" y="2809875"/>
            <a:ext cx="285750" cy="228600"/>
          </a:xfrm>
          <a:prstGeom xmlns:a="http://schemas.openxmlformats.org/drawingml/2006/main" prst="rightArrow">
            <a:avLst/>
          </a:prstGeom>
          <a:solidFill xmlns:a="http://schemas.openxmlformats.org/drawingml/2006/main">
            <a:srgbClr val="93A3AE"/>
          </a:solidFill>
          <a:ln xmlns:a="http://schemas.openxmlformats.org/drawingml/2006/main" w="0">
            <a:noFill/>
            <a:prstDash val="solid"/>
          </a:ln>
        </p:spPr>
      </p:sp>
      <p:sp>
        <p:nvSpPr>
          <p:cNvPr id="19" name="architecture-block-4">
            <a:extLst xmlns:a="http://schemas.openxmlformats.org/drawingml/2006/main">
              <a:ext uri="{FF2B5EF4-FFF2-40B4-BE49-F238E27FC236}">
                <a16:creationId xmlns:a16="http://schemas.microsoft.com/office/drawing/2014/main" id="{92F4F855-470A-4BDA-A7DE-BD667C0E3062}"/>
              </a:ext>
            </a:extLst>
          </p:cNvPr>
          <p:cNvSpPr>
            <a:spLocks xmlns:a="http://schemas.openxmlformats.org/drawingml/2006/main" noGrp="1"/>
          </p:cNvSpPr>
          <p:nvPr/>
        </p:nvSpPr>
        <p:spPr>
          <a:xfrm xmlns:a="http://schemas.openxmlformats.org/drawingml/2006/main">
            <a:off x="7038975" y="2362200"/>
            <a:ext cx="1685925" cy="1266825"/>
          </a:xfrm>
          <a:prstGeom xmlns:a="http://schemas.openxmlformats.org/drawingml/2006/main" prst="roundRect">
            <a:avLst>
              <a:gd name="adj" fmla="val 9023"/>
            </a:avLst>
          </a:prstGeom>
          <a:solidFill xmlns:a="http://schemas.openxmlformats.org/drawingml/2006/main">
            <a:srgbClr val="E7F4F2"/>
          </a:solidFill>
          <a:ln xmlns:a="http://schemas.openxmlformats.org/drawingml/2006/main" w="9525">
            <a:solidFill>
              <a:srgbClr val="D8E1E7"/>
            </a:solidFill>
            <a:prstDash val="solid"/>
          </a:ln>
        </p:spPr>
      </p:sp>
      <p:sp>
        <p:nvSpPr>
          <p:cNvPr id="20" name="">
            <a:extLst xmlns:a="http://schemas.openxmlformats.org/drawingml/2006/main">
              <a:ext uri="{FF2B5EF4-FFF2-40B4-BE49-F238E27FC236}">
                <a16:creationId xmlns:a16="http://schemas.microsoft.com/office/drawing/2014/main" id="{5755A1E5-0571-4A4C-9EDB-2C777586B6AE}"/>
              </a:ext>
            </a:extLst>
          </p:cNvPr>
          <p:cNvSpPr>
            <a:spLocks xmlns:a="http://schemas.openxmlformats.org/drawingml/2006/main" noGrp="1"/>
          </p:cNvSpPr>
          <p:nvPr/>
        </p:nvSpPr>
        <p:spPr>
          <a:xfrm xmlns:a="http://schemas.openxmlformats.org/drawingml/2006/main">
            <a:off x="7162800" y="2581275"/>
            <a:ext cx="1438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102437"/>
                </a:solidFill>
                <a:latin typeface="Arial"/>
                <a:ea typeface="Arial"/>
                <a:cs typeface="Arial"/>
              </a:defRPr>
            </a:defPPr>
          </a:lstStyle>
          <a:p xmlns:a="http://schemas.openxmlformats.org/drawingml/2006/main">
            <a:pPr algn="ctr">
              <a:defRPr sz="1500" b="1">
                <a:solidFill>
                  <a:srgbClr val="102437"/>
                </a:solidFill>
                <a:latin typeface="Arial"/>
                <a:ea typeface="Arial"/>
                <a:cs typeface="Arial"/>
              </a:defRPr>
            </a:pPr>
            <a:r>
              <a:rPr sz="1500" b="1">
                <a:solidFill>
                  <a:srgbClr val="102437"/>
                </a:solidFill>
                <a:latin typeface="Arial"/>
                <a:ea typeface="Arial"/>
                <a:cs typeface="Arial"/>
              </a:rPr>
              <a:t>Q table</a:t>
            </a:r>
          </a:p>
        </p:txBody>
      </p:sp>
      <p:sp>
        <p:nvSpPr>
          <p:cNvPr id="21" name="">
            <a:extLst xmlns:a="http://schemas.openxmlformats.org/drawingml/2006/main">
              <a:ext uri="{FF2B5EF4-FFF2-40B4-BE49-F238E27FC236}">
                <a16:creationId xmlns:a16="http://schemas.microsoft.com/office/drawing/2014/main" id="{41AE845E-78E8-49D2-86D1-F2468597133F}"/>
              </a:ext>
            </a:extLst>
          </p:cNvPr>
          <p:cNvSpPr>
            <a:spLocks xmlns:a="http://schemas.openxmlformats.org/drawingml/2006/main" noGrp="1"/>
          </p:cNvSpPr>
          <p:nvPr/>
        </p:nvSpPr>
        <p:spPr>
          <a:xfrm xmlns:a="http://schemas.openxmlformats.org/drawingml/2006/main">
            <a:off x="7153275" y="3000375"/>
            <a:ext cx="14573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63" b="0">
                <a:solidFill>
                  <a:srgbClr val="667A8A"/>
                </a:solidFill>
                <a:latin typeface="Arial"/>
                <a:ea typeface="Arial"/>
                <a:cs typeface="Arial"/>
              </a:defRPr>
            </a:defPPr>
          </a:lstStyle>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discrete residual</a:t>
            </a:r>
          </a:p>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acceleration</a:t>
            </a:r>
          </a:p>
        </p:txBody>
      </p:sp>
      <p:sp>
        <p:nvSpPr>
          <p:cNvPr id="22" name="">
            <a:extLst xmlns:a="http://schemas.openxmlformats.org/drawingml/2006/main">
              <a:ext uri="{FF2B5EF4-FFF2-40B4-BE49-F238E27FC236}">
                <a16:creationId xmlns:a16="http://schemas.microsoft.com/office/drawing/2014/main" id="{1D57EF5B-F369-42BC-BEF5-FD3E5B201780}"/>
              </a:ext>
            </a:extLst>
          </p:cNvPr>
          <p:cNvSpPr>
            <a:spLocks xmlns:a="http://schemas.openxmlformats.org/drawingml/2006/main" noGrp="1"/>
          </p:cNvSpPr>
          <p:nvPr/>
        </p:nvSpPr>
        <p:spPr>
          <a:xfrm xmlns:a="http://schemas.openxmlformats.org/drawingml/2006/main">
            <a:off x="8782050" y="2809875"/>
            <a:ext cx="285750" cy="228600"/>
          </a:xfrm>
          <a:prstGeom xmlns:a="http://schemas.openxmlformats.org/drawingml/2006/main" prst="rightArrow">
            <a:avLst/>
          </a:prstGeom>
          <a:solidFill xmlns:a="http://schemas.openxmlformats.org/drawingml/2006/main">
            <a:srgbClr val="93A3AE"/>
          </a:solidFill>
          <a:ln xmlns:a="http://schemas.openxmlformats.org/drawingml/2006/main" w="0">
            <a:noFill/>
            <a:prstDash val="solid"/>
          </a:ln>
        </p:spPr>
      </p:sp>
      <p:sp>
        <p:nvSpPr>
          <p:cNvPr id="23" name="architecture-block-5">
            <a:extLst xmlns:a="http://schemas.openxmlformats.org/drawingml/2006/main">
              <a:ext uri="{FF2B5EF4-FFF2-40B4-BE49-F238E27FC236}">
                <a16:creationId xmlns:a16="http://schemas.microsoft.com/office/drawing/2014/main" id="{2C889961-1DCC-4CD2-898F-C2A55576FEA5}"/>
              </a:ext>
            </a:extLst>
          </p:cNvPr>
          <p:cNvSpPr>
            <a:spLocks xmlns:a="http://schemas.openxmlformats.org/drawingml/2006/main" noGrp="1"/>
          </p:cNvSpPr>
          <p:nvPr/>
        </p:nvSpPr>
        <p:spPr>
          <a:xfrm xmlns:a="http://schemas.openxmlformats.org/drawingml/2006/main">
            <a:off x="9124950" y="2362200"/>
            <a:ext cx="1676400" cy="1266825"/>
          </a:xfrm>
          <a:prstGeom xmlns:a="http://schemas.openxmlformats.org/drawingml/2006/main" prst="roundRect">
            <a:avLst>
              <a:gd name="adj" fmla="val 9023"/>
            </a:avLst>
          </a:prstGeom>
          <a:solidFill xmlns:a="http://schemas.openxmlformats.org/drawingml/2006/main">
            <a:srgbClr val="FFF3E2"/>
          </a:solidFill>
          <a:ln xmlns:a="http://schemas.openxmlformats.org/drawingml/2006/main" w="9525">
            <a:solidFill>
              <a:srgbClr val="D8E1E7"/>
            </a:solidFill>
            <a:prstDash val="solid"/>
          </a:ln>
        </p:spPr>
      </p:sp>
      <p:sp>
        <p:nvSpPr>
          <p:cNvPr id="24" name="">
            <a:extLst xmlns:a="http://schemas.openxmlformats.org/drawingml/2006/main">
              <a:ext uri="{FF2B5EF4-FFF2-40B4-BE49-F238E27FC236}">
                <a16:creationId xmlns:a16="http://schemas.microsoft.com/office/drawing/2014/main" id="{B4B0DAEB-EF4B-43C9-93D2-9B252F1D2241}"/>
              </a:ext>
            </a:extLst>
          </p:cNvPr>
          <p:cNvSpPr>
            <a:spLocks xmlns:a="http://schemas.openxmlformats.org/drawingml/2006/main" noGrp="1"/>
          </p:cNvSpPr>
          <p:nvPr/>
        </p:nvSpPr>
        <p:spPr>
          <a:xfrm xmlns:a="http://schemas.openxmlformats.org/drawingml/2006/main">
            <a:off x="9248775" y="25812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D98F32"/>
                </a:solidFill>
                <a:latin typeface="Arial"/>
                <a:ea typeface="Arial"/>
                <a:cs typeface="Arial"/>
              </a:defRPr>
            </a:defPPr>
          </a:lstStyle>
          <a:p xmlns:a="http://schemas.openxmlformats.org/drawingml/2006/main">
            <a:pPr algn="ctr">
              <a:defRPr sz="1500" b="1">
                <a:solidFill>
                  <a:srgbClr val="D98F32"/>
                </a:solidFill>
                <a:latin typeface="Arial"/>
                <a:ea typeface="Arial"/>
                <a:cs typeface="Arial"/>
              </a:defRPr>
            </a:pPr>
            <a:r>
              <a:rPr sz="1500" b="1">
                <a:solidFill>
                  <a:srgbClr val="D98F32"/>
                </a:solidFill>
                <a:latin typeface="Arial"/>
                <a:ea typeface="Arial"/>
                <a:cs typeface="Arial"/>
              </a:rPr>
              <a:t>Action guard</a:t>
            </a:r>
          </a:p>
        </p:txBody>
      </p:sp>
      <p:sp>
        <p:nvSpPr>
          <p:cNvPr id="25" name="">
            <a:extLst xmlns:a="http://schemas.openxmlformats.org/drawingml/2006/main">
              <a:ext uri="{FF2B5EF4-FFF2-40B4-BE49-F238E27FC236}">
                <a16:creationId xmlns:a16="http://schemas.microsoft.com/office/drawing/2014/main" id="{B41CDECE-CFE5-454B-98B5-2BEEDB171C8C}"/>
              </a:ext>
            </a:extLst>
          </p:cNvPr>
          <p:cNvSpPr>
            <a:spLocks xmlns:a="http://schemas.openxmlformats.org/drawingml/2006/main" noGrp="1"/>
          </p:cNvSpPr>
          <p:nvPr/>
        </p:nvSpPr>
        <p:spPr>
          <a:xfrm xmlns:a="http://schemas.openxmlformats.org/drawingml/2006/main">
            <a:off x="9239250" y="3000375"/>
            <a:ext cx="1447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63" b="0">
                <a:solidFill>
                  <a:srgbClr val="667A8A"/>
                </a:solidFill>
                <a:latin typeface="Arial"/>
                <a:ea typeface="Arial"/>
                <a:cs typeface="Arial"/>
              </a:defRPr>
            </a:defPPr>
          </a:lstStyle>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RSS-inspired</a:t>
            </a:r>
          </a:p>
          <a:p xmlns:a="http://schemas.openxmlformats.org/drawingml/2006/main">
            <a:pPr algn="ctr">
              <a:defRPr sz="1163" b="0">
                <a:solidFill>
                  <a:srgbClr val="667A8A"/>
                </a:solidFill>
                <a:latin typeface="Arial"/>
                <a:ea typeface="Arial"/>
                <a:cs typeface="Arial"/>
              </a:defRPr>
            </a:pPr>
            <a:r>
              <a:rPr sz="1163" b="0">
                <a:solidFill>
                  <a:srgbClr val="667A8A"/>
                </a:solidFill>
                <a:latin typeface="Arial"/>
                <a:ea typeface="Arial"/>
                <a:cs typeface="Arial"/>
              </a:rPr>
              <a:t>braking margin</a:t>
            </a:r>
          </a:p>
        </p:txBody>
      </p:sp>
      <p:sp>
        <p:nvSpPr>
          <p:cNvPr id="26" name="vehicle-plant">
            <a:extLst xmlns:a="http://schemas.openxmlformats.org/drawingml/2006/main">
              <a:ext uri="{FF2B5EF4-FFF2-40B4-BE49-F238E27FC236}">
                <a16:creationId xmlns:a16="http://schemas.microsoft.com/office/drawing/2014/main" id="{FD6706B6-6BC5-430A-B8BC-EB514ECFE487}"/>
              </a:ext>
            </a:extLst>
          </p:cNvPr>
          <p:cNvSpPr>
            <a:spLocks xmlns:a="http://schemas.openxmlformats.org/drawingml/2006/main" noGrp="1"/>
          </p:cNvSpPr>
          <p:nvPr/>
        </p:nvSpPr>
        <p:spPr>
          <a:xfrm xmlns:a="http://schemas.openxmlformats.org/drawingml/2006/main">
            <a:off x="4638675" y="4171950"/>
            <a:ext cx="4543425" cy="847725"/>
          </a:xfrm>
          <a:prstGeom xmlns:a="http://schemas.openxmlformats.org/drawingml/2006/main" prst="roundRect">
            <a:avLst>
              <a:gd name="adj" fmla="val 13483"/>
            </a:avLst>
          </a:prstGeom>
          <a:solidFill xmlns:a="http://schemas.openxmlformats.org/drawingml/2006/main">
            <a:srgbClr val="10243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3EE814D-9A77-4001-9B9C-9E66AB8843E1}"/>
              </a:ext>
            </a:extLst>
          </p:cNvPr>
          <p:cNvSpPr>
            <a:spLocks xmlns:a="http://schemas.openxmlformats.org/drawingml/2006/main" noGrp="1"/>
          </p:cNvSpPr>
          <p:nvPr/>
        </p:nvSpPr>
        <p:spPr>
          <a:xfrm xmlns:a="http://schemas.openxmlformats.org/drawingml/2006/main">
            <a:off x="4810125" y="4333875"/>
            <a:ext cx="419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Actuator + ego vehicle</a:t>
            </a:r>
          </a:p>
        </p:txBody>
      </p:sp>
      <p:sp>
        <p:nvSpPr>
          <p:cNvPr id="28" name="">
            <a:extLst xmlns:a="http://schemas.openxmlformats.org/drawingml/2006/main">
              <a:ext uri="{FF2B5EF4-FFF2-40B4-BE49-F238E27FC236}">
                <a16:creationId xmlns:a16="http://schemas.microsoft.com/office/drawing/2014/main" id="{62055924-5037-4E24-A601-810FF16A9353}"/>
              </a:ext>
            </a:extLst>
          </p:cNvPr>
          <p:cNvSpPr>
            <a:spLocks xmlns:a="http://schemas.openxmlformats.org/drawingml/2006/main" noGrp="1"/>
          </p:cNvSpPr>
          <p:nvPr/>
        </p:nvSpPr>
        <p:spPr>
          <a:xfrm xmlns:a="http://schemas.openxmlformats.org/drawingml/2006/main">
            <a:off x="4829175" y="4667250"/>
            <a:ext cx="417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CBD8E0"/>
                </a:solidFill>
                <a:latin typeface="Arial"/>
                <a:ea typeface="Arial"/>
                <a:cs typeface="Arial"/>
              </a:defRPr>
            </a:defPPr>
          </a:lstStyle>
          <a:p xmlns:a="http://schemas.openxmlformats.org/drawingml/2006/main">
            <a:pPr algn="ctr">
              <a:defRPr sz="1050" b="0">
                <a:solidFill>
                  <a:srgbClr val="CBD8E0"/>
                </a:solidFill>
                <a:latin typeface="Arial"/>
                <a:ea typeface="Arial"/>
                <a:cs typeface="Arial"/>
              </a:defRPr>
            </a:pPr>
            <a:r>
              <a:rPr sz="1050" b="0">
                <a:solidFill>
                  <a:srgbClr val="CBD8E0"/>
                </a:solidFill>
                <a:latin typeface="Arial"/>
                <a:ea typeface="Arial"/>
                <a:cs typeface="Arial"/>
              </a:rPr>
              <a:t>first-order lag · drag · rolling resistance · bounded acceleration</a:t>
            </a:r>
          </a:p>
        </p:txBody>
      </p:sp>
      <p:sp>
        <p:nvSpPr>
          <p:cNvPr id="29" name="">
            <a:extLst xmlns:a="http://schemas.openxmlformats.org/drawingml/2006/main">
              <a:ext uri="{FF2B5EF4-FFF2-40B4-BE49-F238E27FC236}">
                <a16:creationId xmlns:a16="http://schemas.microsoft.com/office/drawing/2014/main" id="{2210DA8E-6394-42DF-AFC9-2C1FBD438E02}"/>
              </a:ext>
            </a:extLst>
          </p:cNvPr>
          <p:cNvSpPr>
            <a:spLocks xmlns:a="http://schemas.openxmlformats.org/drawingml/2006/main" noGrp="1"/>
          </p:cNvSpPr>
          <p:nvPr/>
        </p:nvSpPr>
        <p:spPr>
          <a:xfrm xmlns:a="http://schemas.openxmlformats.org/drawingml/2006/main">
            <a:off x="9705975" y="4371975"/>
            <a:ext cx="323850" cy="247650"/>
          </a:xfrm>
          <a:prstGeom xmlns:a="http://schemas.openxmlformats.org/drawingml/2006/main" prst="rightArrow">
            <a:avLst/>
          </a:prstGeom>
          <a:solidFill xmlns:a="http://schemas.openxmlformats.org/drawingml/2006/main">
            <a:srgbClr val="0E9F9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DE552BB-0AE7-4A35-890C-A7F696AA784B}"/>
              </a:ext>
            </a:extLst>
          </p:cNvPr>
          <p:cNvSpPr>
            <a:spLocks xmlns:a="http://schemas.openxmlformats.org/drawingml/2006/main" noGrp="1"/>
          </p:cNvSpPr>
          <p:nvPr/>
        </p:nvSpPr>
        <p:spPr>
          <a:xfrm xmlns:a="http://schemas.openxmlformats.org/drawingml/2006/main">
            <a:off x="10077450" y="4371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087C75"/>
                </a:solidFill>
                <a:latin typeface="Arial"/>
                <a:ea typeface="Arial"/>
                <a:cs typeface="Arial"/>
              </a:defRPr>
            </a:defPPr>
          </a:lstStyle>
          <a:p xmlns:a="http://schemas.openxmlformats.org/drawingml/2006/main">
            <a:pPr algn="l">
              <a:defRPr sz="1125" b="1">
                <a:solidFill>
                  <a:srgbClr val="087C75"/>
                </a:solidFill>
                <a:latin typeface="Arial"/>
                <a:ea typeface="Arial"/>
                <a:cs typeface="Arial"/>
              </a:defRPr>
            </a:pPr>
            <a:r>
              <a:rPr sz="1125" b="1">
                <a:solidFill>
                  <a:srgbClr val="087C75"/>
                </a:solidFill>
                <a:latin typeface="Arial"/>
                <a:ea typeface="Arial"/>
                <a:cs typeface="Arial"/>
              </a:rPr>
              <a:t>ego motion</a:t>
            </a:r>
          </a:p>
        </p:txBody>
      </p:sp>
      <p:sp>
        <p:nvSpPr>
          <p:cNvPr id="31" name="">
            <a:extLst xmlns:a="http://schemas.openxmlformats.org/drawingml/2006/main">
              <a:ext uri="{FF2B5EF4-FFF2-40B4-BE49-F238E27FC236}">
                <a16:creationId xmlns:a16="http://schemas.microsoft.com/office/drawing/2014/main" id="{979AF80B-79DE-4AC5-8546-AE73E9961199}"/>
              </a:ext>
            </a:extLst>
          </p:cNvPr>
          <p:cNvSpPr>
            <a:spLocks xmlns:a="http://schemas.openxmlformats.org/drawingml/2006/main" noGrp="1"/>
          </p:cNvSpPr>
          <p:nvPr/>
        </p:nvSpPr>
        <p:spPr>
          <a:xfrm xmlns:a="http://schemas.openxmlformats.org/drawingml/2006/main">
            <a:off x="552450" y="551497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1D2E3B"/>
                </a:solidFill>
                <a:latin typeface="Arial"/>
                <a:ea typeface="Arial"/>
                <a:cs typeface="Arial"/>
              </a:defRPr>
            </a:defPPr>
          </a:lstStyle>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A zero residual leaves CTG-PID in charge for tied or unvisited state bins.</a:t>
            </a:r>
          </a:p>
        </p:txBody>
      </p:sp>
    </p:spTree>
    <p:extLst>
      <p:ext uri="{BB962C8B-B14F-4D97-AF65-F5344CB8AC3E}">
        <p14:creationId xmlns:p14="http://schemas.microsoft.com/office/powerpoint/2010/main" val="440161246"/>
      </p:ext>
    </p:extLst>
  </p:cSld>
</p:sld>
</file>

<file path=ppt/slides/slide6.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BDC27E4-321B-42DA-8C60-AACC6D0771F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07602E-D98E-4D80-8A9D-B77F9AB05E02}"/>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05 · MODEL AND POLICY</a:t>
            </a:r>
          </a:p>
        </p:txBody>
      </p:sp>
      <p:sp>
        <p:nvSpPr>
          <p:cNvPr id="3" name="slide-6-title">
            <a:extLst xmlns:a="http://schemas.openxmlformats.org/drawingml/2006/main">
              <a:ext uri="{FF2B5EF4-FFF2-40B4-BE49-F238E27FC236}">
                <a16:creationId xmlns:a16="http://schemas.microsoft.com/office/drawing/2014/main" id="{4D484924-6548-4C09-BFF6-56632C45529C}"/>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02437"/>
                </a:solidFill>
                <a:latin typeface="Arial"/>
                <a:ea typeface="Arial"/>
                <a:cs typeface="Arial"/>
              </a:defRPr>
            </a:defPPr>
          </a:lstStyle>
          <a:p xmlns:a="http://schemas.openxmlformats.org/drawingml/2006/main">
            <a:pPr algn="l">
              <a:defRPr sz="2550" b="1">
                <a:solidFill>
                  <a:srgbClr val="102437"/>
                </a:solidFill>
                <a:latin typeface="Arial"/>
                <a:ea typeface="Arial"/>
                <a:cs typeface="Arial"/>
              </a:defRPr>
            </a:pPr>
            <a:r>
              <a:rPr sz="2550" b="1">
                <a:solidFill>
                  <a:srgbClr val="102437"/>
                </a:solidFill>
                <a:latin typeface="Arial"/>
                <a:ea typeface="Arial"/>
                <a:cs typeface="Arial"/>
              </a:rPr>
              <a:t>A compact model keeps the experiment inspectable.</a:t>
            </a:r>
          </a:p>
        </p:txBody>
      </p:sp>
      <p:sp>
        <p:nvSpPr>
          <p:cNvPr id="4" name="">
            <a:extLst xmlns:a="http://schemas.openxmlformats.org/drawingml/2006/main">
              <a:ext uri="{FF2B5EF4-FFF2-40B4-BE49-F238E27FC236}">
                <a16:creationId xmlns:a16="http://schemas.microsoft.com/office/drawing/2014/main" id="{1AD98E8E-DAB8-47C5-AC94-06F494BCB3D1}"/>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78655AE4-DAD7-4434-AC17-20306BADCBB3}"/>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55BCBB46-3F6F-45B9-8D26-F8B3AEAE6DBF}"/>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EB1D84CA-F854-42DC-BB08-E23D526B45FA}"/>
              </a:ext>
            </a:extLst>
          </p:cNvPr>
          <p:cNvSpPr>
            <a:spLocks xmlns:a="http://schemas.openxmlformats.org/drawingml/2006/main" noGrp="1"/>
          </p:cNvSpPr>
          <p:nvPr/>
        </p:nvSpPr>
        <p:spPr>
          <a:xfrm xmlns:a="http://schemas.openxmlformats.org/drawingml/2006/main">
            <a:off x="552450" y="1524000"/>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VEHICLE MODEL</a:t>
            </a:r>
          </a:p>
        </p:txBody>
      </p:sp>
      <p:sp>
        <p:nvSpPr>
          <p:cNvPr id="8" name="">
            <a:extLst xmlns:a="http://schemas.openxmlformats.org/drawingml/2006/main">
              <a:ext uri="{FF2B5EF4-FFF2-40B4-BE49-F238E27FC236}">
                <a16:creationId xmlns:a16="http://schemas.microsoft.com/office/drawing/2014/main" id="{7E378F05-077F-4032-995D-831FF408547E}"/>
              </a:ext>
            </a:extLst>
          </p:cNvPr>
          <p:cNvSpPr>
            <a:spLocks xmlns:a="http://schemas.openxmlformats.org/drawingml/2006/main" noGrp="1"/>
          </p:cNvSpPr>
          <p:nvPr/>
        </p:nvSpPr>
        <p:spPr>
          <a:xfrm xmlns:a="http://schemas.openxmlformats.org/drawingml/2006/main">
            <a:off x="552450" y="1876425"/>
            <a:ext cx="4905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102437"/>
                </a:solidFill>
                <a:latin typeface="Arial"/>
                <a:ea typeface="Arial"/>
                <a:cs typeface="Arial"/>
              </a:defRPr>
            </a:defPPr>
          </a:lstStyle>
          <a:p xmlns:a="http://schemas.openxmlformats.org/drawingml/2006/main">
            <a:pPr algn="l">
              <a:defRPr sz="1650" b="0">
                <a:solidFill>
                  <a:srgbClr val="102437"/>
                </a:solidFill>
                <a:latin typeface="Arial"/>
                <a:ea typeface="Arial"/>
                <a:cs typeface="Arial"/>
              </a:defRPr>
            </a:pPr>
            <a:r>
              <a:rPr sz="1650" b="0">
                <a:solidFill>
                  <a:srgbClr val="102437"/>
                </a:solidFill>
                <a:latin typeface="Arial"/>
                <a:ea typeface="Arial"/>
                <a:cs typeface="Arial"/>
              </a:rPr>
              <a:t>Δt = 0.1 s  ·  mass = 1,500 kg</a:t>
            </a:r>
          </a:p>
          <a:p xmlns:a="http://schemas.openxmlformats.org/drawingml/2006/main">
            <a:pPr algn="l">
              <a:defRPr sz="1650" b="0">
                <a:solidFill>
                  <a:srgbClr val="102437"/>
                </a:solidFill>
                <a:latin typeface="Arial"/>
                <a:ea typeface="Arial"/>
                <a:cs typeface="Arial"/>
              </a:defRPr>
            </a:pPr>
            <a:r>
              <a:rPr sz="1650" b="0">
                <a:solidFill>
                  <a:srgbClr val="102437"/>
                </a:solidFill>
                <a:latin typeface="Arial"/>
                <a:ea typeface="Arial"/>
                <a:cs typeface="Arial"/>
              </a:rPr>
              <a:t>actuator τ = 0.35 s</a:t>
            </a:r>
          </a:p>
          <a:p xmlns:a="http://schemas.openxmlformats.org/drawingml/2006/main">
            <a:pPr algn="l">
              <a:defRPr sz="1650" b="0">
                <a:solidFill>
                  <a:srgbClr val="102437"/>
                </a:solidFill>
                <a:latin typeface="Arial"/>
                <a:ea typeface="Arial"/>
                <a:cs typeface="Arial"/>
              </a:defRPr>
            </a:pPr>
            <a:r>
              <a:rPr sz="1650" b="0">
                <a:solidFill>
                  <a:srgbClr val="102437"/>
                </a:solidFill>
                <a:latin typeface="Arial"/>
                <a:ea typeface="Arial"/>
                <a:cs typeface="Arial"/>
              </a:rPr>
              <a:t>acceleration command = −6 to +2.5 m/s²</a:t>
            </a:r>
          </a:p>
        </p:txBody>
      </p:sp>
      <p:sp>
        <p:nvSpPr>
          <p:cNvPr id="9" name="">
            <a:extLst xmlns:a="http://schemas.openxmlformats.org/drawingml/2006/main">
              <a:ext uri="{FF2B5EF4-FFF2-40B4-BE49-F238E27FC236}">
                <a16:creationId xmlns:a16="http://schemas.microsoft.com/office/drawing/2014/main" id="{4A58CAA8-4AE2-46B8-B298-BBB8AD565362}"/>
              </a:ext>
            </a:extLst>
          </p:cNvPr>
          <p:cNvSpPr>
            <a:spLocks xmlns:a="http://schemas.openxmlformats.org/drawingml/2006/main" noGrp="1"/>
          </p:cNvSpPr>
          <p:nvPr/>
        </p:nvSpPr>
        <p:spPr>
          <a:xfrm xmlns:a="http://schemas.openxmlformats.org/drawingml/2006/main">
            <a:off x="5838825" y="1524000"/>
            <a:ext cx="0" cy="4210050"/>
          </a:xfrm>
          <a:prstGeom xmlns:a="http://schemas.openxmlformats.org/drawingml/2006/main" prst="line">
            <a:avLst/>
          </a:prstGeom>
          <a:noFill xmlns:a="http://schemas.openxmlformats.org/drawingml/2006/main"/>
          <a:ln xmlns:a="http://schemas.openxmlformats.org/drawingml/2006/main" w="13335">
            <a:solidFill>
              <a:srgbClr val="D8E1E7"/>
            </a:solidFill>
            <a:prstDash val="solid"/>
          </a:ln>
        </p:spPr>
      </p:sp>
      <p:sp>
        <p:nvSpPr>
          <p:cNvPr id="10" name="">
            <a:extLst xmlns:a="http://schemas.openxmlformats.org/drawingml/2006/main">
              <a:ext uri="{FF2B5EF4-FFF2-40B4-BE49-F238E27FC236}">
                <a16:creationId xmlns:a16="http://schemas.microsoft.com/office/drawing/2014/main" id="{21C397DE-A247-472A-9F8E-37F57FA12453}"/>
              </a:ext>
            </a:extLst>
          </p:cNvPr>
          <p:cNvSpPr>
            <a:spLocks xmlns:a="http://schemas.openxmlformats.org/drawingml/2006/main" noGrp="1"/>
          </p:cNvSpPr>
          <p:nvPr/>
        </p:nvSpPr>
        <p:spPr>
          <a:xfrm xmlns:a="http://schemas.openxmlformats.org/drawingml/2006/main">
            <a:off x="6248400" y="1524000"/>
            <a:ext cx="2476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TIME-GAP POLICY</a:t>
            </a:r>
          </a:p>
        </p:txBody>
      </p:sp>
      <p:sp>
        <p:nvSpPr>
          <p:cNvPr id="11" name="">
            <a:extLst xmlns:a="http://schemas.openxmlformats.org/drawingml/2006/main">
              <a:ext uri="{FF2B5EF4-FFF2-40B4-BE49-F238E27FC236}">
                <a16:creationId xmlns:a16="http://schemas.microsoft.com/office/drawing/2014/main" id="{8CCEBA41-93B7-4083-854E-6B77E88CA04D}"/>
              </a:ext>
            </a:extLst>
          </p:cNvPr>
          <p:cNvSpPr>
            <a:spLocks xmlns:a="http://schemas.openxmlformats.org/drawingml/2006/main" noGrp="1"/>
          </p:cNvSpPr>
          <p:nvPr/>
        </p:nvSpPr>
        <p:spPr>
          <a:xfrm xmlns:a="http://schemas.openxmlformats.org/drawingml/2006/main">
            <a:off x="6248400" y="1933575"/>
            <a:ext cx="495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7"/>
                </a:solidFill>
                <a:latin typeface="Arial"/>
                <a:ea typeface="Arial"/>
                <a:cs typeface="Arial"/>
              </a:defRPr>
            </a:defPPr>
          </a:lstStyle>
          <a:p xmlns:a="http://schemas.openxmlformats.org/drawingml/2006/main">
            <a:pPr algn="l">
              <a:defRPr sz="2850" b="1">
                <a:solidFill>
                  <a:srgbClr val="102437"/>
                </a:solidFill>
                <a:latin typeface="Arial"/>
                <a:ea typeface="Arial"/>
                <a:cs typeface="Arial"/>
              </a:defRPr>
            </a:pPr>
            <a:r>
              <a:rPr sz="2850" b="1">
                <a:solidFill>
                  <a:srgbClr val="102437"/>
                </a:solidFill>
                <a:latin typeface="Arial"/>
                <a:ea typeface="Arial"/>
                <a:cs typeface="Arial"/>
              </a:rPr>
              <a:t>d* = 5 m + 1.3 v</a:t>
            </a:r>
          </a:p>
        </p:txBody>
      </p:sp>
      <p:sp>
        <p:nvSpPr>
          <p:cNvPr id="12" name="">
            <a:extLst xmlns:a="http://schemas.openxmlformats.org/drawingml/2006/main">
              <a:ext uri="{FF2B5EF4-FFF2-40B4-BE49-F238E27FC236}">
                <a16:creationId xmlns:a16="http://schemas.microsoft.com/office/drawing/2014/main" id="{87309A42-6BFA-48AF-B55A-4DD48EEEE916}"/>
              </a:ext>
            </a:extLst>
          </p:cNvPr>
          <p:cNvSpPr>
            <a:spLocks xmlns:a="http://schemas.openxmlformats.org/drawingml/2006/main" noGrp="1"/>
          </p:cNvSpPr>
          <p:nvPr/>
        </p:nvSpPr>
        <p:spPr>
          <a:xfrm xmlns:a="http://schemas.openxmlformats.org/drawingml/2006/main">
            <a:off x="552450" y="3457575"/>
            <a:ext cx="2428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1D2E3B"/>
                </a:solidFill>
                <a:latin typeface="Arial"/>
                <a:ea typeface="Arial"/>
                <a:cs typeface="Arial"/>
              </a:defRPr>
            </a:defPPr>
          </a:lstStyle>
          <a:p xmlns:a="http://schemas.openxmlformats.org/drawingml/2006/main">
            <a:pPr algn="l">
              <a:defRPr sz="1500" b="1">
                <a:solidFill>
                  <a:srgbClr val="1D2E3B"/>
                </a:solidFill>
                <a:latin typeface="Arial"/>
                <a:ea typeface="Arial"/>
                <a:cs typeface="Arial"/>
              </a:defRPr>
            </a:pPr>
            <a:r>
              <a:rPr sz="1500" b="1">
                <a:solidFill>
                  <a:srgbClr val="1D2E3B"/>
                </a:solidFill>
                <a:latin typeface="Arial"/>
                <a:ea typeface="Arial"/>
                <a:cs typeface="Arial"/>
              </a:rPr>
              <a:t>Five state features</a:t>
            </a:r>
          </a:p>
        </p:txBody>
      </p:sp>
      <p:sp>
        <p:nvSpPr>
          <p:cNvPr id="13" name="">
            <a:extLst xmlns:a="http://schemas.openxmlformats.org/drawingml/2006/main">
              <a:ext uri="{FF2B5EF4-FFF2-40B4-BE49-F238E27FC236}">
                <a16:creationId xmlns:a16="http://schemas.microsoft.com/office/drawing/2014/main" id="{ECB701FF-F3B3-40D2-94B1-FC466956897D}"/>
              </a:ext>
            </a:extLst>
          </p:cNvPr>
          <p:cNvSpPr>
            <a:spLocks xmlns:a="http://schemas.openxmlformats.org/drawingml/2006/main" noGrp="1"/>
          </p:cNvSpPr>
          <p:nvPr/>
        </p:nvSpPr>
        <p:spPr>
          <a:xfrm xmlns:a="http://schemas.openxmlformats.org/drawingml/2006/main">
            <a:off x="552450" y="3971925"/>
            <a:ext cx="76200" cy="76200"/>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42898CB-9B25-4ED6-8752-38A2291DD7F9}"/>
              </a:ext>
            </a:extLst>
          </p:cNvPr>
          <p:cNvSpPr>
            <a:spLocks xmlns:a="http://schemas.openxmlformats.org/drawingml/2006/main" noGrp="1"/>
          </p:cNvSpPr>
          <p:nvPr/>
        </p:nvSpPr>
        <p:spPr>
          <a:xfrm xmlns:a="http://schemas.openxmlformats.org/drawingml/2006/main">
            <a:off x="762000" y="3876675"/>
            <a:ext cx="445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38" b="0">
                <a:solidFill>
                  <a:srgbClr val="1D2E3B"/>
                </a:solidFill>
                <a:latin typeface="Arial"/>
                <a:ea typeface="Arial"/>
                <a:cs typeface="Arial"/>
              </a:defRPr>
            </a:defPPr>
          </a:lstStyle>
          <a:p xmlns:a="http://schemas.openxmlformats.org/drawingml/2006/main">
            <a:pPr algn="l">
              <a:defRPr sz="1238" b="0">
                <a:solidFill>
                  <a:srgbClr val="1D2E3B"/>
                </a:solidFill>
                <a:latin typeface="Arial"/>
                <a:ea typeface="Arial"/>
                <a:cs typeface="Arial"/>
              </a:defRPr>
            </a:pPr>
            <a:r>
              <a:rPr sz="1238" b="0">
                <a:solidFill>
                  <a:srgbClr val="1D2E3B"/>
                </a:solidFill>
                <a:latin typeface="Arial"/>
                <a:ea typeface="Arial"/>
                <a:cs typeface="Arial"/>
              </a:rPr>
              <a:t>gap error</a:t>
            </a:r>
          </a:p>
        </p:txBody>
      </p:sp>
      <p:sp>
        <p:nvSpPr>
          <p:cNvPr id="15" name="">
            <a:extLst xmlns:a="http://schemas.openxmlformats.org/drawingml/2006/main">
              <a:ext uri="{FF2B5EF4-FFF2-40B4-BE49-F238E27FC236}">
                <a16:creationId xmlns:a16="http://schemas.microsoft.com/office/drawing/2014/main" id="{BDD2B891-DE83-4C55-840E-48DA9E601CB1}"/>
              </a:ext>
            </a:extLst>
          </p:cNvPr>
          <p:cNvSpPr>
            <a:spLocks xmlns:a="http://schemas.openxmlformats.org/drawingml/2006/main" noGrp="1"/>
          </p:cNvSpPr>
          <p:nvPr/>
        </p:nvSpPr>
        <p:spPr>
          <a:xfrm xmlns:a="http://schemas.openxmlformats.org/drawingml/2006/main">
            <a:off x="552450" y="4314825"/>
            <a:ext cx="76200" cy="76200"/>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AC41F04-3C35-4FCA-A052-22C161A2780A}"/>
              </a:ext>
            </a:extLst>
          </p:cNvPr>
          <p:cNvSpPr>
            <a:spLocks xmlns:a="http://schemas.openxmlformats.org/drawingml/2006/main" noGrp="1"/>
          </p:cNvSpPr>
          <p:nvPr/>
        </p:nvSpPr>
        <p:spPr>
          <a:xfrm xmlns:a="http://schemas.openxmlformats.org/drawingml/2006/main">
            <a:off x="762000" y="4219575"/>
            <a:ext cx="445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38" b="0">
                <a:solidFill>
                  <a:srgbClr val="1D2E3B"/>
                </a:solidFill>
                <a:latin typeface="Arial"/>
                <a:ea typeface="Arial"/>
                <a:cs typeface="Arial"/>
              </a:defRPr>
            </a:defPPr>
          </a:lstStyle>
          <a:p xmlns:a="http://schemas.openxmlformats.org/drawingml/2006/main">
            <a:pPr algn="l">
              <a:defRPr sz="1238" b="0">
                <a:solidFill>
                  <a:srgbClr val="1D2E3B"/>
                </a:solidFill>
                <a:latin typeface="Arial"/>
                <a:ea typeface="Arial"/>
                <a:cs typeface="Arial"/>
              </a:defRPr>
            </a:pPr>
            <a:r>
              <a:rPr sz="1238" b="0">
                <a:solidFill>
                  <a:srgbClr val="1D2E3B"/>
                </a:solidFill>
                <a:latin typeface="Arial"/>
                <a:ea typeface="Arial"/>
                <a:cs typeface="Arial"/>
              </a:rPr>
              <a:t>closing speed</a:t>
            </a:r>
          </a:p>
        </p:txBody>
      </p:sp>
      <p:sp>
        <p:nvSpPr>
          <p:cNvPr id="17" name="">
            <a:extLst xmlns:a="http://schemas.openxmlformats.org/drawingml/2006/main">
              <a:ext uri="{FF2B5EF4-FFF2-40B4-BE49-F238E27FC236}">
                <a16:creationId xmlns:a16="http://schemas.microsoft.com/office/drawing/2014/main" id="{EAACC044-B980-4F1B-9F32-C5EFC47DD374}"/>
              </a:ext>
            </a:extLst>
          </p:cNvPr>
          <p:cNvSpPr>
            <a:spLocks xmlns:a="http://schemas.openxmlformats.org/drawingml/2006/main" noGrp="1"/>
          </p:cNvSpPr>
          <p:nvPr/>
        </p:nvSpPr>
        <p:spPr>
          <a:xfrm xmlns:a="http://schemas.openxmlformats.org/drawingml/2006/main">
            <a:off x="552450" y="4657725"/>
            <a:ext cx="76200" cy="76200"/>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CB034AF-8CE2-45F4-9B49-2BDD4FC7EC2C}"/>
              </a:ext>
            </a:extLst>
          </p:cNvPr>
          <p:cNvSpPr>
            <a:spLocks xmlns:a="http://schemas.openxmlformats.org/drawingml/2006/main" noGrp="1"/>
          </p:cNvSpPr>
          <p:nvPr/>
        </p:nvSpPr>
        <p:spPr>
          <a:xfrm xmlns:a="http://schemas.openxmlformats.org/drawingml/2006/main">
            <a:off x="762000" y="4562475"/>
            <a:ext cx="445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38" b="0">
                <a:solidFill>
                  <a:srgbClr val="1D2E3B"/>
                </a:solidFill>
                <a:latin typeface="Arial"/>
                <a:ea typeface="Arial"/>
                <a:cs typeface="Arial"/>
              </a:defRPr>
            </a:defPPr>
          </a:lstStyle>
          <a:p xmlns:a="http://schemas.openxmlformats.org/drawingml/2006/main">
            <a:pPr algn="l">
              <a:defRPr sz="1238" b="0">
                <a:solidFill>
                  <a:srgbClr val="1D2E3B"/>
                </a:solidFill>
                <a:latin typeface="Arial"/>
                <a:ea typeface="Arial"/>
                <a:cs typeface="Arial"/>
              </a:defRPr>
            </a:pPr>
            <a:r>
              <a:rPr sz="1238" b="0">
                <a:solidFill>
                  <a:srgbClr val="1D2E3B"/>
                </a:solidFill>
                <a:latin typeface="Arial"/>
                <a:ea typeface="Arial"/>
                <a:cs typeface="Arial"/>
              </a:rPr>
              <a:t>ego speed</a:t>
            </a:r>
          </a:p>
        </p:txBody>
      </p:sp>
      <p:sp>
        <p:nvSpPr>
          <p:cNvPr id="19" name="">
            <a:extLst xmlns:a="http://schemas.openxmlformats.org/drawingml/2006/main">
              <a:ext uri="{FF2B5EF4-FFF2-40B4-BE49-F238E27FC236}">
                <a16:creationId xmlns:a16="http://schemas.microsoft.com/office/drawing/2014/main" id="{3C3E000B-3F76-43C9-861F-3F19A06B7297}"/>
              </a:ext>
            </a:extLst>
          </p:cNvPr>
          <p:cNvSpPr>
            <a:spLocks xmlns:a="http://schemas.openxmlformats.org/drawingml/2006/main" noGrp="1"/>
          </p:cNvSpPr>
          <p:nvPr/>
        </p:nvSpPr>
        <p:spPr>
          <a:xfrm xmlns:a="http://schemas.openxmlformats.org/drawingml/2006/main">
            <a:off x="552450" y="5000625"/>
            <a:ext cx="76200" cy="76200"/>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2A53F9F-ADB7-4434-90AF-6300FBEA24EB}"/>
              </a:ext>
            </a:extLst>
          </p:cNvPr>
          <p:cNvSpPr>
            <a:spLocks xmlns:a="http://schemas.openxmlformats.org/drawingml/2006/main" noGrp="1"/>
          </p:cNvSpPr>
          <p:nvPr/>
        </p:nvSpPr>
        <p:spPr>
          <a:xfrm xmlns:a="http://schemas.openxmlformats.org/drawingml/2006/main">
            <a:off x="762000" y="4905375"/>
            <a:ext cx="445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38" b="0">
                <a:solidFill>
                  <a:srgbClr val="1D2E3B"/>
                </a:solidFill>
                <a:latin typeface="Arial"/>
                <a:ea typeface="Arial"/>
                <a:cs typeface="Arial"/>
              </a:defRPr>
            </a:defPPr>
          </a:lstStyle>
          <a:p xmlns:a="http://schemas.openxmlformats.org/drawingml/2006/main">
            <a:pPr algn="l">
              <a:defRPr sz="1238" b="0">
                <a:solidFill>
                  <a:srgbClr val="1D2E3B"/>
                </a:solidFill>
                <a:latin typeface="Arial"/>
                <a:ea typeface="Arial"/>
                <a:cs typeface="Arial"/>
              </a:defRPr>
            </a:pPr>
            <a:r>
              <a:rPr sz="1238" b="0">
                <a:solidFill>
                  <a:srgbClr val="1D2E3B"/>
                </a:solidFill>
                <a:latin typeface="Arial"/>
                <a:ea typeface="Arial"/>
                <a:cs typeface="Arial"/>
              </a:rPr>
              <a:t>actual ego acceleration</a:t>
            </a:r>
          </a:p>
        </p:txBody>
      </p:sp>
      <p:sp>
        <p:nvSpPr>
          <p:cNvPr id="21" name="">
            <a:extLst xmlns:a="http://schemas.openxmlformats.org/drawingml/2006/main">
              <a:ext uri="{FF2B5EF4-FFF2-40B4-BE49-F238E27FC236}">
                <a16:creationId xmlns:a16="http://schemas.microsoft.com/office/drawing/2014/main" id="{2E10B7E2-0029-4762-82BD-8BA00DC522D5}"/>
              </a:ext>
            </a:extLst>
          </p:cNvPr>
          <p:cNvSpPr>
            <a:spLocks xmlns:a="http://schemas.openxmlformats.org/drawingml/2006/main" noGrp="1"/>
          </p:cNvSpPr>
          <p:nvPr/>
        </p:nvSpPr>
        <p:spPr>
          <a:xfrm xmlns:a="http://schemas.openxmlformats.org/drawingml/2006/main">
            <a:off x="552450" y="5343525"/>
            <a:ext cx="76200" cy="76200"/>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E5C8D4B-C191-4A20-80EE-82983F0CFC26}"/>
              </a:ext>
            </a:extLst>
          </p:cNvPr>
          <p:cNvSpPr>
            <a:spLocks xmlns:a="http://schemas.openxmlformats.org/drawingml/2006/main" noGrp="1"/>
          </p:cNvSpPr>
          <p:nvPr/>
        </p:nvSpPr>
        <p:spPr>
          <a:xfrm xmlns:a="http://schemas.openxmlformats.org/drawingml/2006/main">
            <a:off x="762000" y="5248275"/>
            <a:ext cx="445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38" b="0">
                <a:solidFill>
                  <a:srgbClr val="1D2E3B"/>
                </a:solidFill>
                <a:latin typeface="Arial"/>
                <a:ea typeface="Arial"/>
                <a:cs typeface="Arial"/>
              </a:defRPr>
            </a:defPPr>
          </a:lstStyle>
          <a:p xmlns:a="http://schemas.openxmlformats.org/drawingml/2006/main">
            <a:pPr algn="l">
              <a:defRPr sz="1238" b="0">
                <a:solidFill>
                  <a:srgbClr val="1D2E3B"/>
                </a:solidFill>
                <a:latin typeface="Arial"/>
                <a:ea typeface="Arial"/>
                <a:cs typeface="Arial"/>
              </a:defRPr>
            </a:pPr>
            <a:r>
              <a:rPr sz="1238" b="0">
                <a:solidFill>
                  <a:srgbClr val="1D2E3B"/>
                </a:solidFill>
                <a:latin typeface="Arial"/>
                <a:ea typeface="Arial"/>
                <a:cs typeface="Arial"/>
              </a:rPr>
              <a:t>estimated lead acceleration</a:t>
            </a:r>
          </a:p>
        </p:txBody>
      </p:sp>
      <p:sp>
        <p:nvSpPr>
          <p:cNvPr id="23" name="">
            <a:extLst xmlns:a="http://schemas.openxmlformats.org/drawingml/2006/main">
              <a:ext uri="{FF2B5EF4-FFF2-40B4-BE49-F238E27FC236}">
                <a16:creationId xmlns:a16="http://schemas.microsoft.com/office/drawing/2014/main" id="{0BB24FB8-E4A3-4D41-BC70-8DFF352F8236}"/>
              </a:ext>
            </a:extLst>
          </p:cNvPr>
          <p:cNvSpPr>
            <a:spLocks xmlns:a="http://schemas.openxmlformats.org/drawingml/2006/main" noGrp="1"/>
          </p:cNvSpPr>
          <p:nvPr/>
        </p:nvSpPr>
        <p:spPr>
          <a:xfrm xmlns:a="http://schemas.openxmlformats.org/drawingml/2006/main">
            <a:off x="6248400" y="3457575"/>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1D2E3B"/>
                </a:solidFill>
                <a:latin typeface="Arial"/>
                <a:ea typeface="Arial"/>
                <a:cs typeface="Arial"/>
              </a:defRPr>
            </a:defPPr>
          </a:lstStyle>
          <a:p xmlns:a="http://schemas.openxmlformats.org/drawingml/2006/main">
            <a:pPr algn="l">
              <a:defRPr sz="1500" b="1">
                <a:solidFill>
                  <a:srgbClr val="1D2E3B"/>
                </a:solidFill>
                <a:latin typeface="Arial"/>
                <a:ea typeface="Arial"/>
                <a:cs typeface="Arial"/>
              </a:defRPr>
            </a:pPr>
            <a:r>
              <a:rPr sz="1500" b="1">
                <a:solidFill>
                  <a:srgbClr val="1D2E3B"/>
                </a:solidFill>
                <a:latin typeface="Arial"/>
                <a:ea typeface="Arial"/>
                <a:cs typeface="Arial"/>
              </a:rPr>
              <a:t>Seven residual actions</a:t>
            </a:r>
          </a:p>
        </p:txBody>
      </p:sp>
      <p:sp>
        <p:nvSpPr>
          <p:cNvPr id="24" name="">
            <a:extLst xmlns:a="http://schemas.openxmlformats.org/drawingml/2006/main">
              <a:ext uri="{FF2B5EF4-FFF2-40B4-BE49-F238E27FC236}">
                <a16:creationId xmlns:a16="http://schemas.microsoft.com/office/drawing/2014/main" id="{5174F278-1D03-40AF-BB5D-CD443B499236}"/>
              </a:ext>
            </a:extLst>
          </p:cNvPr>
          <p:cNvSpPr>
            <a:spLocks xmlns:a="http://schemas.openxmlformats.org/drawingml/2006/main" noGrp="1"/>
          </p:cNvSpPr>
          <p:nvPr/>
        </p:nvSpPr>
        <p:spPr>
          <a:xfrm xmlns:a="http://schemas.openxmlformats.org/drawingml/2006/main">
            <a:off x="6248400" y="3867150"/>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87C75"/>
                </a:solidFill>
                <a:latin typeface="Arial"/>
                <a:ea typeface="Arial"/>
                <a:cs typeface="Arial"/>
              </a:defRPr>
            </a:defPPr>
          </a:lstStyle>
          <a:p xmlns:a="http://schemas.openxmlformats.org/drawingml/2006/main">
            <a:pPr algn="l">
              <a:defRPr sz="1500" b="1">
                <a:solidFill>
                  <a:srgbClr val="087C75"/>
                </a:solidFill>
                <a:latin typeface="Arial"/>
                <a:ea typeface="Arial"/>
                <a:cs typeface="Arial"/>
              </a:defRPr>
            </a:pPr>
            <a:r>
              <a:rPr sz="1500" b="1">
                <a:solidFill>
                  <a:srgbClr val="087C75"/>
                </a:solidFill>
                <a:latin typeface="Arial"/>
                <a:ea typeface="Arial"/>
                <a:cs typeface="Arial"/>
              </a:rPr>
              <a:t>−1.2  −0.6  −0.25  0  +0.25  +0.6  +1.2 m/s²</a:t>
            </a:r>
          </a:p>
        </p:txBody>
      </p:sp>
      <p:sp>
        <p:nvSpPr>
          <p:cNvPr id="25" name="">
            <a:extLst xmlns:a="http://schemas.openxmlformats.org/drawingml/2006/main">
              <a:ext uri="{FF2B5EF4-FFF2-40B4-BE49-F238E27FC236}">
                <a16:creationId xmlns:a16="http://schemas.microsoft.com/office/drawing/2014/main" id="{ED718C92-E195-40A1-8C9C-D31C68FC0921}"/>
              </a:ext>
            </a:extLst>
          </p:cNvPr>
          <p:cNvSpPr>
            <a:spLocks xmlns:a="http://schemas.openxmlformats.org/drawingml/2006/main" noGrp="1"/>
          </p:cNvSpPr>
          <p:nvPr/>
        </p:nvSpPr>
        <p:spPr>
          <a:xfrm xmlns:a="http://schemas.openxmlformats.org/drawingml/2006/main">
            <a:off x="6248400" y="4533900"/>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667A8A"/>
                </a:solidFill>
                <a:latin typeface="Arial"/>
                <a:ea typeface="Arial"/>
                <a:cs typeface="Arial"/>
              </a:defRPr>
            </a:defPPr>
          </a:lstStyle>
          <a:p xmlns:a="http://schemas.openxmlformats.org/drawingml/2006/main">
            <a:pPr algn="l">
              <a:defRPr sz="1350" b="0">
                <a:solidFill>
                  <a:srgbClr val="667A8A"/>
                </a:solidFill>
                <a:latin typeface="Arial"/>
                <a:ea typeface="Arial"/>
                <a:cs typeface="Arial"/>
              </a:defRPr>
            </a:pPr>
            <a:r>
              <a:rPr sz="1350" b="0">
                <a:solidFill>
                  <a:srgbClr val="667A8A"/>
                </a:solidFill>
                <a:latin typeface="Arial"/>
                <a:ea typeface="Arial"/>
                <a:cs typeface="Arial"/>
              </a:rPr>
              <a:t>6,000 episodes  ·  α = 0.12  ·  γ = 0.985</a:t>
            </a:r>
          </a:p>
        </p:txBody>
      </p:sp>
      <p:sp>
        <p:nvSpPr>
          <p:cNvPr id="26" name="">
            <a:extLst xmlns:a="http://schemas.openxmlformats.org/drawingml/2006/main">
              <a:ext uri="{FF2B5EF4-FFF2-40B4-BE49-F238E27FC236}">
                <a16:creationId xmlns:a16="http://schemas.microsoft.com/office/drawing/2014/main" id="{C1767103-98A0-470C-9D4C-7FB790BFAE0D}"/>
              </a:ext>
            </a:extLst>
          </p:cNvPr>
          <p:cNvSpPr>
            <a:spLocks xmlns:a="http://schemas.openxmlformats.org/drawingml/2006/main" noGrp="1"/>
          </p:cNvSpPr>
          <p:nvPr/>
        </p:nvSpPr>
        <p:spPr>
          <a:xfrm xmlns:a="http://schemas.openxmlformats.org/drawingml/2006/main">
            <a:off x="6248400" y="4953000"/>
            <a:ext cx="5048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1D2E3B"/>
                </a:solidFill>
                <a:latin typeface="Arial"/>
                <a:ea typeface="Arial"/>
                <a:cs typeface="Arial"/>
              </a:defRPr>
            </a:defPPr>
          </a:lstStyle>
          <a:p xmlns:a="http://schemas.openxmlformats.org/drawingml/2006/main">
            <a:pPr algn="l">
              <a:defRPr sz="1275" b="0">
                <a:solidFill>
                  <a:srgbClr val="1D2E3B"/>
                </a:solidFill>
                <a:latin typeface="Arial"/>
                <a:ea typeface="Arial"/>
                <a:cs typeface="Arial"/>
              </a:defRPr>
            </a:pPr>
            <a:r>
              <a:rPr sz="1275" b="0">
                <a:solidFill>
                  <a:srgbClr val="1D2E3B"/>
                </a:solidFill>
                <a:latin typeface="Arial"/>
                <a:ea typeface="Arial"/>
                <a:cs typeface="Arial"/>
              </a:rPr>
              <a:t>The reward penalizes gap error, relative speed, acceleration, jerk, negative braking margin and collision.</a:t>
            </a:r>
          </a:p>
        </p:txBody>
      </p:sp>
    </p:spTree>
    <p:extLst>
      <p:ext uri="{BB962C8B-B14F-4D97-AF65-F5344CB8AC3E}">
        <p14:creationId xmlns:p14="http://schemas.microsoft.com/office/powerpoint/2010/main" val="2136943404"/>
      </p:ext>
    </p:extLst>
  </p:cSld>
</p:sld>
</file>

<file path=ppt/slides/slide7.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8064280-2F40-4409-8FCD-8828BA9389D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6AF970-5A2C-4C6D-B52C-A972769A41D4}"/>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06 · EVALUATION PROTOCOL</a:t>
            </a:r>
          </a:p>
        </p:txBody>
      </p:sp>
      <p:sp>
        <p:nvSpPr>
          <p:cNvPr id="3" name="slide-7-title">
            <a:extLst xmlns:a="http://schemas.openxmlformats.org/drawingml/2006/main">
              <a:ext uri="{FF2B5EF4-FFF2-40B4-BE49-F238E27FC236}">
                <a16:creationId xmlns:a16="http://schemas.microsoft.com/office/drawing/2014/main" id="{C09786B4-5147-4FD5-AC67-6C5A726A4A36}"/>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437"/>
                </a:solidFill>
                <a:latin typeface="Arial"/>
                <a:ea typeface="Arial"/>
                <a:cs typeface="Arial"/>
              </a:defRPr>
            </a:defPPr>
          </a:lstStyle>
          <a:p xmlns:a="http://schemas.openxmlformats.org/drawingml/2006/main">
            <a:pPr algn="l">
              <a:defRPr sz="2250" b="1">
                <a:solidFill>
                  <a:srgbClr val="102437"/>
                </a:solidFill>
                <a:latin typeface="Arial"/>
                <a:ea typeface="Arial"/>
                <a:cs typeface="Arial"/>
              </a:defRPr>
            </a:pPr>
            <a:r>
              <a:rPr sz="2250" b="1">
                <a:solidFill>
                  <a:srgbClr val="102437"/>
                </a:solidFill>
                <a:latin typeface="Arial"/>
                <a:ea typeface="Arial"/>
                <a:cs typeface="Arial"/>
              </a:rPr>
              <a:t>Five scenario families, 50 matched seeds each, four controllers.</a:t>
            </a:r>
          </a:p>
        </p:txBody>
      </p:sp>
      <p:sp>
        <p:nvSpPr>
          <p:cNvPr id="4" name="">
            <a:extLst xmlns:a="http://schemas.openxmlformats.org/drawingml/2006/main">
              <a:ext uri="{FF2B5EF4-FFF2-40B4-BE49-F238E27FC236}">
                <a16:creationId xmlns:a16="http://schemas.microsoft.com/office/drawing/2014/main" id="{D312DE89-13E8-49BD-AE87-A17E935AC768}"/>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95934BD0-BADD-4154-BD96-95B249301A0E}"/>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5A36014E-47A8-482C-A022-9596B04049F3}"/>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1841E7CA-F0ED-4A34-83FE-44E76A152AB6}"/>
              </a:ext>
            </a:extLst>
          </p:cNvPr>
          <p:cNvSpPr>
            <a:spLocks xmlns:a="http://schemas.openxmlformats.org/drawingml/2006/main" noGrp="1"/>
          </p:cNvSpPr>
          <p:nvPr/>
        </p:nvSpPr>
        <p:spPr>
          <a:xfrm xmlns:a="http://schemas.openxmlformats.org/drawingml/2006/main">
            <a:off x="552450" y="1476375"/>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TRAINING</a:t>
            </a:r>
          </a:p>
        </p:txBody>
      </p:sp>
      <p:sp>
        <p:nvSpPr>
          <p:cNvPr id="8" name="">
            <a:extLst xmlns:a="http://schemas.openxmlformats.org/drawingml/2006/main">
              <a:ext uri="{FF2B5EF4-FFF2-40B4-BE49-F238E27FC236}">
                <a16:creationId xmlns:a16="http://schemas.microsoft.com/office/drawing/2014/main" id="{77CF44F3-EF58-424C-A1F6-81C3AB30FF1B}"/>
              </a:ext>
            </a:extLst>
          </p:cNvPr>
          <p:cNvSpPr>
            <a:spLocks xmlns:a="http://schemas.openxmlformats.org/drawingml/2006/main" noGrp="1"/>
          </p:cNvSpPr>
          <p:nvPr/>
        </p:nvSpPr>
        <p:spPr>
          <a:xfrm xmlns:a="http://schemas.openxmlformats.org/drawingml/2006/main">
            <a:off x="552450" y="1809750"/>
            <a:ext cx="276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437"/>
                </a:solidFill>
                <a:latin typeface="Arial"/>
                <a:ea typeface="Arial"/>
                <a:cs typeface="Arial"/>
              </a:defRPr>
            </a:defPPr>
          </a:lstStyle>
          <a:p xmlns:a="http://schemas.openxmlformats.org/drawingml/2006/main">
            <a:pPr algn="l">
              <a:defRPr sz="2250" b="1">
                <a:solidFill>
                  <a:srgbClr val="102437"/>
                </a:solidFill>
                <a:latin typeface="Arial"/>
                <a:ea typeface="Arial"/>
                <a:cs typeface="Arial"/>
              </a:defRPr>
            </a:pPr>
            <a:r>
              <a:rPr sz="2250" b="1">
                <a:solidFill>
                  <a:srgbClr val="102437"/>
                </a:solidFill>
                <a:latin typeface="Arial"/>
                <a:ea typeface="Arial"/>
                <a:cs typeface="Arial"/>
              </a:rPr>
              <a:t>6,000 episodes</a:t>
            </a:r>
          </a:p>
        </p:txBody>
      </p:sp>
      <p:sp>
        <p:nvSpPr>
          <p:cNvPr id="9" name="">
            <a:extLst xmlns:a="http://schemas.openxmlformats.org/drawingml/2006/main">
              <a:ext uri="{FF2B5EF4-FFF2-40B4-BE49-F238E27FC236}">
                <a16:creationId xmlns:a16="http://schemas.microsoft.com/office/drawing/2014/main" id="{C198A0B4-799F-418F-9594-0F184A3F81DE}"/>
              </a:ext>
            </a:extLst>
          </p:cNvPr>
          <p:cNvSpPr>
            <a:spLocks xmlns:a="http://schemas.openxmlformats.org/drawingml/2006/main" noGrp="1"/>
          </p:cNvSpPr>
          <p:nvPr/>
        </p:nvSpPr>
        <p:spPr>
          <a:xfrm xmlns:a="http://schemas.openxmlformats.org/drawingml/2006/main">
            <a:off x="552450" y="2295525"/>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667A8A"/>
                </a:solidFill>
                <a:latin typeface="Arial"/>
                <a:ea typeface="Arial"/>
                <a:cs typeface="Arial"/>
              </a:defRPr>
            </a:defPPr>
          </a:lstStyle>
          <a:p xmlns:a="http://schemas.openxmlformats.org/drawingml/2006/main">
            <a:pPr algn="l">
              <a:defRPr sz="1275" b="0">
                <a:solidFill>
                  <a:srgbClr val="667A8A"/>
                </a:solidFill>
                <a:latin typeface="Arial"/>
                <a:ea typeface="Arial"/>
                <a:cs typeface="Arial"/>
              </a:defRPr>
            </a:pPr>
            <a:r>
              <a:rPr sz="1275" b="0">
                <a:solidFill>
                  <a:srgbClr val="667A8A"/>
                </a:solidFill>
                <a:latin typeface="Arial"/>
                <a:ea typeface="Arial"/>
                <a:cs typeface="Arial"/>
              </a:rPr>
              <a:t>steady · smooth wave · moderate brake</a:t>
            </a:r>
          </a:p>
        </p:txBody>
      </p:sp>
      <p:sp>
        <p:nvSpPr>
          <p:cNvPr id="10" name="">
            <a:extLst xmlns:a="http://schemas.openxmlformats.org/drawingml/2006/main">
              <a:ext uri="{FF2B5EF4-FFF2-40B4-BE49-F238E27FC236}">
                <a16:creationId xmlns:a16="http://schemas.microsoft.com/office/drawing/2014/main" id="{B665F02E-64CD-4216-9094-74D456D33F6A}"/>
              </a:ext>
            </a:extLst>
          </p:cNvPr>
          <p:cNvSpPr>
            <a:spLocks xmlns:a="http://schemas.openxmlformats.org/drawingml/2006/main" noGrp="1"/>
          </p:cNvSpPr>
          <p:nvPr/>
        </p:nvSpPr>
        <p:spPr>
          <a:xfrm xmlns:a="http://schemas.openxmlformats.org/drawingml/2006/main">
            <a:off x="4000500" y="1485900"/>
            <a:ext cx="0" cy="4133850"/>
          </a:xfrm>
          <a:prstGeom xmlns:a="http://schemas.openxmlformats.org/drawingml/2006/main" prst="line">
            <a:avLst/>
          </a:prstGeom>
          <a:noFill xmlns:a="http://schemas.openxmlformats.org/drawingml/2006/main"/>
          <a:ln xmlns:a="http://schemas.openxmlformats.org/drawingml/2006/main" w="13335">
            <a:solidFill>
              <a:srgbClr val="D8E1E7"/>
            </a:solidFill>
            <a:prstDash val="solid"/>
          </a:ln>
        </p:spPr>
      </p:sp>
      <p:sp>
        <p:nvSpPr>
          <p:cNvPr id="11" name="">
            <a:extLst xmlns:a="http://schemas.openxmlformats.org/drawingml/2006/main">
              <a:ext uri="{FF2B5EF4-FFF2-40B4-BE49-F238E27FC236}">
                <a16:creationId xmlns:a16="http://schemas.microsoft.com/office/drawing/2014/main" id="{116F818C-5266-45C0-A9AE-8897C92744F0}"/>
              </a:ext>
            </a:extLst>
          </p:cNvPr>
          <p:cNvSpPr>
            <a:spLocks xmlns:a="http://schemas.openxmlformats.org/drawingml/2006/main" noGrp="1"/>
          </p:cNvSpPr>
          <p:nvPr/>
        </p:nvSpPr>
        <p:spPr>
          <a:xfrm xmlns:a="http://schemas.openxmlformats.org/drawingml/2006/main">
            <a:off x="4514850" y="1476375"/>
            <a:ext cx="2571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IN-DISTRIBUTION</a:t>
            </a:r>
          </a:p>
        </p:txBody>
      </p:sp>
      <p:sp>
        <p:nvSpPr>
          <p:cNvPr id="12" name="">
            <a:extLst xmlns:a="http://schemas.openxmlformats.org/drawingml/2006/main">
              <a:ext uri="{FF2B5EF4-FFF2-40B4-BE49-F238E27FC236}">
                <a16:creationId xmlns:a16="http://schemas.microsoft.com/office/drawing/2014/main" id="{E2A80BBF-B723-4131-A538-618A4D352964}"/>
              </a:ext>
            </a:extLst>
          </p:cNvPr>
          <p:cNvSpPr>
            <a:spLocks xmlns:a="http://schemas.openxmlformats.org/drawingml/2006/main" noGrp="1"/>
          </p:cNvSpPr>
          <p:nvPr/>
        </p:nvSpPr>
        <p:spPr>
          <a:xfrm xmlns:a="http://schemas.openxmlformats.org/drawingml/2006/main">
            <a:off x="4514850" y="1809750"/>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437"/>
                </a:solidFill>
                <a:latin typeface="Arial"/>
                <a:ea typeface="Arial"/>
                <a:cs typeface="Arial"/>
              </a:defRPr>
            </a:defPPr>
          </a:lstStyle>
          <a:p xmlns:a="http://schemas.openxmlformats.org/drawingml/2006/main">
            <a:pPr algn="l">
              <a:defRPr sz="2250" b="1">
                <a:solidFill>
                  <a:srgbClr val="102437"/>
                </a:solidFill>
                <a:latin typeface="Arial"/>
                <a:ea typeface="Arial"/>
                <a:cs typeface="Arial"/>
              </a:defRPr>
            </a:pPr>
            <a:r>
              <a:rPr sz="2250" b="1">
                <a:solidFill>
                  <a:srgbClr val="102437"/>
                </a:solidFill>
                <a:latin typeface="Arial"/>
                <a:ea typeface="Arial"/>
                <a:cs typeface="Arial"/>
              </a:rPr>
              <a:t>3 scenarios</a:t>
            </a:r>
          </a:p>
        </p:txBody>
      </p:sp>
      <p:sp>
        <p:nvSpPr>
          <p:cNvPr id="13" name="">
            <a:extLst xmlns:a="http://schemas.openxmlformats.org/drawingml/2006/main">
              <a:ext uri="{FF2B5EF4-FFF2-40B4-BE49-F238E27FC236}">
                <a16:creationId xmlns:a16="http://schemas.microsoft.com/office/drawing/2014/main" id="{D371EFAB-E3DA-4C8E-9F12-8546EE47A194}"/>
              </a:ext>
            </a:extLst>
          </p:cNvPr>
          <p:cNvSpPr>
            <a:spLocks xmlns:a="http://schemas.openxmlformats.org/drawingml/2006/main" noGrp="1"/>
          </p:cNvSpPr>
          <p:nvPr/>
        </p:nvSpPr>
        <p:spPr>
          <a:xfrm xmlns:a="http://schemas.openxmlformats.org/drawingml/2006/main">
            <a:off x="4514850" y="229552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667A8A"/>
                </a:solidFill>
                <a:latin typeface="Arial"/>
                <a:ea typeface="Arial"/>
                <a:cs typeface="Arial"/>
              </a:defRPr>
            </a:defPPr>
          </a:lstStyle>
          <a:p xmlns:a="http://schemas.openxmlformats.org/drawingml/2006/main">
            <a:pPr algn="l">
              <a:defRPr sz="1275" b="0">
                <a:solidFill>
                  <a:srgbClr val="667A8A"/>
                </a:solidFill>
                <a:latin typeface="Arial"/>
                <a:ea typeface="Arial"/>
                <a:cs typeface="Arial"/>
              </a:defRPr>
            </a:pPr>
            <a:r>
              <a:rPr sz="1275" b="0">
                <a:solidFill>
                  <a:srgbClr val="667A8A"/>
                </a:solidFill>
                <a:latin typeface="Arial"/>
                <a:ea typeface="Arial"/>
                <a:cs typeface="Arial"/>
              </a:rPr>
              <a:t>steady · wave · brake</a:t>
            </a:r>
          </a:p>
        </p:txBody>
      </p:sp>
      <p:sp>
        <p:nvSpPr>
          <p:cNvPr id="14" name="">
            <a:extLst xmlns:a="http://schemas.openxmlformats.org/drawingml/2006/main">
              <a:ext uri="{FF2B5EF4-FFF2-40B4-BE49-F238E27FC236}">
                <a16:creationId xmlns:a16="http://schemas.microsoft.com/office/drawing/2014/main" id="{E0C1EB79-AE9D-4E6A-B96A-FA9C75192156}"/>
              </a:ext>
            </a:extLst>
          </p:cNvPr>
          <p:cNvSpPr>
            <a:spLocks xmlns:a="http://schemas.openxmlformats.org/drawingml/2006/main" noGrp="1"/>
          </p:cNvSpPr>
          <p:nvPr/>
        </p:nvSpPr>
        <p:spPr>
          <a:xfrm xmlns:a="http://schemas.openxmlformats.org/drawingml/2006/main">
            <a:off x="7743825" y="1485900"/>
            <a:ext cx="0" cy="4133850"/>
          </a:xfrm>
          <a:prstGeom xmlns:a="http://schemas.openxmlformats.org/drawingml/2006/main" prst="line">
            <a:avLst/>
          </a:prstGeom>
          <a:noFill xmlns:a="http://schemas.openxmlformats.org/drawingml/2006/main"/>
          <a:ln xmlns:a="http://schemas.openxmlformats.org/drawingml/2006/main" w="13335">
            <a:solidFill>
              <a:srgbClr val="D8E1E7"/>
            </a:solidFill>
            <a:prstDash val="solid"/>
          </a:ln>
        </p:spPr>
      </p:sp>
      <p:sp>
        <p:nvSpPr>
          <p:cNvPr id="15" name="">
            <a:extLst xmlns:a="http://schemas.openxmlformats.org/drawingml/2006/main">
              <a:ext uri="{FF2B5EF4-FFF2-40B4-BE49-F238E27FC236}">
                <a16:creationId xmlns:a16="http://schemas.microsoft.com/office/drawing/2014/main" id="{7E8A75AD-756D-479E-8897-248BD0C6FE22}"/>
              </a:ext>
            </a:extLst>
          </p:cNvPr>
          <p:cNvSpPr>
            <a:spLocks xmlns:a="http://schemas.openxmlformats.org/drawingml/2006/main" noGrp="1"/>
          </p:cNvSpPr>
          <p:nvPr/>
        </p:nvSpPr>
        <p:spPr>
          <a:xfrm xmlns:a="http://schemas.openxmlformats.org/drawingml/2006/main">
            <a:off x="8229600" y="1476375"/>
            <a:ext cx="2571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D98F32"/>
                </a:solidFill>
                <a:latin typeface="Arial"/>
                <a:ea typeface="Arial"/>
                <a:cs typeface="Arial"/>
              </a:defRPr>
            </a:defPPr>
          </a:lstStyle>
          <a:p xmlns:a="http://schemas.openxmlformats.org/drawingml/2006/main">
            <a:pPr algn="l">
              <a:defRPr sz="975" b="1">
                <a:solidFill>
                  <a:srgbClr val="D98F32"/>
                </a:solidFill>
                <a:latin typeface="Arial"/>
                <a:ea typeface="Arial"/>
                <a:cs typeface="Arial"/>
              </a:defRPr>
            </a:pPr>
            <a:r>
              <a:rPr sz="975" b="1">
                <a:solidFill>
                  <a:srgbClr val="D98F32"/>
                </a:solidFill>
                <a:latin typeface="Arial"/>
                <a:ea typeface="Arial"/>
                <a:cs typeface="Arial"/>
              </a:rPr>
              <a:t>HOLDOUT</a:t>
            </a:r>
          </a:p>
        </p:txBody>
      </p:sp>
      <p:sp>
        <p:nvSpPr>
          <p:cNvPr id="16" name="">
            <a:extLst xmlns:a="http://schemas.openxmlformats.org/drawingml/2006/main">
              <a:ext uri="{FF2B5EF4-FFF2-40B4-BE49-F238E27FC236}">
                <a16:creationId xmlns:a16="http://schemas.microsoft.com/office/drawing/2014/main" id="{801E9701-BDEA-442F-8C43-84272019361A}"/>
              </a:ext>
            </a:extLst>
          </p:cNvPr>
          <p:cNvSpPr>
            <a:spLocks xmlns:a="http://schemas.openxmlformats.org/drawingml/2006/main" noGrp="1"/>
          </p:cNvSpPr>
          <p:nvPr/>
        </p:nvSpPr>
        <p:spPr>
          <a:xfrm xmlns:a="http://schemas.openxmlformats.org/drawingml/2006/main">
            <a:off x="8229600" y="1809750"/>
            <a:ext cx="2571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437"/>
                </a:solidFill>
                <a:latin typeface="Arial"/>
                <a:ea typeface="Arial"/>
                <a:cs typeface="Arial"/>
              </a:defRPr>
            </a:defPPr>
          </a:lstStyle>
          <a:p xmlns:a="http://schemas.openxmlformats.org/drawingml/2006/main">
            <a:pPr algn="l">
              <a:defRPr sz="2250" b="1">
                <a:solidFill>
                  <a:srgbClr val="102437"/>
                </a:solidFill>
                <a:latin typeface="Arial"/>
                <a:ea typeface="Arial"/>
                <a:cs typeface="Arial"/>
              </a:defRPr>
            </a:pPr>
            <a:r>
              <a:rPr sz="2250" b="1">
                <a:solidFill>
                  <a:srgbClr val="102437"/>
                </a:solidFill>
                <a:latin typeface="Arial"/>
                <a:ea typeface="Arial"/>
                <a:cs typeface="Arial"/>
              </a:rPr>
              <a:t>2 stresses</a:t>
            </a:r>
          </a:p>
        </p:txBody>
      </p:sp>
      <p:sp>
        <p:nvSpPr>
          <p:cNvPr id="17" name="">
            <a:extLst xmlns:a="http://schemas.openxmlformats.org/drawingml/2006/main">
              <a:ext uri="{FF2B5EF4-FFF2-40B4-BE49-F238E27FC236}">
                <a16:creationId xmlns:a16="http://schemas.microsoft.com/office/drawing/2014/main" id="{0DF04DDA-5A1C-41EB-BB43-108D672ECE64}"/>
              </a:ext>
            </a:extLst>
          </p:cNvPr>
          <p:cNvSpPr>
            <a:spLocks xmlns:a="http://schemas.openxmlformats.org/drawingml/2006/main" noGrp="1"/>
          </p:cNvSpPr>
          <p:nvPr/>
        </p:nvSpPr>
        <p:spPr>
          <a:xfrm xmlns:a="http://schemas.openxmlformats.org/drawingml/2006/main">
            <a:off x="8229600" y="2295525"/>
            <a:ext cx="304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667A8A"/>
                </a:solidFill>
                <a:latin typeface="Arial"/>
                <a:ea typeface="Arial"/>
                <a:cs typeface="Arial"/>
              </a:defRPr>
            </a:defPPr>
          </a:lstStyle>
          <a:p xmlns:a="http://schemas.openxmlformats.org/drawingml/2006/main">
            <a:pPr algn="l">
              <a:defRPr sz="1275" b="0">
                <a:solidFill>
                  <a:srgbClr val="667A8A"/>
                </a:solidFill>
                <a:latin typeface="Arial"/>
                <a:ea typeface="Arial"/>
                <a:cs typeface="Arial"/>
              </a:defRPr>
            </a:pPr>
            <a:r>
              <a:rPr sz="1275" b="0">
                <a:solidFill>
                  <a:srgbClr val="667A8A"/>
                </a:solidFill>
                <a:latin typeface="Arial"/>
                <a:ea typeface="Arial"/>
                <a:cs typeface="Arial"/>
              </a:rPr>
              <a:t>synthetic gap drop + brake</a:t>
            </a:r>
          </a:p>
          <a:p xmlns:a="http://schemas.openxmlformats.org/drawingml/2006/main">
            <a:pPr algn="l">
              <a:defRPr sz="1275" b="0">
                <a:solidFill>
                  <a:srgbClr val="667A8A"/>
                </a:solidFill>
                <a:latin typeface="Arial"/>
                <a:ea typeface="Arial"/>
                <a:cs typeface="Arial"/>
              </a:defRPr>
            </a:pPr>
            <a:r>
              <a:rPr sz="1275" b="0">
                <a:solidFill>
                  <a:srgbClr val="667A8A"/>
                </a:solidFill>
                <a:latin typeface="Arial"/>
                <a:ea typeface="Arial"/>
                <a:cs typeface="Arial"/>
              </a:rPr>
              <a:t>higher-speed emergency brake</a:t>
            </a:r>
          </a:p>
        </p:txBody>
      </p:sp>
      <p:sp>
        <p:nvSpPr>
          <p:cNvPr id="18" name="">
            <a:extLst xmlns:a="http://schemas.openxmlformats.org/drawingml/2006/main">
              <a:ext uri="{FF2B5EF4-FFF2-40B4-BE49-F238E27FC236}">
                <a16:creationId xmlns:a16="http://schemas.microsoft.com/office/drawing/2014/main" id="{FAEC7F91-5A06-44EA-97BB-3ADF493FB09B}"/>
              </a:ext>
            </a:extLst>
          </p:cNvPr>
          <p:cNvSpPr>
            <a:spLocks xmlns:a="http://schemas.openxmlformats.org/drawingml/2006/main" noGrp="1"/>
          </p:cNvSpPr>
          <p:nvPr/>
        </p:nvSpPr>
        <p:spPr>
          <a:xfrm xmlns:a="http://schemas.openxmlformats.org/drawingml/2006/main">
            <a:off x="552450" y="3352800"/>
            <a:ext cx="11068050" cy="0"/>
          </a:xfrm>
          <a:prstGeom xmlns:a="http://schemas.openxmlformats.org/drawingml/2006/main" prst="line">
            <a:avLst/>
          </a:prstGeom>
          <a:noFill xmlns:a="http://schemas.openxmlformats.org/drawingml/2006/main"/>
          <a:ln xmlns:a="http://schemas.openxmlformats.org/drawingml/2006/main" w="11430">
            <a:solidFill>
              <a:srgbClr val="D8E1E7"/>
            </a:solidFill>
            <a:prstDash val="solid"/>
          </a:ln>
        </p:spPr>
      </p:sp>
      <p:sp>
        <p:nvSpPr>
          <p:cNvPr id="19" name="">
            <a:extLst xmlns:a="http://schemas.openxmlformats.org/drawingml/2006/main">
              <a:ext uri="{FF2B5EF4-FFF2-40B4-BE49-F238E27FC236}">
                <a16:creationId xmlns:a16="http://schemas.microsoft.com/office/drawing/2014/main" id="{9FD483C7-C340-4706-8480-F856D4F51668}"/>
              </a:ext>
            </a:extLst>
          </p:cNvPr>
          <p:cNvSpPr>
            <a:spLocks xmlns:a="http://schemas.openxmlformats.org/drawingml/2006/main" noGrp="1"/>
          </p:cNvSpPr>
          <p:nvPr/>
        </p:nvSpPr>
        <p:spPr>
          <a:xfrm xmlns:a="http://schemas.openxmlformats.org/drawingml/2006/main">
            <a:off x="552450" y="3838575"/>
            <a:ext cx="76200" cy="400050"/>
          </a:xfrm>
          <a:prstGeom xmlns:a="http://schemas.openxmlformats.org/drawingml/2006/main" prst="rect">
            <a:avLst/>
          </a:prstGeom>
          <a:solidFill xmlns:a="http://schemas.openxmlformats.org/drawingml/2006/main">
            <a:srgbClr val="3F799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490A9D4-C3BB-4802-B6A0-74768CBB5AC7}"/>
              </a:ext>
            </a:extLst>
          </p:cNvPr>
          <p:cNvSpPr>
            <a:spLocks xmlns:a="http://schemas.openxmlformats.org/drawingml/2006/main" noGrp="1"/>
          </p:cNvSpPr>
          <p:nvPr/>
        </p:nvSpPr>
        <p:spPr>
          <a:xfrm xmlns:a="http://schemas.openxmlformats.org/drawingml/2006/main">
            <a:off x="742950" y="3857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D2E3B"/>
                </a:solidFill>
                <a:latin typeface="Arial"/>
                <a:ea typeface="Arial"/>
                <a:cs typeface="Arial"/>
              </a:defRPr>
            </a:defPPr>
          </a:lstStyle>
          <a:p xmlns:a="http://schemas.openxmlformats.org/drawingml/2006/main">
            <a:pPr algn="l">
              <a:defRPr sz="1650" b="1">
                <a:solidFill>
                  <a:srgbClr val="1D2E3B"/>
                </a:solidFill>
                <a:latin typeface="Arial"/>
                <a:ea typeface="Arial"/>
                <a:cs typeface="Arial"/>
              </a:defRPr>
            </a:pPr>
            <a:r>
              <a:rPr sz="1650" b="1">
                <a:solidFill>
                  <a:srgbClr val="1D2E3B"/>
                </a:solidFill>
                <a:latin typeface="Arial"/>
                <a:ea typeface="Arial"/>
                <a:cs typeface="Arial"/>
              </a:rPr>
              <a:t>CTG-PID</a:t>
            </a:r>
          </a:p>
        </p:txBody>
      </p:sp>
      <p:sp>
        <p:nvSpPr>
          <p:cNvPr id="21" name="">
            <a:extLst xmlns:a="http://schemas.openxmlformats.org/drawingml/2006/main">
              <a:ext uri="{FF2B5EF4-FFF2-40B4-BE49-F238E27FC236}">
                <a16:creationId xmlns:a16="http://schemas.microsoft.com/office/drawing/2014/main" id="{4C8296B4-3A04-4602-905B-5B0443871CC5}"/>
              </a:ext>
            </a:extLst>
          </p:cNvPr>
          <p:cNvSpPr>
            <a:spLocks xmlns:a="http://schemas.openxmlformats.org/drawingml/2006/main" noGrp="1"/>
          </p:cNvSpPr>
          <p:nvPr/>
        </p:nvSpPr>
        <p:spPr>
          <a:xfrm xmlns:a="http://schemas.openxmlformats.org/drawingml/2006/main">
            <a:off x="3324225" y="3838575"/>
            <a:ext cx="76200" cy="400050"/>
          </a:xfrm>
          <a:prstGeom xmlns:a="http://schemas.openxmlformats.org/drawingml/2006/main" prst="rect">
            <a:avLst/>
          </a:prstGeom>
          <a:solidFill xmlns:a="http://schemas.openxmlformats.org/drawingml/2006/main">
            <a:srgbClr val="D98F3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372451-9AAE-41CA-8A61-77A6C29E85DA}"/>
              </a:ext>
            </a:extLst>
          </p:cNvPr>
          <p:cNvSpPr>
            <a:spLocks xmlns:a="http://schemas.openxmlformats.org/drawingml/2006/main" noGrp="1"/>
          </p:cNvSpPr>
          <p:nvPr/>
        </p:nvSpPr>
        <p:spPr>
          <a:xfrm xmlns:a="http://schemas.openxmlformats.org/drawingml/2006/main">
            <a:off x="3514725" y="3857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D2E3B"/>
                </a:solidFill>
                <a:latin typeface="Arial"/>
                <a:ea typeface="Arial"/>
                <a:cs typeface="Arial"/>
              </a:defRPr>
            </a:defPPr>
          </a:lstStyle>
          <a:p xmlns:a="http://schemas.openxmlformats.org/drawingml/2006/main">
            <a:pPr algn="l">
              <a:defRPr sz="1650" b="1">
                <a:solidFill>
                  <a:srgbClr val="1D2E3B"/>
                </a:solidFill>
                <a:latin typeface="Arial"/>
                <a:ea typeface="Arial"/>
                <a:cs typeface="Arial"/>
              </a:defRPr>
            </a:pPr>
            <a:r>
              <a:rPr sz="1650" b="1">
                <a:solidFill>
                  <a:srgbClr val="1D2E3B"/>
                </a:solidFill>
                <a:latin typeface="Arial"/>
                <a:ea typeface="Arial"/>
                <a:cs typeface="Arial"/>
              </a:rPr>
              <a:t>MPC</a:t>
            </a:r>
          </a:p>
        </p:txBody>
      </p:sp>
      <p:sp>
        <p:nvSpPr>
          <p:cNvPr id="23" name="">
            <a:extLst xmlns:a="http://schemas.openxmlformats.org/drawingml/2006/main">
              <a:ext uri="{FF2B5EF4-FFF2-40B4-BE49-F238E27FC236}">
                <a16:creationId xmlns:a16="http://schemas.microsoft.com/office/drawing/2014/main" id="{DF231FD2-F1DD-4812-82C0-D6254B672265}"/>
              </a:ext>
            </a:extLst>
          </p:cNvPr>
          <p:cNvSpPr>
            <a:spLocks xmlns:a="http://schemas.openxmlformats.org/drawingml/2006/main" noGrp="1"/>
          </p:cNvSpPr>
          <p:nvPr/>
        </p:nvSpPr>
        <p:spPr>
          <a:xfrm xmlns:a="http://schemas.openxmlformats.org/drawingml/2006/main">
            <a:off x="6096000" y="3838575"/>
            <a:ext cx="76200" cy="400050"/>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B9DAAC3-EBE6-4E47-BBD1-A35BEDF6693F}"/>
              </a:ext>
            </a:extLst>
          </p:cNvPr>
          <p:cNvSpPr>
            <a:spLocks xmlns:a="http://schemas.openxmlformats.org/drawingml/2006/main" noGrp="1"/>
          </p:cNvSpPr>
          <p:nvPr/>
        </p:nvSpPr>
        <p:spPr>
          <a:xfrm xmlns:a="http://schemas.openxmlformats.org/drawingml/2006/main">
            <a:off x="6286500" y="3857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D2E3B"/>
                </a:solidFill>
                <a:latin typeface="Arial"/>
                <a:ea typeface="Arial"/>
                <a:cs typeface="Arial"/>
              </a:defRPr>
            </a:defPPr>
          </a:lstStyle>
          <a:p xmlns:a="http://schemas.openxmlformats.org/drawingml/2006/main">
            <a:pPr algn="l">
              <a:defRPr sz="1650" b="1">
                <a:solidFill>
                  <a:srgbClr val="1D2E3B"/>
                </a:solidFill>
                <a:latin typeface="Arial"/>
                <a:ea typeface="Arial"/>
                <a:cs typeface="Arial"/>
              </a:defRPr>
            </a:pPr>
            <a:r>
              <a:rPr sz="1650" b="1">
                <a:solidFill>
                  <a:srgbClr val="1D2E3B"/>
                </a:solidFill>
                <a:latin typeface="Arial"/>
                <a:ea typeface="Arial"/>
                <a:cs typeface="Arial"/>
              </a:rPr>
              <a:t>Residual Q</a:t>
            </a:r>
          </a:p>
        </p:txBody>
      </p:sp>
      <p:sp>
        <p:nvSpPr>
          <p:cNvPr id="25" name="">
            <a:extLst xmlns:a="http://schemas.openxmlformats.org/drawingml/2006/main">
              <a:ext uri="{FF2B5EF4-FFF2-40B4-BE49-F238E27FC236}">
                <a16:creationId xmlns:a16="http://schemas.microsoft.com/office/drawing/2014/main" id="{59073026-6C19-4C54-9725-5B636BA12723}"/>
              </a:ext>
            </a:extLst>
          </p:cNvPr>
          <p:cNvSpPr>
            <a:spLocks xmlns:a="http://schemas.openxmlformats.org/drawingml/2006/main" noGrp="1"/>
          </p:cNvSpPr>
          <p:nvPr/>
        </p:nvSpPr>
        <p:spPr>
          <a:xfrm xmlns:a="http://schemas.openxmlformats.org/drawingml/2006/main">
            <a:off x="8867775" y="3838575"/>
            <a:ext cx="76200" cy="400050"/>
          </a:xfrm>
          <a:prstGeom xmlns:a="http://schemas.openxmlformats.org/drawingml/2006/main" prst="rect">
            <a:avLst/>
          </a:prstGeom>
          <a:solidFill xmlns:a="http://schemas.openxmlformats.org/drawingml/2006/main">
            <a:srgbClr val="10243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CA8E39-2A81-4138-A9EF-C550E11DF64F}"/>
              </a:ext>
            </a:extLst>
          </p:cNvPr>
          <p:cNvSpPr>
            <a:spLocks xmlns:a="http://schemas.openxmlformats.org/drawingml/2006/main" noGrp="1"/>
          </p:cNvSpPr>
          <p:nvPr/>
        </p:nvSpPr>
        <p:spPr>
          <a:xfrm xmlns:a="http://schemas.openxmlformats.org/drawingml/2006/main">
            <a:off x="9058275" y="3857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D2E3B"/>
                </a:solidFill>
                <a:latin typeface="Arial"/>
                <a:ea typeface="Arial"/>
                <a:cs typeface="Arial"/>
              </a:defRPr>
            </a:defPPr>
          </a:lstStyle>
          <a:p xmlns:a="http://schemas.openxmlformats.org/drawingml/2006/main">
            <a:pPr algn="l">
              <a:defRPr sz="1650" b="1">
                <a:solidFill>
                  <a:srgbClr val="1D2E3B"/>
                </a:solidFill>
                <a:latin typeface="Arial"/>
                <a:ea typeface="Arial"/>
                <a:cs typeface="Arial"/>
              </a:defRPr>
            </a:pPr>
            <a:r>
              <a:rPr sz="1650" b="1">
                <a:solidFill>
                  <a:srgbClr val="1D2E3B"/>
                </a:solidFill>
                <a:latin typeface="Arial"/>
                <a:ea typeface="Arial"/>
                <a:cs typeface="Arial"/>
              </a:rPr>
              <a:t>Q + guard</a:t>
            </a:r>
          </a:p>
        </p:txBody>
      </p:sp>
      <p:sp>
        <p:nvSpPr>
          <p:cNvPr id="27" name="">
            <a:extLst xmlns:a="http://schemas.openxmlformats.org/drawingml/2006/main">
              <a:ext uri="{FF2B5EF4-FFF2-40B4-BE49-F238E27FC236}">
                <a16:creationId xmlns:a16="http://schemas.microsoft.com/office/drawing/2014/main" id="{97871FFB-1134-4B03-A9DA-0EA0CB0059AE}"/>
              </a:ext>
            </a:extLst>
          </p:cNvPr>
          <p:cNvSpPr>
            <a:spLocks xmlns:a="http://schemas.openxmlformats.org/drawingml/2006/main" noGrp="1"/>
          </p:cNvSpPr>
          <p:nvPr/>
        </p:nvSpPr>
        <p:spPr>
          <a:xfrm xmlns:a="http://schemas.openxmlformats.org/drawingml/2006/main">
            <a:off x="552450" y="4895850"/>
            <a:ext cx="1028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437"/>
                </a:solidFill>
                <a:latin typeface="Arial"/>
                <a:ea typeface="Arial"/>
                <a:cs typeface="Arial"/>
              </a:defRPr>
            </a:defPPr>
          </a:lstStyle>
          <a:p xmlns:a="http://schemas.openxmlformats.org/drawingml/2006/main">
            <a:pPr algn="l">
              <a:defRPr sz="1875" b="1">
                <a:solidFill>
                  <a:srgbClr val="102437"/>
                </a:solidFill>
                <a:latin typeface="Arial"/>
                <a:ea typeface="Arial"/>
                <a:cs typeface="Arial"/>
              </a:defRPr>
            </a:pPr>
            <a:r>
              <a:rPr sz="1875" b="1">
                <a:solidFill>
                  <a:srgbClr val="102437"/>
                </a:solidFill>
                <a:latin typeface="Arial"/>
                <a:ea typeface="Arial"/>
                <a:cs typeface="Arial"/>
              </a:rPr>
              <a:t>5 scenario families × 4 controllers × 50 seeds = 1,000 episodes</a:t>
            </a:r>
          </a:p>
        </p:txBody>
      </p:sp>
      <p:sp>
        <p:nvSpPr>
          <p:cNvPr id="28" name="">
            <a:extLst xmlns:a="http://schemas.openxmlformats.org/drawingml/2006/main">
              <a:ext uri="{FF2B5EF4-FFF2-40B4-BE49-F238E27FC236}">
                <a16:creationId xmlns:a16="http://schemas.microsoft.com/office/drawing/2014/main" id="{B3B524D9-A028-477A-A75E-A23BBFAF8637}"/>
              </a:ext>
            </a:extLst>
          </p:cNvPr>
          <p:cNvSpPr>
            <a:spLocks xmlns:a="http://schemas.openxmlformats.org/drawingml/2006/main" noGrp="1"/>
          </p:cNvSpPr>
          <p:nvPr/>
        </p:nvSpPr>
        <p:spPr>
          <a:xfrm xmlns:a="http://schemas.openxmlformats.org/drawingml/2006/main">
            <a:off x="552450" y="5391150"/>
            <a:ext cx="1033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667A8A"/>
                </a:solidFill>
                <a:latin typeface="Arial"/>
                <a:ea typeface="Arial"/>
                <a:cs typeface="Arial"/>
              </a:defRPr>
            </a:defPPr>
          </a:lstStyle>
          <a:p xmlns:a="http://schemas.openxmlformats.org/drawingml/2006/main">
            <a:pPr algn="l">
              <a:defRPr sz="1200" b="0">
                <a:solidFill>
                  <a:srgbClr val="667A8A"/>
                </a:solidFill>
                <a:latin typeface="Arial"/>
                <a:ea typeface="Arial"/>
                <a:cs typeface="Arial"/>
              </a:defRPr>
            </a:pPr>
            <a:r>
              <a:rPr sz="1200" b="0">
                <a:solidFill>
                  <a:srgbClr val="667A8A"/>
                </a:solidFill>
                <a:latin typeface="Arial"/>
                <a:ea typeface="Arial"/>
                <a:cs typeface="Arial"/>
              </a:rPr>
              <a:t>600 training-family episodes + 400 held-out stress episodes. Each seed is matched across controllers.</a:t>
            </a:r>
          </a:p>
        </p:txBody>
      </p:sp>
    </p:spTree>
    <p:extLst>
      <p:ext uri="{BB962C8B-B14F-4D97-AF65-F5344CB8AC3E}">
        <p14:creationId xmlns:p14="http://schemas.microsoft.com/office/powerpoint/2010/main" val="2135561779"/>
      </p:ext>
    </p:extLst>
  </p:cSld>
</p:sld>
</file>

<file path=ppt/slides/slide8.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B0618D-0D54-48E6-8760-F2FE1A5F338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69C5B6-D9C5-4D0E-85FB-33A7D2406DB5}"/>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07 · RESULTS · TRACKING</a:t>
            </a:r>
          </a:p>
        </p:txBody>
      </p:sp>
      <p:sp>
        <p:nvSpPr>
          <p:cNvPr id="3" name="slide-8-title">
            <a:extLst xmlns:a="http://schemas.openxmlformats.org/drawingml/2006/main">
              <a:ext uri="{FF2B5EF4-FFF2-40B4-BE49-F238E27FC236}">
                <a16:creationId xmlns:a16="http://schemas.microsoft.com/office/drawing/2014/main" id="{1FB4D53C-6FFE-4F69-ACC8-637D67CE9204}"/>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02437"/>
                </a:solidFill>
                <a:latin typeface="Arial"/>
                <a:ea typeface="Arial"/>
                <a:cs typeface="Arial"/>
              </a:defRPr>
            </a:defPPr>
          </a:lstStyle>
          <a:p xmlns:a="http://schemas.openxmlformats.org/drawingml/2006/main">
            <a:pPr algn="l">
              <a:defRPr sz="2550" b="1">
                <a:solidFill>
                  <a:srgbClr val="102437"/>
                </a:solidFill>
                <a:latin typeface="Arial"/>
                <a:ea typeface="Arial"/>
                <a:cs typeface="Arial"/>
              </a:defRPr>
            </a:pPr>
            <a:r>
              <a:rPr sz="2550" b="1">
                <a:solidFill>
                  <a:srgbClr val="102437"/>
                </a:solidFill>
                <a:latin typeface="Arial"/>
                <a:ea typeface="Arial"/>
                <a:cs typeface="Arial"/>
              </a:rPr>
              <a:t>MPC tracks the chosen gap best in both test groups.</a:t>
            </a:r>
          </a:p>
        </p:txBody>
      </p:sp>
      <p:sp>
        <p:nvSpPr>
          <p:cNvPr id="4" name="">
            <a:extLst xmlns:a="http://schemas.openxmlformats.org/drawingml/2006/main">
              <a:ext uri="{FF2B5EF4-FFF2-40B4-BE49-F238E27FC236}">
                <a16:creationId xmlns:a16="http://schemas.microsoft.com/office/drawing/2014/main" id="{023033D7-A0E7-4883-BCD1-BC5C226C593F}"/>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4CAF8E1D-F780-4AFA-A4AC-8B6A77630244}"/>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596AC260-0744-48D2-ABF1-04B2342D3329}"/>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08</a:t>
            </a:r>
          </a:p>
        </p:txBody>
      </p:sp>
      <p:graphicFrame>
        <p:nvGraphicFramePr>
          <p:cNvPr id="7" name="Chart">
            <a:extLst xmlns:a="http://schemas.openxmlformats.org/drawingml/2006/main">
              <a:ext uri="{FF2B5EF4-FFF2-40B4-BE49-F238E27FC236}">
                <a16:creationId xmlns:a16="http://schemas.microsoft.com/office/drawing/2014/main" id="{E866544D-02F8-43AA-9BA2-0D274E520597}"/>
              </a:ext>
            </a:extLst>
          </p:cNvPr>
          <p:cNvGraphicFramePr/>
          <p:nvPr/>
        </p:nvGraphicFramePr>
        <p:xfrm>
          <a:off xmlns:a="http://schemas.openxmlformats.org/drawingml/2006/main" x="552450" y="1381125"/>
          <a:ext xmlns:a="http://schemas.openxmlformats.org/drawingml/2006/main" cx="11087100" cy="4191000"/>
        </p:xfrm>
        <a:graphic xmlns:a="http://schemas.openxmlformats.org/drawingml/2006/main">
          <a:graphicData uri="http://schemas.openxmlformats.org/drawingml/2006/chart">
            <c:chart xmlns:r="http://schemas.openxmlformats.org/officeDocument/2006/relationships" xmlns:c="http://schemas.openxmlformats.org/drawingml/2006/chart" r:id="R937fbbede30a4ad9"/>
          </a:graphicData>
        </a:graphic>
      </p:graphicFrame>
      <p:sp>
        <p:nvSpPr>
          <p:cNvPr id="8" name="">
            <a:extLst xmlns:a="http://schemas.openxmlformats.org/drawingml/2006/main">
              <a:ext uri="{FF2B5EF4-FFF2-40B4-BE49-F238E27FC236}">
                <a16:creationId xmlns:a16="http://schemas.microsoft.com/office/drawing/2014/main" id="{7C16198E-B632-4E44-BD99-BF72768AAD13}"/>
              </a:ext>
            </a:extLst>
          </p:cNvPr>
          <p:cNvSpPr>
            <a:spLocks xmlns:a="http://schemas.openxmlformats.org/drawingml/2006/main" noGrp="1"/>
          </p:cNvSpPr>
          <p:nvPr/>
        </p:nvSpPr>
        <p:spPr>
          <a:xfrm xmlns:a="http://schemas.openxmlformats.org/drawingml/2006/main">
            <a:off x="552450" y="577215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87C75"/>
                </a:solidFill>
                <a:latin typeface="Arial"/>
                <a:ea typeface="Arial"/>
                <a:cs typeface="Arial"/>
              </a:defRPr>
            </a:defPPr>
          </a:lstStyle>
          <a:p xmlns:a="http://schemas.openxmlformats.org/drawingml/2006/main">
            <a:pPr algn="l">
              <a:defRPr sz="1350" b="1">
                <a:solidFill>
                  <a:srgbClr val="087C75"/>
                </a:solidFill>
                <a:latin typeface="Arial"/>
                <a:ea typeface="Arial"/>
                <a:cs typeface="Arial"/>
              </a:defRPr>
            </a:pPr>
            <a:r>
              <a:rPr sz="1350" b="1">
                <a:solidFill>
                  <a:srgbClr val="087C75"/>
                </a:solidFill>
                <a:latin typeface="Arial"/>
                <a:ea typeface="Arial"/>
                <a:cs typeface="Arial"/>
              </a:rPr>
              <a:t>The learned policy does not beat either classical baseline on gap tracking.</a:t>
            </a:r>
          </a:p>
        </p:txBody>
      </p:sp>
    </p:spTree>
    <p:extLst>
      <p:ext uri="{BB962C8B-B14F-4D97-AF65-F5344CB8AC3E}">
        <p14:creationId xmlns:p14="http://schemas.microsoft.com/office/powerpoint/2010/main" val="953001329"/>
      </p:ext>
    </p:extLst>
  </p:cSld>
</p:sld>
</file>

<file path=ppt/slides/slide9.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C862D6-0F4A-4940-B0AA-8831BBEFE1D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005413-D574-4EE2-BA4A-41DC0E657A30}"/>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08 · RESULTS · COMFORT</a:t>
            </a:r>
          </a:p>
        </p:txBody>
      </p:sp>
      <p:sp>
        <p:nvSpPr>
          <p:cNvPr id="3" name="slide-9-title">
            <a:extLst xmlns:a="http://schemas.openxmlformats.org/drawingml/2006/main">
              <a:ext uri="{FF2B5EF4-FFF2-40B4-BE49-F238E27FC236}">
                <a16:creationId xmlns:a16="http://schemas.microsoft.com/office/drawing/2014/main" id="{FFFC4C8A-979B-42F4-8543-A3953BE11EC2}"/>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02437"/>
                </a:solidFill>
                <a:latin typeface="Arial"/>
                <a:ea typeface="Arial"/>
                <a:cs typeface="Arial"/>
              </a:defRPr>
            </a:defPPr>
          </a:lstStyle>
          <a:p xmlns:a="http://schemas.openxmlformats.org/drawingml/2006/main">
            <a:pPr algn="l">
              <a:defRPr sz="2325" b="1">
                <a:solidFill>
                  <a:srgbClr val="102437"/>
                </a:solidFill>
                <a:latin typeface="Arial"/>
                <a:ea typeface="Arial"/>
                <a:cs typeface="Arial"/>
              </a:defRPr>
            </a:pPr>
            <a:r>
              <a:rPr sz="2325" b="1">
                <a:solidFill>
                  <a:srgbClr val="102437"/>
                </a:solidFill>
                <a:latin typeface="Arial"/>
                <a:ea typeface="Arial"/>
                <a:cs typeface="Arial"/>
              </a:rPr>
              <a:t>The cut-in safety gain comes with sharper acceleration changes.</a:t>
            </a:r>
          </a:p>
        </p:txBody>
      </p:sp>
      <p:sp>
        <p:nvSpPr>
          <p:cNvPr id="4" name="">
            <a:extLst xmlns:a="http://schemas.openxmlformats.org/drawingml/2006/main">
              <a:ext uri="{FF2B5EF4-FFF2-40B4-BE49-F238E27FC236}">
                <a16:creationId xmlns:a16="http://schemas.microsoft.com/office/drawing/2014/main" id="{4B1696D6-0254-4875-9593-9AE38BD531B8}"/>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D00E5888-8A59-42EF-A1D8-8BC5ACEB0C90}"/>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F6357636-2984-4A78-A0E8-837E442035D4}"/>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09</a:t>
            </a:r>
          </a:p>
        </p:txBody>
      </p:sp>
      <p:graphicFrame>
        <p:nvGraphicFramePr>
          <p:cNvPr id="7" name="Chart">
            <a:extLst xmlns:a="http://schemas.openxmlformats.org/drawingml/2006/main">
              <a:ext uri="{FF2B5EF4-FFF2-40B4-BE49-F238E27FC236}">
                <a16:creationId xmlns:a16="http://schemas.microsoft.com/office/drawing/2014/main" id="{DAB700A0-EE56-43A0-AA99-C4B492ACA44A}"/>
              </a:ext>
            </a:extLst>
          </p:cNvPr>
          <p:cNvGraphicFramePr/>
          <p:nvPr/>
        </p:nvGraphicFramePr>
        <p:xfrm>
          <a:off xmlns:a="http://schemas.openxmlformats.org/drawingml/2006/main" x="552450" y="1381125"/>
          <a:ext xmlns:a="http://schemas.openxmlformats.org/drawingml/2006/main" cx="8191500" cy="4143375"/>
        </p:xfrm>
        <a:graphic xmlns:a="http://schemas.openxmlformats.org/drawingml/2006/main">
          <a:graphicData uri="http://schemas.openxmlformats.org/drawingml/2006/chart">
            <c:chart xmlns:r="http://schemas.openxmlformats.org/officeDocument/2006/relationships" xmlns:c="http://schemas.openxmlformats.org/drawingml/2006/chart" r:id="R174c0f4080cc4892"/>
          </a:graphicData>
        </a:graphic>
      </p:graphicFrame>
      <p:sp>
        <p:nvSpPr>
          <p:cNvPr id="8" name="">
            <a:extLst xmlns:a="http://schemas.openxmlformats.org/drawingml/2006/main">
              <a:ext uri="{FF2B5EF4-FFF2-40B4-BE49-F238E27FC236}">
                <a16:creationId xmlns:a16="http://schemas.microsoft.com/office/drawing/2014/main" id="{0B4CBCBA-B810-405D-A71A-A91BEB1EE722}"/>
              </a:ext>
            </a:extLst>
          </p:cNvPr>
          <p:cNvSpPr>
            <a:spLocks xmlns:a="http://schemas.openxmlformats.org/drawingml/2006/main" noGrp="1"/>
          </p:cNvSpPr>
          <p:nvPr/>
        </p:nvSpPr>
        <p:spPr>
          <a:xfrm xmlns:a="http://schemas.openxmlformats.org/drawingml/2006/main">
            <a:off x="9096375" y="1562100"/>
            <a:ext cx="0" cy="3981450"/>
          </a:xfrm>
          <a:prstGeom xmlns:a="http://schemas.openxmlformats.org/drawingml/2006/main" prst="line">
            <a:avLst/>
          </a:prstGeom>
          <a:noFill xmlns:a="http://schemas.openxmlformats.org/drawingml/2006/main"/>
          <a:ln xmlns:a="http://schemas.openxmlformats.org/drawingml/2006/main" w="12383">
            <a:solidFill>
              <a:srgbClr val="D8E1E7"/>
            </a:solidFill>
            <a:prstDash val="solid"/>
          </a:ln>
        </p:spPr>
      </p:sp>
      <p:sp>
        <p:nvSpPr>
          <p:cNvPr id="9" name="">
            <a:extLst xmlns:a="http://schemas.openxmlformats.org/drawingml/2006/main">
              <a:ext uri="{FF2B5EF4-FFF2-40B4-BE49-F238E27FC236}">
                <a16:creationId xmlns:a16="http://schemas.microsoft.com/office/drawing/2014/main" id="{4B43F4FC-5B5D-4280-8945-C7F07C19C421}"/>
              </a:ext>
            </a:extLst>
          </p:cNvPr>
          <p:cNvSpPr>
            <a:spLocks xmlns:a="http://schemas.openxmlformats.org/drawingml/2006/main" noGrp="1"/>
          </p:cNvSpPr>
          <p:nvPr/>
        </p:nvSpPr>
        <p:spPr>
          <a:xfrm xmlns:a="http://schemas.openxmlformats.org/drawingml/2006/main">
            <a:off x="9420225" y="16668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102437"/>
                </a:solidFill>
                <a:latin typeface="Arial"/>
                <a:ea typeface="Arial"/>
                <a:cs typeface="Arial"/>
              </a:defRPr>
            </a:defPPr>
          </a:lstStyle>
          <a:p xmlns:a="http://schemas.openxmlformats.org/drawingml/2006/main">
            <a:pPr algn="l">
              <a:defRPr sz="1500" b="1">
                <a:solidFill>
                  <a:srgbClr val="102437"/>
                </a:solidFill>
                <a:latin typeface="Arial"/>
                <a:ea typeface="Arial"/>
                <a:cs typeface="Arial"/>
              </a:defRPr>
            </a:pPr>
            <a:r>
              <a:rPr sz="1500" b="1">
                <a:solidFill>
                  <a:srgbClr val="102437"/>
                </a:solidFill>
                <a:latin typeface="Arial"/>
                <a:ea typeface="Arial"/>
                <a:cs typeface="Arial"/>
              </a:rPr>
              <a:t>Cut-in comparison</a:t>
            </a:r>
          </a:p>
        </p:txBody>
      </p:sp>
      <p:sp>
        <p:nvSpPr>
          <p:cNvPr id="10" name="">
            <a:extLst xmlns:a="http://schemas.openxmlformats.org/drawingml/2006/main">
              <a:ext uri="{FF2B5EF4-FFF2-40B4-BE49-F238E27FC236}">
                <a16:creationId xmlns:a16="http://schemas.microsoft.com/office/drawing/2014/main" id="{EADE42EB-B822-415E-A6C9-A7AAC216AC09}"/>
              </a:ext>
            </a:extLst>
          </p:cNvPr>
          <p:cNvSpPr>
            <a:spLocks xmlns:a="http://schemas.openxmlformats.org/drawingml/2006/main" noGrp="1"/>
          </p:cNvSpPr>
          <p:nvPr/>
        </p:nvSpPr>
        <p:spPr>
          <a:xfrm xmlns:a="http://schemas.openxmlformats.org/drawingml/2006/main">
            <a:off x="9420225" y="2152650"/>
            <a:ext cx="1981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667A8A"/>
                </a:solidFill>
                <a:latin typeface="Arial"/>
                <a:ea typeface="Arial"/>
                <a:cs typeface="Arial"/>
              </a:defRPr>
            </a:defPPr>
          </a:lstStyle>
          <a:p xmlns:a="http://schemas.openxmlformats.org/drawingml/2006/main">
            <a:pPr algn="l">
              <a:defRPr sz="1125" b="1">
                <a:solidFill>
                  <a:srgbClr val="667A8A"/>
                </a:solidFill>
                <a:latin typeface="Arial"/>
                <a:ea typeface="Arial"/>
                <a:cs typeface="Arial"/>
              </a:defRPr>
            </a:pPr>
            <a:r>
              <a:rPr sz="1125" b="1">
                <a:solidFill>
                  <a:srgbClr val="667A8A"/>
                </a:solidFill>
                <a:latin typeface="Arial"/>
                <a:ea typeface="Arial"/>
                <a:cs typeface="Arial"/>
              </a:rPr>
              <a:t>Q mean |jerk|</a:t>
            </a:r>
          </a:p>
        </p:txBody>
      </p:sp>
      <p:sp>
        <p:nvSpPr>
          <p:cNvPr id="11" name="">
            <a:extLst xmlns:a="http://schemas.openxmlformats.org/drawingml/2006/main">
              <a:ext uri="{FF2B5EF4-FFF2-40B4-BE49-F238E27FC236}">
                <a16:creationId xmlns:a16="http://schemas.microsoft.com/office/drawing/2014/main" id="{3B217D6D-AACF-4B51-957E-9773357A3013}"/>
              </a:ext>
            </a:extLst>
          </p:cNvPr>
          <p:cNvSpPr>
            <a:spLocks xmlns:a="http://schemas.openxmlformats.org/drawingml/2006/main" noGrp="1"/>
          </p:cNvSpPr>
          <p:nvPr/>
        </p:nvSpPr>
        <p:spPr>
          <a:xfrm xmlns:a="http://schemas.openxmlformats.org/drawingml/2006/main">
            <a:off x="9420225" y="24288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087C75"/>
                </a:solidFill>
                <a:latin typeface="Arial"/>
                <a:ea typeface="Arial"/>
                <a:cs typeface="Arial"/>
              </a:defRPr>
            </a:defPPr>
          </a:lstStyle>
          <a:p xmlns:a="http://schemas.openxmlformats.org/drawingml/2006/main">
            <a:pPr algn="l">
              <a:defRPr sz="2325" b="1">
                <a:solidFill>
                  <a:srgbClr val="087C75"/>
                </a:solidFill>
                <a:latin typeface="Arial"/>
                <a:ea typeface="Arial"/>
                <a:cs typeface="Arial"/>
              </a:defRPr>
            </a:pPr>
            <a:r>
              <a:rPr sz="2325" b="1">
                <a:solidFill>
                  <a:srgbClr val="087C75"/>
                </a:solidFill>
                <a:latin typeface="Arial"/>
                <a:ea typeface="Arial"/>
                <a:cs typeface="Arial"/>
              </a:rPr>
              <a:t>0.957</a:t>
            </a:r>
          </a:p>
        </p:txBody>
      </p:sp>
      <p:sp>
        <p:nvSpPr>
          <p:cNvPr id="12" name="">
            <a:extLst xmlns:a="http://schemas.openxmlformats.org/drawingml/2006/main">
              <a:ext uri="{FF2B5EF4-FFF2-40B4-BE49-F238E27FC236}">
                <a16:creationId xmlns:a16="http://schemas.microsoft.com/office/drawing/2014/main" id="{04F96620-1E12-48C5-8CD3-79F66436C61E}"/>
              </a:ext>
            </a:extLst>
          </p:cNvPr>
          <p:cNvSpPr>
            <a:spLocks xmlns:a="http://schemas.openxmlformats.org/drawingml/2006/main" noGrp="1"/>
          </p:cNvSpPr>
          <p:nvPr/>
        </p:nvSpPr>
        <p:spPr>
          <a:xfrm xmlns:a="http://schemas.openxmlformats.org/drawingml/2006/main">
            <a:off x="9420225" y="3190875"/>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667A8A"/>
                </a:solidFill>
                <a:latin typeface="Arial"/>
                <a:ea typeface="Arial"/>
                <a:cs typeface="Arial"/>
              </a:defRPr>
            </a:defPPr>
          </a:lstStyle>
          <a:p xmlns:a="http://schemas.openxmlformats.org/drawingml/2006/main">
            <a:pPr algn="l">
              <a:defRPr sz="1125" b="1">
                <a:solidFill>
                  <a:srgbClr val="667A8A"/>
                </a:solidFill>
                <a:latin typeface="Arial"/>
                <a:ea typeface="Arial"/>
                <a:cs typeface="Arial"/>
              </a:defRPr>
            </a:pPr>
            <a:r>
              <a:rPr sz="1125" b="1">
                <a:solidFill>
                  <a:srgbClr val="667A8A"/>
                </a:solidFill>
                <a:latin typeface="Arial"/>
                <a:ea typeface="Arial"/>
                <a:cs typeface="Arial"/>
              </a:rPr>
              <a:t>Q + guard</a:t>
            </a:r>
          </a:p>
        </p:txBody>
      </p:sp>
      <p:sp>
        <p:nvSpPr>
          <p:cNvPr id="13" name="">
            <a:extLst xmlns:a="http://schemas.openxmlformats.org/drawingml/2006/main">
              <a:ext uri="{FF2B5EF4-FFF2-40B4-BE49-F238E27FC236}">
                <a16:creationId xmlns:a16="http://schemas.microsoft.com/office/drawing/2014/main" id="{31455917-609A-4A6F-B8AC-8598C4B21DD7}"/>
              </a:ext>
            </a:extLst>
          </p:cNvPr>
          <p:cNvSpPr>
            <a:spLocks xmlns:a="http://schemas.openxmlformats.org/drawingml/2006/main" noGrp="1"/>
          </p:cNvSpPr>
          <p:nvPr/>
        </p:nvSpPr>
        <p:spPr>
          <a:xfrm xmlns:a="http://schemas.openxmlformats.org/drawingml/2006/main">
            <a:off x="9420225" y="34766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D98F32"/>
                </a:solidFill>
                <a:latin typeface="Arial"/>
                <a:ea typeface="Arial"/>
                <a:cs typeface="Arial"/>
              </a:defRPr>
            </a:defPPr>
          </a:lstStyle>
          <a:p xmlns:a="http://schemas.openxmlformats.org/drawingml/2006/main">
            <a:pPr algn="l">
              <a:defRPr sz="2325" b="1">
                <a:solidFill>
                  <a:srgbClr val="D98F32"/>
                </a:solidFill>
                <a:latin typeface="Arial"/>
                <a:ea typeface="Arial"/>
                <a:cs typeface="Arial"/>
              </a:defRPr>
            </a:pPr>
            <a:r>
              <a:rPr sz="2325" b="1">
                <a:solidFill>
                  <a:srgbClr val="D98F32"/>
                </a:solidFill>
                <a:latin typeface="Arial"/>
                <a:ea typeface="Arial"/>
                <a:cs typeface="Arial"/>
              </a:rPr>
              <a:t>1.222</a:t>
            </a:r>
          </a:p>
        </p:txBody>
      </p:sp>
      <p:sp>
        <p:nvSpPr>
          <p:cNvPr id="14" name="">
            <a:extLst xmlns:a="http://schemas.openxmlformats.org/drawingml/2006/main">
              <a:ext uri="{FF2B5EF4-FFF2-40B4-BE49-F238E27FC236}">
                <a16:creationId xmlns:a16="http://schemas.microsoft.com/office/drawing/2014/main" id="{892B1BC5-910A-49D2-9D9B-A0D31569D5D0}"/>
              </a:ext>
            </a:extLst>
          </p:cNvPr>
          <p:cNvSpPr>
            <a:spLocks xmlns:a="http://schemas.openxmlformats.org/drawingml/2006/main" noGrp="1"/>
          </p:cNvSpPr>
          <p:nvPr/>
        </p:nvSpPr>
        <p:spPr>
          <a:xfrm xmlns:a="http://schemas.openxmlformats.org/drawingml/2006/main">
            <a:off x="9420225" y="3971925"/>
            <a:ext cx="209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1D2E3B"/>
                </a:solidFill>
                <a:latin typeface="Arial"/>
                <a:ea typeface="Arial"/>
                <a:cs typeface="Arial"/>
              </a:defRPr>
            </a:defPPr>
          </a:lstStyle>
          <a:p xmlns:a="http://schemas.openxmlformats.org/drawingml/2006/main">
            <a:pPr algn="l">
              <a:defRPr sz="1200" b="0">
                <a:solidFill>
                  <a:srgbClr val="1D2E3B"/>
                </a:solidFill>
                <a:latin typeface="Arial"/>
                <a:ea typeface="Arial"/>
                <a:cs typeface="Arial"/>
              </a:defRPr>
            </a:pPr>
            <a:r>
              <a:rPr sz="1200" b="0">
                <a:solidFill>
                  <a:srgbClr val="1D2E3B"/>
                </a:solidFill>
                <a:latin typeface="Arial"/>
                <a:ea typeface="Arial"/>
                <a:cs typeface="Arial"/>
              </a:rPr>
              <a:t>m/s³ · 25.8 guard edits per run</a:t>
            </a:r>
          </a:p>
        </p:txBody>
      </p:sp>
      <p:sp>
        <p:nvSpPr>
          <p:cNvPr id="15" name="">
            <a:extLst xmlns:a="http://schemas.openxmlformats.org/drawingml/2006/main">
              <a:ext uri="{FF2B5EF4-FFF2-40B4-BE49-F238E27FC236}">
                <a16:creationId xmlns:a16="http://schemas.microsoft.com/office/drawing/2014/main" id="{2536BC14-2E76-425B-856A-CF00FBCD4301}"/>
              </a:ext>
            </a:extLst>
          </p:cNvPr>
          <p:cNvSpPr>
            <a:spLocks xmlns:a="http://schemas.openxmlformats.org/drawingml/2006/main" noGrp="1"/>
          </p:cNvSpPr>
          <p:nvPr/>
        </p:nvSpPr>
        <p:spPr>
          <a:xfrm xmlns:a="http://schemas.openxmlformats.org/drawingml/2006/main">
            <a:off x="9420225" y="47625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667A8A"/>
                </a:solidFill>
                <a:latin typeface="Arial"/>
                <a:ea typeface="Arial"/>
                <a:cs typeface="Arial"/>
              </a:defRPr>
            </a:defPPr>
          </a:lstStyle>
          <a:p xmlns:a="http://schemas.openxmlformats.org/drawingml/2006/main">
            <a:pPr algn="l">
              <a:defRPr sz="1200" b="0">
                <a:solidFill>
                  <a:srgbClr val="667A8A"/>
                </a:solidFill>
                <a:latin typeface="Arial"/>
                <a:ea typeface="Arial"/>
                <a:cs typeface="Arial"/>
              </a:defRPr>
            </a:pPr>
            <a:r>
              <a:rPr sz="1200" b="0">
                <a:solidFill>
                  <a:srgbClr val="667A8A"/>
                </a:solidFill>
                <a:latin typeface="Arial"/>
                <a:ea typeface="Arial"/>
                <a:cs typeface="Arial"/>
              </a:rPr>
              <a:t>Lower jerk is usually smoother; it is only a comfort proxy.</a:t>
            </a:r>
          </a:p>
        </p:txBody>
      </p:sp>
    </p:spTree>
    <p:extLst>
      <p:ext uri="{BB962C8B-B14F-4D97-AF65-F5344CB8AC3E}">
        <p14:creationId xmlns:p14="http://schemas.microsoft.com/office/powerpoint/2010/main" val="1576870452"/>
      </p:ext>
    </p:extLst>
  </p:cSld>
</p:sld>
</file>

<file path=ppt/slides/slide10.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3150C21-37E6-40B9-9460-50F5729A065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766AE9-7A2C-4071-B497-88BF850A538E}"/>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09 · RESULTS · CUT-IN</a:t>
            </a:r>
          </a:p>
        </p:txBody>
      </p:sp>
      <p:sp>
        <p:nvSpPr>
          <p:cNvPr id="3" name="slide-10-title">
            <a:extLst xmlns:a="http://schemas.openxmlformats.org/drawingml/2006/main">
              <a:ext uri="{FF2B5EF4-FFF2-40B4-BE49-F238E27FC236}">
                <a16:creationId xmlns:a16="http://schemas.microsoft.com/office/drawing/2014/main" id="{D1EEC8C5-4022-4151-A666-57A7525A0D3E}"/>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437"/>
                </a:solidFill>
                <a:latin typeface="Arial"/>
                <a:ea typeface="Arial"/>
                <a:cs typeface="Arial"/>
              </a:defRPr>
            </a:defPPr>
          </a:lstStyle>
          <a:p xmlns:a="http://schemas.openxmlformats.org/drawingml/2006/main">
            <a:pPr algn="l">
              <a:defRPr sz="2250" b="1">
                <a:solidFill>
                  <a:srgbClr val="102437"/>
                </a:solidFill>
                <a:latin typeface="Arial"/>
                <a:ea typeface="Arial"/>
                <a:cs typeface="Arial"/>
              </a:defRPr>
            </a:pPr>
            <a:r>
              <a:rPr sz="2250" b="1">
                <a:solidFill>
                  <a:srgbClr val="102437"/>
                </a:solidFill>
                <a:latin typeface="Arial"/>
                <a:ea typeface="Arial"/>
                <a:cs typeface="Arial"/>
              </a:rPr>
              <a:t>The guard helps Q on near-conflict measures; MPC remains stronger.</a:t>
            </a:r>
          </a:p>
        </p:txBody>
      </p:sp>
      <p:sp>
        <p:nvSpPr>
          <p:cNvPr id="4" name="">
            <a:extLst xmlns:a="http://schemas.openxmlformats.org/drawingml/2006/main">
              <a:ext uri="{FF2B5EF4-FFF2-40B4-BE49-F238E27FC236}">
                <a16:creationId xmlns:a16="http://schemas.microsoft.com/office/drawing/2014/main" id="{46A148D0-D55C-4BD7-BFEB-5EFDF028EB71}"/>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46802592-7D60-4E13-AB01-C5960C65A644}"/>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4A3C02A3-2F86-43AA-86B8-923E84618AE3}"/>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10</a:t>
            </a:r>
          </a:p>
        </p:txBody>
      </p:sp>
      <p:graphicFrame>
        <p:nvGraphicFramePr>
          <p:cNvPr id="7" name="Chart">
            <a:extLst xmlns:a="http://schemas.openxmlformats.org/drawingml/2006/main">
              <a:ext uri="{FF2B5EF4-FFF2-40B4-BE49-F238E27FC236}">
                <a16:creationId xmlns:a16="http://schemas.microsoft.com/office/drawing/2014/main" id="{780EDDFC-CE0E-4447-A6A6-3AE18D21B506}"/>
              </a:ext>
            </a:extLst>
          </p:cNvPr>
          <p:cNvGraphicFramePr/>
          <p:nvPr/>
        </p:nvGraphicFramePr>
        <p:xfrm>
          <a:off xmlns:a="http://schemas.openxmlformats.org/drawingml/2006/main" x="552450" y="1438275"/>
          <a:ext xmlns:a="http://schemas.openxmlformats.org/drawingml/2006/main" cx="7000875" cy="4000500"/>
        </p:xfrm>
        <a:graphic xmlns:a="http://schemas.openxmlformats.org/drawingml/2006/main">
          <a:graphicData uri="http://schemas.openxmlformats.org/drawingml/2006/chart">
            <c:chart xmlns:r="http://schemas.openxmlformats.org/officeDocument/2006/relationships" xmlns:c="http://schemas.openxmlformats.org/drawingml/2006/chart" r:id="R2607c85c06aa4f46"/>
          </a:graphicData>
        </a:graphic>
      </p:graphicFrame>
      <p:sp>
        <p:nvSpPr>
          <p:cNvPr id="8" name="">
            <a:extLst xmlns:a="http://schemas.openxmlformats.org/drawingml/2006/main">
              <a:ext uri="{FF2B5EF4-FFF2-40B4-BE49-F238E27FC236}">
                <a16:creationId xmlns:a16="http://schemas.microsoft.com/office/drawing/2014/main" id="{56AC94DB-A619-4CD8-A88B-F847D76DDDEF}"/>
              </a:ext>
            </a:extLst>
          </p:cNvPr>
          <p:cNvSpPr>
            <a:spLocks xmlns:a="http://schemas.openxmlformats.org/drawingml/2006/main" noGrp="1"/>
          </p:cNvSpPr>
          <p:nvPr/>
        </p:nvSpPr>
        <p:spPr>
          <a:xfrm xmlns:a="http://schemas.openxmlformats.org/drawingml/2006/main">
            <a:off x="7953375" y="1562100"/>
            <a:ext cx="0" cy="4057650"/>
          </a:xfrm>
          <a:prstGeom xmlns:a="http://schemas.openxmlformats.org/drawingml/2006/main" prst="line">
            <a:avLst/>
          </a:prstGeom>
          <a:noFill xmlns:a="http://schemas.openxmlformats.org/drawingml/2006/main"/>
          <a:ln xmlns:a="http://schemas.openxmlformats.org/drawingml/2006/main" w="12383">
            <a:solidFill>
              <a:srgbClr val="D8E1E7"/>
            </a:solidFill>
            <a:prstDash val="solid"/>
          </a:ln>
        </p:spPr>
      </p:sp>
      <p:sp>
        <p:nvSpPr>
          <p:cNvPr id="9" name="">
            <a:extLst xmlns:a="http://schemas.openxmlformats.org/drawingml/2006/main">
              <a:ext uri="{FF2B5EF4-FFF2-40B4-BE49-F238E27FC236}">
                <a16:creationId xmlns:a16="http://schemas.microsoft.com/office/drawing/2014/main" id="{975B8EC0-ECCB-47A0-B476-5FEB71617520}"/>
              </a:ext>
            </a:extLst>
          </p:cNvPr>
          <p:cNvSpPr>
            <a:spLocks xmlns:a="http://schemas.openxmlformats.org/drawingml/2006/main" noGrp="1"/>
          </p:cNvSpPr>
          <p:nvPr/>
        </p:nvSpPr>
        <p:spPr>
          <a:xfrm xmlns:a="http://schemas.openxmlformats.org/drawingml/2006/main">
            <a:off x="8391525" y="16002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667A8A"/>
                </a:solidFill>
                <a:latin typeface="Arial"/>
                <a:ea typeface="Arial"/>
                <a:cs typeface="Arial"/>
              </a:defRPr>
            </a:defPPr>
          </a:lstStyle>
          <a:p xmlns:a="http://schemas.openxmlformats.org/drawingml/2006/main">
            <a:pPr algn="l">
              <a:defRPr sz="900" b="1">
                <a:solidFill>
                  <a:srgbClr val="667A8A"/>
                </a:solidFill>
                <a:latin typeface="Arial"/>
                <a:ea typeface="Arial"/>
                <a:cs typeface="Arial"/>
              </a:defRPr>
            </a:pPr>
            <a:r>
              <a:rPr sz="900" b="1">
                <a:solidFill>
                  <a:srgbClr val="667A8A"/>
                </a:solidFill>
                <a:latin typeface="Arial"/>
                <a:ea typeface="Arial"/>
                <a:cs typeface="Arial"/>
              </a:rPr>
              <a:t>Q CLOSING SAMPLES TTC &lt; 2 S</a:t>
            </a:r>
          </a:p>
        </p:txBody>
      </p:sp>
      <p:sp>
        <p:nvSpPr>
          <p:cNvPr id="10" name="">
            <a:extLst xmlns:a="http://schemas.openxmlformats.org/drawingml/2006/main">
              <a:ext uri="{FF2B5EF4-FFF2-40B4-BE49-F238E27FC236}">
                <a16:creationId xmlns:a16="http://schemas.microsoft.com/office/drawing/2014/main" id="{508B5972-4242-486F-AA02-999655C3560B}"/>
              </a:ext>
            </a:extLst>
          </p:cNvPr>
          <p:cNvSpPr>
            <a:spLocks xmlns:a="http://schemas.openxmlformats.org/drawingml/2006/main" noGrp="1"/>
          </p:cNvSpPr>
          <p:nvPr/>
        </p:nvSpPr>
        <p:spPr>
          <a:xfrm xmlns:a="http://schemas.openxmlformats.org/drawingml/2006/main">
            <a:off x="8391525" y="185737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B94E45"/>
                </a:solidFill>
                <a:latin typeface="Arial"/>
                <a:ea typeface="Arial"/>
                <a:cs typeface="Arial"/>
              </a:defRPr>
            </a:defPPr>
          </a:lstStyle>
          <a:p xmlns:a="http://schemas.openxmlformats.org/drawingml/2006/main">
            <a:pPr algn="l">
              <a:defRPr sz="2325" b="1">
                <a:solidFill>
                  <a:srgbClr val="B94E45"/>
                </a:solidFill>
                <a:latin typeface="Arial"/>
                <a:ea typeface="Arial"/>
                <a:cs typeface="Arial"/>
              </a:defRPr>
            </a:pPr>
            <a:r>
              <a:rPr sz="2325" b="1">
                <a:solidFill>
                  <a:srgbClr val="B94E45"/>
                </a:solidFill>
                <a:latin typeface="Arial"/>
                <a:ea typeface="Arial"/>
                <a:cs typeface="Arial"/>
              </a:rPr>
              <a:t>2.04%</a:t>
            </a:r>
          </a:p>
        </p:txBody>
      </p:sp>
      <p:sp>
        <p:nvSpPr>
          <p:cNvPr id="11" name="">
            <a:extLst xmlns:a="http://schemas.openxmlformats.org/drawingml/2006/main">
              <a:ext uri="{FF2B5EF4-FFF2-40B4-BE49-F238E27FC236}">
                <a16:creationId xmlns:a16="http://schemas.microsoft.com/office/drawing/2014/main" id="{CE6F6E87-90AD-4CCA-BEC5-7AB84537795E}"/>
              </a:ext>
            </a:extLst>
          </p:cNvPr>
          <p:cNvSpPr>
            <a:spLocks xmlns:a="http://schemas.openxmlformats.org/drawingml/2006/main" noGrp="1"/>
          </p:cNvSpPr>
          <p:nvPr/>
        </p:nvSpPr>
        <p:spPr>
          <a:xfrm xmlns:a="http://schemas.openxmlformats.org/drawingml/2006/main">
            <a:off x="8391525" y="2400300"/>
            <a:ext cx="2971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87C75"/>
                </a:solidFill>
                <a:latin typeface="Arial"/>
                <a:ea typeface="Arial"/>
                <a:cs typeface="Arial"/>
              </a:defRPr>
            </a:defPPr>
          </a:lstStyle>
          <a:p xmlns:a="http://schemas.openxmlformats.org/drawingml/2006/main">
            <a:pPr algn="l">
              <a:defRPr sz="1350" b="1">
                <a:solidFill>
                  <a:srgbClr val="087C75"/>
                </a:solidFill>
                <a:latin typeface="Arial"/>
                <a:ea typeface="Arial"/>
                <a:cs typeface="Arial"/>
              </a:defRPr>
            </a:pPr>
            <a:r>
              <a:rPr sz="1350" b="1">
                <a:solidFill>
                  <a:srgbClr val="087C75"/>
                </a:solidFill>
                <a:latin typeface="Arial"/>
                <a:ea typeface="Arial"/>
                <a:cs typeface="Arial"/>
              </a:rPr>
              <a:t>Q + guard: 0% in these 50 runs</a:t>
            </a:r>
          </a:p>
        </p:txBody>
      </p:sp>
      <p:sp>
        <p:nvSpPr>
          <p:cNvPr id="12" name="">
            <a:extLst xmlns:a="http://schemas.openxmlformats.org/drawingml/2006/main">
              <a:ext uri="{FF2B5EF4-FFF2-40B4-BE49-F238E27FC236}">
                <a16:creationId xmlns:a16="http://schemas.microsoft.com/office/drawing/2014/main" id="{22C18630-ABD3-4841-BD3E-20712255F6FA}"/>
              </a:ext>
            </a:extLst>
          </p:cNvPr>
          <p:cNvSpPr>
            <a:spLocks xmlns:a="http://schemas.openxmlformats.org/drawingml/2006/main" noGrp="1"/>
          </p:cNvSpPr>
          <p:nvPr/>
        </p:nvSpPr>
        <p:spPr>
          <a:xfrm xmlns:a="http://schemas.openxmlformats.org/drawingml/2006/main">
            <a:off x="8391525" y="2952750"/>
            <a:ext cx="293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667A8A"/>
                </a:solidFill>
                <a:latin typeface="Arial"/>
                <a:ea typeface="Arial"/>
                <a:cs typeface="Arial"/>
              </a:defRPr>
            </a:defPPr>
          </a:lstStyle>
          <a:p xmlns:a="http://schemas.openxmlformats.org/drawingml/2006/main">
            <a:pPr algn="l">
              <a:defRPr sz="900" b="1">
                <a:solidFill>
                  <a:srgbClr val="667A8A"/>
                </a:solidFill>
                <a:latin typeface="Arial"/>
                <a:ea typeface="Arial"/>
                <a:cs typeface="Arial"/>
              </a:defRPr>
            </a:pPr>
            <a:r>
              <a:rPr sz="900" b="1">
                <a:solidFill>
                  <a:srgbClr val="667A8A"/>
                </a:solidFill>
                <a:latin typeface="Arial"/>
                <a:ea typeface="Arial"/>
                <a:cs typeface="Arial"/>
              </a:rPr>
              <a:t>GUARDED Q − Q MINIMUM GAP</a:t>
            </a:r>
          </a:p>
        </p:txBody>
      </p:sp>
      <p:sp>
        <p:nvSpPr>
          <p:cNvPr id="13" name="">
            <a:extLst xmlns:a="http://schemas.openxmlformats.org/drawingml/2006/main">
              <a:ext uri="{FF2B5EF4-FFF2-40B4-BE49-F238E27FC236}">
                <a16:creationId xmlns:a16="http://schemas.microsoft.com/office/drawing/2014/main" id="{B0877F70-AE00-43A0-9979-AA6CC6D7A036}"/>
              </a:ext>
            </a:extLst>
          </p:cNvPr>
          <p:cNvSpPr>
            <a:spLocks xmlns:a="http://schemas.openxmlformats.org/drawingml/2006/main" noGrp="1"/>
          </p:cNvSpPr>
          <p:nvPr/>
        </p:nvSpPr>
        <p:spPr>
          <a:xfrm xmlns:a="http://schemas.openxmlformats.org/drawingml/2006/main">
            <a:off x="8391525" y="3209925"/>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D98F32"/>
                </a:solidFill>
                <a:latin typeface="Arial"/>
                <a:ea typeface="Arial"/>
                <a:cs typeface="Arial"/>
              </a:defRPr>
            </a:defPPr>
          </a:lstStyle>
          <a:p xmlns:a="http://schemas.openxmlformats.org/drawingml/2006/main">
            <a:pPr algn="l">
              <a:defRPr sz="2325" b="1">
                <a:solidFill>
                  <a:srgbClr val="D98F32"/>
                </a:solidFill>
                <a:latin typeface="Arial"/>
                <a:ea typeface="Arial"/>
                <a:cs typeface="Arial"/>
              </a:defRPr>
            </a:pPr>
            <a:r>
              <a:rPr sz="2325" b="1">
                <a:solidFill>
                  <a:srgbClr val="D98F32"/>
                </a:solidFill>
                <a:latin typeface="Arial"/>
                <a:ea typeface="Arial"/>
                <a:cs typeface="Arial"/>
              </a:rPr>
              <a:t>+4.35 m</a:t>
            </a:r>
          </a:p>
        </p:txBody>
      </p:sp>
      <p:sp>
        <p:nvSpPr>
          <p:cNvPr id="14" name="">
            <a:extLst xmlns:a="http://schemas.openxmlformats.org/drawingml/2006/main">
              <a:ext uri="{FF2B5EF4-FFF2-40B4-BE49-F238E27FC236}">
                <a16:creationId xmlns:a16="http://schemas.microsoft.com/office/drawing/2014/main" id="{A6FAC655-09CF-41C3-B08E-F45A12C6657A}"/>
              </a:ext>
            </a:extLst>
          </p:cNvPr>
          <p:cNvSpPr>
            <a:spLocks xmlns:a="http://schemas.openxmlformats.org/drawingml/2006/main" noGrp="1"/>
          </p:cNvSpPr>
          <p:nvPr/>
        </p:nvSpPr>
        <p:spPr>
          <a:xfrm xmlns:a="http://schemas.openxmlformats.org/drawingml/2006/main">
            <a:off x="8391525" y="3857625"/>
            <a:ext cx="30003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1D2E3B"/>
                </a:solidFill>
                <a:latin typeface="Arial"/>
                <a:ea typeface="Arial"/>
                <a:cs typeface="Arial"/>
              </a:defRPr>
            </a:defPPr>
          </a:lstStyle>
          <a:p xmlns:a="http://schemas.openxmlformats.org/drawingml/2006/main">
            <a:pPr algn="l">
              <a:defRPr sz="1200" b="0">
                <a:solidFill>
                  <a:srgbClr val="1D2E3B"/>
                </a:solidFill>
                <a:latin typeface="Arial"/>
                <a:ea typeface="Arial"/>
                <a:cs typeface="Arial"/>
              </a:defRPr>
            </a:pPr>
            <a:r>
              <a:rPr sz="1200" b="0">
                <a:solidFill>
                  <a:srgbClr val="1D2E3B"/>
                </a:solidFill>
                <a:latin typeface="Arial"/>
                <a:ea typeface="Arial"/>
                <a:cs typeface="Arial"/>
              </a:rPr>
              <a:t>Q jerk 0.957 → guarded Q 1.222 m/s³</a:t>
            </a:r>
          </a:p>
          <a:p xmlns:a="http://schemas.openxmlformats.org/drawingml/2006/main">
            <a:pPr algn="l">
              <a:defRPr sz="1200" b="0">
                <a:solidFill>
                  <a:srgbClr val="1D2E3B"/>
                </a:solidFill>
                <a:latin typeface="Arial"/>
                <a:ea typeface="Arial"/>
                <a:cs typeface="Arial"/>
              </a:defRPr>
            </a:pPr>
            <a:r>
              <a:rPr sz="1200" b="0">
                <a:solidFill>
                  <a:srgbClr val="1D2E3B"/>
                </a:solidFill>
                <a:latin typeface="Arial"/>
                <a:ea typeface="Arial"/>
                <a:cs typeface="Arial"/>
              </a:rPr>
              <a:t>25.8 action edits per episode</a:t>
            </a:r>
          </a:p>
        </p:txBody>
      </p:sp>
      <p:sp>
        <p:nvSpPr>
          <p:cNvPr id="15" name="">
            <a:extLst xmlns:a="http://schemas.openxmlformats.org/drawingml/2006/main">
              <a:ext uri="{FF2B5EF4-FFF2-40B4-BE49-F238E27FC236}">
                <a16:creationId xmlns:a16="http://schemas.microsoft.com/office/drawing/2014/main" id="{BC6006B4-9A3F-4F08-9046-E54E2F5DD032}"/>
              </a:ext>
            </a:extLst>
          </p:cNvPr>
          <p:cNvSpPr>
            <a:spLocks xmlns:a="http://schemas.openxmlformats.org/drawingml/2006/main" noGrp="1"/>
          </p:cNvSpPr>
          <p:nvPr/>
        </p:nvSpPr>
        <p:spPr>
          <a:xfrm xmlns:a="http://schemas.openxmlformats.org/drawingml/2006/main">
            <a:off x="8391525" y="4838700"/>
            <a:ext cx="3000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102437"/>
                </a:solidFill>
                <a:latin typeface="Arial"/>
                <a:ea typeface="Arial"/>
                <a:cs typeface="Arial"/>
              </a:defRPr>
            </a:defPPr>
          </a:lstStyle>
          <a:p xmlns:a="http://schemas.openxmlformats.org/drawingml/2006/main">
            <a:pPr algn="l">
              <a:defRPr sz="1200" b="1">
                <a:solidFill>
                  <a:srgbClr val="102437"/>
                </a:solidFill>
                <a:latin typeface="Arial"/>
                <a:ea typeface="Arial"/>
                <a:cs typeface="Arial"/>
              </a:defRPr>
            </a:pPr>
            <a:r>
              <a:rPr sz="1200" b="1">
                <a:solidFill>
                  <a:srgbClr val="102437"/>
                </a:solidFill>
                <a:latin typeface="Arial"/>
                <a:ea typeface="Arial"/>
                <a:cs typeface="Arial"/>
              </a:rPr>
              <a:t>No collisions in 50 cut-in episodes; this is not a safety guarantee.</a:t>
            </a:r>
          </a:p>
        </p:txBody>
      </p:sp>
      <p:sp>
        <p:nvSpPr>
          <p:cNvPr id="16" name="">
            <a:extLst xmlns:a="http://schemas.openxmlformats.org/drawingml/2006/main">
              <a:ext uri="{FF2B5EF4-FFF2-40B4-BE49-F238E27FC236}">
                <a16:creationId xmlns:a16="http://schemas.microsoft.com/office/drawing/2014/main" id="{BC78EA2D-415E-4D68-91DE-EB7AEDF9C8F1}"/>
              </a:ext>
            </a:extLst>
          </p:cNvPr>
          <p:cNvSpPr>
            <a:spLocks xmlns:a="http://schemas.openxmlformats.org/drawingml/2006/main" noGrp="1"/>
          </p:cNvSpPr>
          <p:nvPr/>
        </p:nvSpPr>
        <p:spPr>
          <a:xfrm xmlns:a="http://schemas.openxmlformats.org/drawingml/2006/main">
            <a:off x="552450" y="57721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38" b="0">
                <a:solidFill>
                  <a:srgbClr val="667A8A"/>
                </a:solidFill>
                <a:latin typeface="Arial"/>
                <a:ea typeface="Arial"/>
                <a:cs typeface="Arial"/>
              </a:defRPr>
            </a:defPPr>
          </a:lstStyle>
          <a:p xmlns:a="http://schemas.openxmlformats.org/drawingml/2006/main">
            <a:pPr algn="l">
              <a:defRPr sz="1238" b="0">
                <a:solidFill>
                  <a:srgbClr val="667A8A"/>
                </a:solidFill>
                <a:latin typeface="Arial"/>
                <a:ea typeface="Arial"/>
                <a:cs typeface="Arial"/>
              </a:defRPr>
            </a:pPr>
            <a:r>
              <a:rPr sz="1238" b="0">
                <a:solidFill>
                  <a:srgbClr val="667A8A"/>
                </a:solidFill>
                <a:latin typeface="Arial"/>
                <a:ea typeface="Arial"/>
                <a:cs typeface="Arial"/>
              </a:rPr>
              <a:t>A cut-in is an instantaneous gap drop in this model; no lane-change dynamics.</a:t>
            </a:r>
          </a:p>
        </p:txBody>
      </p:sp>
    </p:spTree>
    <p:extLst>
      <p:ext uri="{BB962C8B-B14F-4D97-AF65-F5344CB8AC3E}">
        <p14:creationId xmlns:p14="http://schemas.microsoft.com/office/powerpoint/2010/main" val="265734613"/>
      </p:ext>
    </p:extLst>
  </p:cSld>
</p:sld>
</file>

<file path=ppt/slides/slide11.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CE72C7-FFCC-46B8-A38B-CC603E6B355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81DDAE-1868-44AC-980F-2385A25CED62}"/>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10 · RESULTS · ONE EXAMPLE</a:t>
            </a:r>
          </a:p>
        </p:txBody>
      </p:sp>
      <p:sp>
        <p:nvSpPr>
          <p:cNvPr id="3" name="slide-11-title">
            <a:extLst xmlns:a="http://schemas.openxmlformats.org/drawingml/2006/main">
              <a:ext uri="{FF2B5EF4-FFF2-40B4-BE49-F238E27FC236}">
                <a16:creationId xmlns:a16="http://schemas.microsoft.com/office/drawing/2014/main" id="{810A8B4F-90EC-4254-A1CA-8483B0FCC10B}"/>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00" b="1">
                <a:solidFill>
                  <a:srgbClr val="102437"/>
                </a:solidFill>
                <a:latin typeface="Arial"/>
                <a:ea typeface="Arial"/>
                <a:cs typeface="Arial"/>
              </a:defRPr>
            </a:defPPr>
          </a:lstStyle>
          <a:p xmlns:a="http://schemas.openxmlformats.org/drawingml/2006/main">
            <a:pPr algn="l">
              <a:defRPr sz="2400" b="1">
                <a:solidFill>
                  <a:srgbClr val="102437"/>
                </a:solidFill>
                <a:latin typeface="Arial"/>
                <a:ea typeface="Arial"/>
                <a:cs typeface="Arial"/>
              </a:defRPr>
            </a:pPr>
            <a:r>
              <a:rPr sz="2400" b="1">
                <a:solidFill>
                  <a:srgbClr val="102437"/>
                </a:solidFill>
                <a:latin typeface="Arial"/>
                <a:ea typeface="Arial"/>
                <a:cs typeface="Arial"/>
              </a:rPr>
              <a:t>Same cut-in, four controllers: follow the gap after the event.</a:t>
            </a:r>
          </a:p>
        </p:txBody>
      </p:sp>
      <p:sp>
        <p:nvSpPr>
          <p:cNvPr id="4" name="">
            <a:extLst xmlns:a="http://schemas.openxmlformats.org/drawingml/2006/main">
              <a:ext uri="{FF2B5EF4-FFF2-40B4-BE49-F238E27FC236}">
                <a16:creationId xmlns:a16="http://schemas.microsoft.com/office/drawing/2014/main" id="{7BC3F871-6CD4-4E81-9F0D-82EF235719FA}"/>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37F770CE-5570-493B-AFD3-16FD6D9515AB}"/>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1A86BF25-7E6A-4A5A-8866-94DAFC504221}"/>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11</a:t>
            </a:r>
          </a:p>
        </p:txBody>
      </p:sp>
      <p:graphicFrame>
        <p:nvGraphicFramePr>
          <p:cNvPr id="7" name="Chart">
            <a:extLst xmlns:a="http://schemas.openxmlformats.org/drawingml/2006/main">
              <a:ext uri="{FF2B5EF4-FFF2-40B4-BE49-F238E27FC236}">
                <a16:creationId xmlns:a16="http://schemas.microsoft.com/office/drawing/2014/main" id="{6610E1E3-3E94-4C1D-A145-84283EE7708B}"/>
              </a:ext>
            </a:extLst>
          </p:cNvPr>
          <p:cNvGraphicFramePr/>
          <p:nvPr/>
        </p:nvGraphicFramePr>
        <p:xfrm>
          <a:off xmlns:a="http://schemas.openxmlformats.org/drawingml/2006/main" x="552450" y="1381125"/>
          <a:ext xmlns:a="http://schemas.openxmlformats.org/drawingml/2006/main" cx="11087100" cy="4171950"/>
        </p:xfrm>
        <a:graphic xmlns:a="http://schemas.openxmlformats.org/drawingml/2006/main">
          <a:graphicData uri="http://schemas.openxmlformats.org/drawingml/2006/chart">
            <c:chart xmlns:r="http://schemas.openxmlformats.org/officeDocument/2006/relationships" xmlns:c="http://schemas.openxmlformats.org/drawingml/2006/chart" r:id="R2c7dc8a69b3e4abd"/>
          </a:graphicData>
        </a:graphic>
      </p:graphicFrame>
      <p:sp>
        <p:nvSpPr>
          <p:cNvPr id="8" name="">
            <a:extLst xmlns:a="http://schemas.openxmlformats.org/drawingml/2006/main">
              <a:ext uri="{FF2B5EF4-FFF2-40B4-BE49-F238E27FC236}">
                <a16:creationId xmlns:a16="http://schemas.microsoft.com/office/drawing/2014/main" id="{D101A6E4-8CA9-4C48-A629-13D9B1F45A45}"/>
              </a:ext>
            </a:extLst>
          </p:cNvPr>
          <p:cNvSpPr>
            <a:spLocks xmlns:a="http://schemas.openxmlformats.org/drawingml/2006/main" noGrp="1"/>
          </p:cNvSpPr>
          <p:nvPr/>
        </p:nvSpPr>
        <p:spPr>
          <a:xfrm xmlns:a="http://schemas.openxmlformats.org/drawingml/2006/main">
            <a:off x="552450" y="57721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87C75"/>
                </a:solidFill>
                <a:latin typeface="Arial"/>
                <a:ea typeface="Arial"/>
                <a:cs typeface="Arial"/>
              </a:defRPr>
            </a:defPPr>
          </a:lstStyle>
          <a:p xmlns:a="http://schemas.openxmlformats.org/drawingml/2006/main">
            <a:pPr algn="l">
              <a:defRPr sz="1275" b="1">
                <a:solidFill>
                  <a:srgbClr val="087C75"/>
                </a:solidFill>
                <a:latin typeface="Arial"/>
                <a:ea typeface="Arial"/>
                <a:cs typeface="Arial"/>
              </a:defRPr>
            </a:pPr>
            <a:r>
              <a:rPr sz="1275" b="1">
                <a:solidFill>
                  <a:srgbClr val="087C75"/>
                </a:solidFill>
                <a:latin typeface="Arial"/>
                <a:ea typeface="Arial"/>
                <a:cs typeface="Arial"/>
              </a:rPr>
              <a:t>One trajectory helps explain the event; the 50-episode averages above carry the comparison.</a:t>
            </a:r>
          </a:p>
        </p:txBody>
      </p:sp>
    </p:spTree>
    <p:extLst>
      <p:ext uri="{BB962C8B-B14F-4D97-AF65-F5344CB8AC3E}">
        <p14:creationId xmlns:p14="http://schemas.microsoft.com/office/powerpoint/2010/main" val="15419557"/>
      </p:ext>
    </p:extLst>
  </p:cSld>
</p:sld>
</file>

<file path=ppt/slides/slide12.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ACDBFD-1769-4168-B98A-ACA6EDE5BF1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F8D4EC-2608-42B4-AADC-74147CA595AD}"/>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11 · PRODUCTION REFERENCE</a:t>
            </a:r>
          </a:p>
        </p:txBody>
      </p:sp>
      <p:sp>
        <p:nvSpPr>
          <p:cNvPr id="3" name="slide-12-title">
            <a:extLst xmlns:a="http://schemas.openxmlformats.org/drawingml/2006/main">
              <a:ext uri="{FF2B5EF4-FFF2-40B4-BE49-F238E27FC236}">
                <a16:creationId xmlns:a16="http://schemas.microsoft.com/office/drawing/2014/main" id="{2F56DAA6-348A-4047-8178-6DDB1E98334D}"/>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437"/>
                </a:solidFill>
                <a:latin typeface="Arial"/>
                <a:ea typeface="Arial"/>
                <a:cs typeface="Arial"/>
              </a:defRPr>
            </a:defPPr>
          </a:lstStyle>
          <a:p xmlns:a="http://schemas.openxmlformats.org/drawingml/2006/main">
            <a:pPr algn="l">
              <a:defRPr sz="2250" b="1">
                <a:solidFill>
                  <a:srgbClr val="102437"/>
                </a:solidFill>
                <a:latin typeface="Arial"/>
                <a:ea typeface="Arial"/>
                <a:cs typeface="Arial"/>
              </a:defRPr>
            </a:pPr>
            <a:r>
              <a:rPr sz="2250" b="1">
                <a:solidFill>
                  <a:srgbClr val="102437"/>
                </a:solidFill>
                <a:latin typeface="Arial"/>
                <a:ea typeface="Arial"/>
                <a:cs typeface="Arial"/>
              </a:rPr>
              <a:t>Current commercial ACC already reacts to cut-ins; our evidence is narrower.</a:t>
            </a:r>
          </a:p>
        </p:txBody>
      </p:sp>
      <p:sp>
        <p:nvSpPr>
          <p:cNvPr id="4" name="">
            <a:extLst xmlns:a="http://schemas.openxmlformats.org/drawingml/2006/main">
              <a:ext uri="{FF2B5EF4-FFF2-40B4-BE49-F238E27FC236}">
                <a16:creationId xmlns:a16="http://schemas.microsoft.com/office/drawing/2014/main" id="{4BED7EDF-5746-4B2C-A102-5F6CA53CE1F8}"/>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505D59C3-E875-4698-ACCD-4FBE9680C385}"/>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B8A78FC3-F984-4A7A-99D7-5B2D4913D0DA}"/>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1A393E1E-9C10-49C1-AE71-013ECCC688C2}"/>
              </a:ext>
            </a:extLst>
          </p:cNvPr>
          <p:cNvSpPr>
            <a:spLocks xmlns:a="http://schemas.openxmlformats.org/drawingml/2006/main" noGrp="1"/>
          </p:cNvSpPr>
          <p:nvPr/>
        </p:nvSpPr>
        <p:spPr>
          <a:xfrm xmlns:a="http://schemas.openxmlformats.org/drawingml/2006/main">
            <a:off x="552450" y="1543050"/>
            <a:ext cx="3381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3F7990"/>
                </a:solidFill>
                <a:latin typeface="Arial"/>
                <a:ea typeface="Arial"/>
                <a:cs typeface="Arial"/>
              </a:defRPr>
            </a:defPPr>
          </a:lstStyle>
          <a:p xmlns:a="http://schemas.openxmlformats.org/drawingml/2006/main">
            <a:pPr algn="l">
              <a:defRPr sz="975" b="1">
                <a:solidFill>
                  <a:srgbClr val="3F7990"/>
                </a:solidFill>
                <a:latin typeface="Arial"/>
                <a:ea typeface="Arial"/>
                <a:cs typeface="Arial"/>
              </a:defRPr>
            </a:pPr>
            <a:r>
              <a:rPr sz="975" b="1">
                <a:solidFill>
                  <a:srgbClr val="3F7990"/>
                </a:solidFill>
                <a:latin typeface="Arial"/>
                <a:ea typeface="Arial"/>
                <a:cs typeface="Arial"/>
              </a:rPr>
              <a:t>CURRENT PRODUCT</a:t>
            </a:r>
          </a:p>
        </p:txBody>
      </p:sp>
      <p:sp>
        <p:nvSpPr>
          <p:cNvPr id="8" name="">
            <a:extLst xmlns:a="http://schemas.openxmlformats.org/drawingml/2006/main">
              <a:ext uri="{FF2B5EF4-FFF2-40B4-BE49-F238E27FC236}">
                <a16:creationId xmlns:a16="http://schemas.microsoft.com/office/drawing/2014/main" id="{F420D1BC-F0A8-4649-911A-6FF3CC36E020}"/>
              </a:ext>
            </a:extLst>
          </p:cNvPr>
          <p:cNvSpPr>
            <a:spLocks xmlns:a="http://schemas.openxmlformats.org/drawingml/2006/main" noGrp="1"/>
          </p:cNvSpPr>
          <p:nvPr/>
        </p:nvSpPr>
        <p:spPr>
          <a:xfrm xmlns:a="http://schemas.openxmlformats.org/drawingml/2006/main">
            <a:off x="552450" y="1943100"/>
            <a:ext cx="33813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437"/>
                </a:solidFill>
                <a:latin typeface="Arial"/>
                <a:ea typeface="Arial"/>
                <a:cs typeface="Arial"/>
              </a:defRPr>
            </a:defPPr>
          </a:lstStyle>
          <a:p xmlns:a="http://schemas.openxmlformats.org/drawingml/2006/main">
            <a:pPr algn="l">
              <a:defRPr sz="1725" b="1">
                <a:solidFill>
                  <a:srgbClr val="102437"/>
                </a:solidFill>
                <a:latin typeface="Arial"/>
                <a:ea typeface="Arial"/>
                <a:cs typeface="Arial"/>
              </a:defRPr>
            </a:pPr>
            <a:r>
              <a:rPr sz="1725" b="1">
                <a:solidFill>
                  <a:srgbClr val="102437"/>
                </a:solidFill>
                <a:latin typeface="Arial"/>
                <a:ea typeface="Arial"/>
                <a:cs typeface="Arial"/>
              </a:rPr>
              <a:t>2025 Honda Accord Hybrid</a:t>
            </a:r>
          </a:p>
        </p:txBody>
      </p:sp>
      <p:sp>
        <p:nvSpPr>
          <p:cNvPr id="9" name="">
            <a:extLst xmlns:a="http://schemas.openxmlformats.org/drawingml/2006/main">
              <a:ext uri="{FF2B5EF4-FFF2-40B4-BE49-F238E27FC236}">
                <a16:creationId xmlns:a16="http://schemas.microsoft.com/office/drawing/2014/main" id="{C2BA93DD-5F2C-4785-B174-6D40F7640976}"/>
              </a:ext>
            </a:extLst>
          </p:cNvPr>
          <p:cNvSpPr>
            <a:spLocks xmlns:a="http://schemas.openxmlformats.org/drawingml/2006/main" noGrp="1"/>
          </p:cNvSpPr>
          <p:nvPr/>
        </p:nvSpPr>
        <p:spPr>
          <a:xfrm xmlns:a="http://schemas.openxmlformats.org/drawingml/2006/main">
            <a:off x="552450" y="2705100"/>
            <a:ext cx="3381375"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1D2E3B"/>
                </a:solidFill>
                <a:latin typeface="Arial"/>
                <a:ea typeface="Arial"/>
                <a:cs typeface="Arial"/>
              </a:defRPr>
            </a:defPPr>
          </a:lstStyle>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Owner manual describes a selectable following interval and a warning when a lead slows abruptly or another car cuts in.</a:t>
            </a:r>
          </a:p>
        </p:txBody>
      </p:sp>
      <p:sp>
        <p:nvSpPr>
          <p:cNvPr id="10" name="">
            <a:extLst xmlns:a="http://schemas.openxmlformats.org/drawingml/2006/main">
              <a:ext uri="{FF2B5EF4-FFF2-40B4-BE49-F238E27FC236}">
                <a16:creationId xmlns:a16="http://schemas.microsoft.com/office/drawing/2014/main" id="{4BB20C9B-23E9-4C16-A976-B596771B3CCF}"/>
              </a:ext>
            </a:extLst>
          </p:cNvPr>
          <p:cNvSpPr>
            <a:spLocks xmlns:a="http://schemas.openxmlformats.org/drawingml/2006/main" noGrp="1"/>
          </p:cNvSpPr>
          <p:nvPr/>
        </p:nvSpPr>
        <p:spPr>
          <a:xfrm xmlns:a="http://schemas.openxmlformats.org/drawingml/2006/main">
            <a:off x="4162425" y="1476375"/>
            <a:ext cx="0" cy="3952875"/>
          </a:xfrm>
          <a:prstGeom xmlns:a="http://schemas.openxmlformats.org/drawingml/2006/main" prst="line">
            <a:avLst/>
          </a:prstGeom>
          <a:noFill xmlns:a="http://schemas.openxmlformats.org/drawingml/2006/main"/>
          <a:ln xmlns:a="http://schemas.openxmlformats.org/drawingml/2006/main" w="11430">
            <a:solidFill>
              <a:srgbClr val="D8E1E7"/>
            </a:solidFill>
            <a:prstDash val="solid"/>
          </a:ln>
        </p:spPr>
      </p:sp>
      <p:sp>
        <p:nvSpPr>
          <p:cNvPr id="11" name="">
            <a:extLst xmlns:a="http://schemas.openxmlformats.org/drawingml/2006/main">
              <a:ext uri="{FF2B5EF4-FFF2-40B4-BE49-F238E27FC236}">
                <a16:creationId xmlns:a16="http://schemas.microsoft.com/office/drawing/2014/main" id="{59FAC0ED-2710-4EBB-85B2-9632819DF2BD}"/>
              </a:ext>
            </a:extLst>
          </p:cNvPr>
          <p:cNvSpPr>
            <a:spLocks xmlns:a="http://schemas.openxmlformats.org/drawingml/2006/main" noGrp="1"/>
          </p:cNvSpPr>
          <p:nvPr/>
        </p:nvSpPr>
        <p:spPr>
          <a:xfrm xmlns:a="http://schemas.openxmlformats.org/drawingml/2006/main">
            <a:off x="4391025" y="1543050"/>
            <a:ext cx="3381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E9F94"/>
                </a:solidFill>
                <a:latin typeface="Arial"/>
                <a:ea typeface="Arial"/>
                <a:cs typeface="Arial"/>
              </a:defRPr>
            </a:defPPr>
          </a:lstStyle>
          <a:p xmlns:a="http://schemas.openxmlformats.org/drawingml/2006/main">
            <a:pPr algn="l">
              <a:defRPr sz="975" b="1">
                <a:solidFill>
                  <a:srgbClr val="0E9F94"/>
                </a:solidFill>
                <a:latin typeface="Arial"/>
                <a:ea typeface="Arial"/>
                <a:cs typeface="Arial"/>
              </a:defRPr>
            </a:pPr>
            <a:r>
              <a:rPr sz="975" b="1">
                <a:solidFill>
                  <a:srgbClr val="0E9F94"/>
                </a:solidFill>
                <a:latin typeface="Arial"/>
                <a:ea typeface="Arial"/>
                <a:cs typeface="Arial"/>
              </a:rPr>
              <a:t>REAL-ROAD REFERENCE</a:t>
            </a:r>
          </a:p>
        </p:txBody>
      </p:sp>
      <p:sp>
        <p:nvSpPr>
          <p:cNvPr id="12" name="">
            <a:extLst xmlns:a="http://schemas.openxmlformats.org/drawingml/2006/main">
              <a:ext uri="{FF2B5EF4-FFF2-40B4-BE49-F238E27FC236}">
                <a16:creationId xmlns:a16="http://schemas.microsoft.com/office/drawing/2014/main" id="{ECA18A09-42D1-467F-A70C-41EE37B1CBAC}"/>
              </a:ext>
            </a:extLst>
          </p:cNvPr>
          <p:cNvSpPr>
            <a:spLocks xmlns:a="http://schemas.openxmlformats.org/drawingml/2006/main" noGrp="1"/>
          </p:cNvSpPr>
          <p:nvPr/>
        </p:nvSpPr>
        <p:spPr>
          <a:xfrm xmlns:a="http://schemas.openxmlformats.org/drawingml/2006/main">
            <a:off x="4391025" y="1943100"/>
            <a:ext cx="33813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437"/>
                </a:solidFill>
                <a:latin typeface="Arial"/>
                <a:ea typeface="Arial"/>
                <a:cs typeface="Arial"/>
              </a:defRPr>
            </a:defPPr>
          </a:lstStyle>
          <a:p xmlns:a="http://schemas.openxmlformats.org/drawingml/2006/main">
            <a:pPr algn="l">
              <a:defRPr sz="1725" b="1">
                <a:solidFill>
                  <a:srgbClr val="102437"/>
                </a:solidFill>
                <a:latin typeface="Arial"/>
                <a:ea typeface="Arial"/>
                <a:cs typeface="Arial"/>
              </a:defRPr>
            </a:pPr>
            <a:r>
              <a:rPr sz="1725" b="1">
                <a:solidFill>
                  <a:srgbClr val="102437"/>
                </a:solidFill>
                <a:latin typeface="Arial"/>
                <a:ea typeface="Arial"/>
                <a:cs typeface="Arial"/>
              </a:rPr>
              <a:t>OpenACC · 5,505 samples</a:t>
            </a:r>
          </a:p>
        </p:txBody>
      </p:sp>
      <p:sp>
        <p:nvSpPr>
          <p:cNvPr id="13" name="">
            <a:extLst xmlns:a="http://schemas.openxmlformats.org/drawingml/2006/main">
              <a:ext uri="{FF2B5EF4-FFF2-40B4-BE49-F238E27FC236}">
                <a16:creationId xmlns:a16="http://schemas.microsoft.com/office/drawing/2014/main" id="{7E8F01F1-2375-4AE3-8CC9-69EE794CB7D2}"/>
              </a:ext>
            </a:extLst>
          </p:cNvPr>
          <p:cNvSpPr>
            <a:spLocks xmlns:a="http://schemas.openxmlformats.org/drawingml/2006/main" noGrp="1"/>
          </p:cNvSpPr>
          <p:nvPr/>
        </p:nvSpPr>
        <p:spPr>
          <a:xfrm xmlns:a="http://schemas.openxmlformats.org/drawingml/2006/main">
            <a:off x="4391025" y="2705100"/>
            <a:ext cx="3381375"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1D2E3B"/>
                </a:solidFill>
                <a:latin typeface="Arial"/>
                <a:ea typeface="Arial"/>
                <a:cs typeface="Arial"/>
              </a:defRPr>
            </a:defPPr>
          </a:lstStyle>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One 2019 minimum-distance run: median observed time headway 1.31 s; our 5 m + 1.3v target implies 1.46 s at the same speed.</a:t>
            </a:r>
          </a:p>
        </p:txBody>
      </p:sp>
      <p:sp>
        <p:nvSpPr>
          <p:cNvPr id="14" name="">
            <a:extLst xmlns:a="http://schemas.openxmlformats.org/drawingml/2006/main">
              <a:ext uri="{FF2B5EF4-FFF2-40B4-BE49-F238E27FC236}">
                <a16:creationId xmlns:a16="http://schemas.microsoft.com/office/drawing/2014/main" id="{780E7C0D-2561-4BD5-801B-E309D3510995}"/>
              </a:ext>
            </a:extLst>
          </p:cNvPr>
          <p:cNvSpPr>
            <a:spLocks xmlns:a="http://schemas.openxmlformats.org/drawingml/2006/main" noGrp="1"/>
          </p:cNvSpPr>
          <p:nvPr/>
        </p:nvSpPr>
        <p:spPr>
          <a:xfrm xmlns:a="http://schemas.openxmlformats.org/drawingml/2006/main">
            <a:off x="8001000" y="1476375"/>
            <a:ext cx="0" cy="3952875"/>
          </a:xfrm>
          <a:prstGeom xmlns:a="http://schemas.openxmlformats.org/drawingml/2006/main" prst="line">
            <a:avLst/>
          </a:prstGeom>
          <a:noFill xmlns:a="http://schemas.openxmlformats.org/drawingml/2006/main"/>
          <a:ln xmlns:a="http://schemas.openxmlformats.org/drawingml/2006/main" w="11430">
            <a:solidFill>
              <a:srgbClr val="D8E1E7"/>
            </a:solidFill>
            <a:prstDash val="solid"/>
          </a:ln>
        </p:spPr>
      </p:sp>
      <p:sp>
        <p:nvSpPr>
          <p:cNvPr id="15" name="">
            <a:extLst xmlns:a="http://schemas.openxmlformats.org/drawingml/2006/main">
              <a:ext uri="{FF2B5EF4-FFF2-40B4-BE49-F238E27FC236}">
                <a16:creationId xmlns:a16="http://schemas.microsoft.com/office/drawing/2014/main" id="{41DE737F-7CA3-4BB8-9261-621ACABBF25D}"/>
              </a:ext>
            </a:extLst>
          </p:cNvPr>
          <p:cNvSpPr>
            <a:spLocks xmlns:a="http://schemas.openxmlformats.org/drawingml/2006/main" noGrp="1"/>
          </p:cNvSpPr>
          <p:nvPr/>
        </p:nvSpPr>
        <p:spPr>
          <a:xfrm xmlns:a="http://schemas.openxmlformats.org/drawingml/2006/main">
            <a:off x="8229600" y="1543050"/>
            <a:ext cx="3409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D98F32"/>
                </a:solidFill>
                <a:latin typeface="Arial"/>
                <a:ea typeface="Arial"/>
                <a:cs typeface="Arial"/>
              </a:defRPr>
            </a:defPPr>
          </a:lstStyle>
          <a:p xmlns:a="http://schemas.openxmlformats.org/drawingml/2006/main">
            <a:pPr algn="l">
              <a:defRPr sz="975" b="1">
                <a:solidFill>
                  <a:srgbClr val="D98F32"/>
                </a:solidFill>
                <a:latin typeface="Arial"/>
                <a:ea typeface="Arial"/>
                <a:cs typeface="Arial"/>
              </a:defRPr>
            </a:pPr>
            <a:r>
              <a:rPr sz="975" b="1">
                <a:solidFill>
                  <a:srgbClr val="D98F32"/>
                </a:solidFill>
                <a:latin typeface="Arial"/>
                <a:ea typeface="Arial"/>
                <a:cs typeface="Arial"/>
              </a:rPr>
              <a:t>FAIR COMPARISON</a:t>
            </a:r>
          </a:p>
        </p:txBody>
      </p:sp>
      <p:sp>
        <p:nvSpPr>
          <p:cNvPr id="16" name="">
            <a:extLst xmlns:a="http://schemas.openxmlformats.org/drawingml/2006/main">
              <a:ext uri="{FF2B5EF4-FFF2-40B4-BE49-F238E27FC236}">
                <a16:creationId xmlns:a16="http://schemas.microsoft.com/office/drawing/2014/main" id="{F5B787D1-8F50-4B1A-A95C-CC9779E73396}"/>
              </a:ext>
            </a:extLst>
          </p:cNvPr>
          <p:cNvSpPr>
            <a:spLocks xmlns:a="http://schemas.openxmlformats.org/drawingml/2006/main" noGrp="1"/>
          </p:cNvSpPr>
          <p:nvPr/>
        </p:nvSpPr>
        <p:spPr>
          <a:xfrm xmlns:a="http://schemas.openxmlformats.org/drawingml/2006/main">
            <a:off x="8229600" y="1943100"/>
            <a:ext cx="34099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437"/>
                </a:solidFill>
                <a:latin typeface="Arial"/>
                <a:ea typeface="Arial"/>
                <a:cs typeface="Arial"/>
              </a:defRPr>
            </a:defPPr>
          </a:lstStyle>
          <a:p xmlns:a="http://schemas.openxmlformats.org/drawingml/2006/main">
            <a:pPr algn="l">
              <a:defRPr sz="1725" b="1">
                <a:solidFill>
                  <a:srgbClr val="102437"/>
                </a:solidFill>
                <a:latin typeface="Arial"/>
                <a:ea typeface="Arial"/>
                <a:cs typeface="Arial"/>
              </a:defRPr>
            </a:pPr>
            <a:r>
              <a:rPr sz="1725" b="1">
                <a:solidFill>
                  <a:srgbClr val="102437"/>
                </a:solidFill>
                <a:latin typeface="Arial"/>
                <a:ea typeface="Arial"/>
                <a:cs typeface="Arial"/>
              </a:rPr>
              <a:t>No product winner claimed</a:t>
            </a:r>
          </a:p>
        </p:txBody>
      </p:sp>
      <p:sp>
        <p:nvSpPr>
          <p:cNvPr id="17" name="">
            <a:extLst xmlns:a="http://schemas.openxmlformats.org/drawingml/2006/main">
              <a:ext uri="{FF2B5EF4-FFF2-40B4-BE49-F238E27FC236}">
                <a16:creationId xmlns:a16="http://schemas.microsoft.com/office/drawing/2014/main" id="{C295160E-2347-4D18-9F15-3DBFA07A3341}"/>
              </a:ext>
            </a:extLst>
          </p:cNvPr>
          <p:cNvSpPr>
            <a:spLocks xmlns:a="http://schemas.openxmlformats.org/drawingml/2006/main" noGrp="1"/>
          </p:cNvSpPr>
          <p:nvPr/>
        </p:nvSpPr>
        <p:spPr>
          <a:xfrm xmlns:a="http://schemas.openxmlformats.org/drawingml/2006/main">
            <a:off x="8229600" y="2705100"/>
            <a:ext cx="34099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1D2E3B"/>
                </a:solidFill>
                <a:latin typeface="Arial"/>
                <a:ea typeface="Arial"/>
                <a:cs typeface="Arial"/>
              </a:defRPr>
            </a:defPPr>
          </a:lstStyle>
          <a:p xmlns:a="http://schemas.openxmlformats.org/drawingml/2006/main">
            <a:pPr algn="l">
              <a:defRPr sz="1350" b="0">
                <a:solidFill>
                  <a:srgbClr val="1D2E3B"/>
                </a:solidFill>
                <a:latin typeface="Arial"/>
                <a:ea typeface="Arial"/>
                <a:cs typeface="Arial"/>
              </a:defRPr>
            </a:pPr>
            <a:r>
              <a:rPr sz="1350" b="0">
                <a:solidFill>
                  <a:srgbClr val="1D2E3B"/>
                </a:solidFill>
                <a:latin typeface="Arial"/>
                <a:ea typeface="Arial"/>
                <a:cs typeface="Arial"/>
              </a:rPr>
              <a:t>The field trace is not a cut-in challenge; the owner manual does not expose control gains. We compare our algorithms in simulation.</a:t>
            </a:r>
          </a:p>
        </p:txBody>
      </p:sp>
      <p:sp>
        <p:nvSpPr>
          <p:cNvPr id="18" name="comparison-boundary">
            <a:extLst xmlns:a="http://schemas.openxmlformats.org/drawingml/2006/main">
              <a:ext uri="{FF2B5EF4-FFF2-40B4-BE49-F238E27FC236}">
                <a16:creationId xmlns:a16="http://schemas.microsoft.com/office/drawing/2014/main" id="{AB53EB7D-4A94-4ADF-BF45-DC83920DB096}"/>
              </a:ext>
            </a:extLst>
          </p:cNvPr>
          <p:cNvSpPr>
            <a:spLocks xmlns:a="http://schemas.openxmlformats.org/drawingml/2006/main" noGrp="1"/>
          </p:cNvSpPr>
          <p:nvPr/>
        </p:nvSpPr>
        <p:spPr>
          <a:xfrm xmlns:a="http://schemas.openxmlformats.org/drawingml/2006/main">
            <a:off x="552450" y="4448175"/>
            <a:ext cx="11087100" cy="942975"/>
          </a:xfrm>
          <a:prstGeom xmlns:a="http://schemas.openxmlformats.org/drawingml/2006/main" prst="roundRect">
            <a:avLst>
              <a:gd name="adj" fmla="val 10101"/>
            </a:avLst>
          </a:prstGeom>
          <a:solidFill xmlns:a="http://schemas.openxmlformats.org/drawingml/2006/main">
            <a:srgbClr val="E7F4F2"/>
          </a:solidFill>
          <a:ln xmlns:a="http://schemas.openxmlformats.org/drawingml/2006/main" w="9525">
            <a:solidFill>
              <a:srgbClr val="D8E1E7"/>
            </a:solidFill>
            <a:prstDash val="solid"/>
          </a:ln>
        </p:spPr>
      </p:sp>
      <p:sp>
        <p:nvSpPr>
          <p:cNvPr id="19" name="">
            <a:extLst xmlns:a="http://schemas.openxmlformats.org/drawingml/2006/main">
              <a:ext uri="{FF2B5EF4-FFF2-40B4-BE49-F238E27FC236}">
                <a16:creationId xmlns:a16="http://schemas.microsoft.com/office/drawing/2014/main" id="{EE1DA8DE-3122-4A84-9122-51200BCB0CA0}"/>
              </a:ext>
            </a:extLst>
          </p:cNvPr>
          <p:cNvSpPr>
            <a:spLocks xmlns:a="http://schemas.openxmlformats.org/drawingml/2006/main" noGrp="1"/>
          </p:cNvSpPr>
          <p:nvPr/>
        </p:nvSpPr>
        <p:spPr>
          <a:xfrm xmlns:a="http://schemas.openxmlformats.org/drawingml/2006/main">
            <a:off x="771525" y="46291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087C75"/>
                </a:solidFill>
                <a:latin typeface="Arial"/>
                <a:ea typeface="Arial"/>
                <a:cs typeface="Arial"/>
              </a:defRPr>
            </a:defPPr>
          </a:lstStyle>
          <a:p xmlns:a="http://schemas.openxmlformats.org/drawingml/2006/main">
            <a:pPr algn="l">
              <a:defRPr sz="1200" b="1">
                <a:solidFill>
                  <a:srgbClr val="087C75"/>
                </a:solidFill>
                <a:latin typeface="Arial"/>
                <a:ea typeface="Arial"/>
                <a:cs typeface="Arial"/>
              </a:defRPr>
            </a:pPr>
            <a:r>
              <a:rPr sz="1200" b="1">
                <a:solidFill>
                  <a:srgbClr val="087C75"/>
                </a:solidFill>
                <a:latin typeface="Arial"/>
                <a:ea typeface="Arial"/>
                <a:cs typeface="Arial"/>
              </a:rPr>
              <a:t>What we can say</a:t>
            </a:r>
          </a:p>
        </p:txBody>
      </p:sp>
      <p:sp>
        <p:nvSpPr>
          <p:cNvPr id="20" name="">
            <a:extLst xmlns:a="http://schemas.openxmlformats.org/drawingml/2006/main">
              <a:ext uri="{FF2B5EF4-FFF2-40B4-BE49-F238E27FC236}">
                <a16:creationId xmlns:a16="http://schemas.microsoft.com/office/drawing/2014/main" id="{870D4AA8-AA7B-4CFA-B076-4DCC8841A123}"/>
              </a:ext>
            </a:extLst>
          </p:cNvPr>
          <p:cNvSpPr>
            <a:spLocks xmlns:a="http://schemas.openxmlformats.org/drawingml/2006/main" noGrp="1"/>
          </p:cNvSpPr>
          <p:nvPr/>
        </p:nvSpPr>
        <p:spPr>
          <a:xfrm xmlns:a="http://schemas.openxmlformats.org/drawingml/2006/main">
            <a:off x="2533650" y="4600575"/>
            <a:ext cx="8772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102437"/>
                </a:solidFill>
                <a:latin typeface="Arial"/>
                <a:ea typeface="Arial"/>
                <a:cs typeface="Arial"/>
              </a:defRPr>
            </a:defPPr>
          </a:lstStyle>
          <a:p xmlns:a="http://schemas.openxmlformats.org/drawingml/2006/main">
            <a:pPr algn="l">
              <a:defRPr sz="1275" b="1">
                <a:solidFill>
                  <a:srgbClr val="102437"/>
                </a:solidFill>
                <a:latin typeface="Arial"/>
                <a:ea typeface="Arial"/>
                <a:cs typeface="Arial"/>
              </a:defRPr>
            </a:pPr>
            <a:r>
              <a:rPr sz="1275" b="1">
                <a:solidFill>
                  <a:srgbClr val="102437"/>
                </a:solidFill>
                <a:latin typeface="Arial"/>
                <a:ea typeface="Arial"/>
                <a:cs typeface="Arial"/>
              </a:rPr>
              <a:t>Guarded Q improved two cut-in indicators versus unguarded Q. MPC still had better simulated gap tracking and a larger minimum gap.</a:t>
            </a:r>
          </a:p>
        </p:txBody>
      </p:sp>
      <p:sp>
        <p:nvSpPr>
          <p:cNvPr id="21" name="">
            <a:extLst xmlns:a="http://schemas.openxmlformats.org/drawingml/2006/main">
              <a:ext uri="{FF2B5EF4-FFF2-40B4-BE49-F238E27FC236}">
                <a16:creationId xmlns:a16="http://schemas.microsoft.com/office/drawing/2014/main" id="{18680871-22F1-434F-BA33-1619B8C6069D}"/>
              </a:ext>
            </a:extLst>
          </p:cNvPr>
          <p:cNvSpPr>
            <a:spLocks xmlns:a="http://schemas.openxmlformats.org/drawingml/2006/main" noGrp="1"/>
          </p:cNvSpPr>
          <p:nvPr/>
        </p:nvSpPr>
        <p:spPr>
          <a:xfrm xmlns:a="http://schemas.openxmlformats.org/drawingml/2006/main">
            <a:off x="552450" y="577215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63" b="0">
                <a:solidFill>
                  <a:srgbClr val="667A8A"/>
                </a:solidFill>
                <a:latin typeface="Arial"/>
                <a:ea typeface="Arial"/>
                <a:cs typeface="Arial"/>
              </a:defRPr>
            </a:defPPr>
          </a:lstStyle>
          <a:p xmlns:a="http://schemas.openxmlformats.org/drawingml/2006/main">
            <a:pPr algn="l">
              <a:defRPr sz="1163" b="0">
                <a:solidFill>
                  <a:srgbClr val="667A8A"/>
                </a:solidFill>
                <a:latin typeface="Arial"/>
                <a:ea typeface="Arial"/>
                <a:cs typeface="Arial"/>
              </a:defRPr>
            </a:pPr>
            <a:r>
              <a:rPr sz="1163" b="0">
                <a:solidFill>
                  <a:srgbClr val="667A8A"/>
                </a:solidFill>
                <a:latin typeface="Arial"/>
                <a:ea typeface="Arial"/>
                <a:cs typeface="Arial"/>
              </a:rPr>
              <a:t>OpenACC is a 2019 field dataset; Honda’s official 2025 owner manual is a feature reference, not a public controller benchmark.</a:t>
            </a:r>
          </a:p>
        </p:txBody>
      </p:sp>
    </p:spTree>
    <p:extLst>
      <p:ext uri="{BB962C8B-B14F-4D97-AF65-F5344CB8AC3E}">
        <p14:creationId xmlns:p14="http://schemas.microsoft.com/office/powerpoint/2010/main" val="37102106"/>
      </p:ext>
    </p:extLst>
  </p:cSld>
</p:sld>
</file>

<file path=ppt/slides/slide13.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40A11C3-1FCB-4D79-82E3-9B80E93FB63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F827B0-EBBC-4247-9AA3-F8A61648D1B3}"/>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12 · OWN WORK</a:t>
            </a:r>
          </a:p>
        </p:txBody>
      </p:sp>
      <p:sp>
        <p:nvSpPr>
          <p:cNvPr id="3" name="slide-13-title">
            <a:extLst xmlns:a="http://schemas.openxmlformats.org/drawingml/2006/main">
              <a:ext uri="{FF2B5EF4-FFF2-40B4-BE49-F238E27FC236}">
                <a16:creationId xmlns:a16="http://schemas.microsoft.com/office/drawing/2014/main" id="{046C0C3E-FA88-43A6-9BE3-87FA9966EC7F}"/>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102437"/>
                </a:solidFill>
                <a:latin typeface="Arial"/>
                <a:ea typeface="Arial"/>
                <a:cs typeface="Arial"/>
              </a:defRPr>
            </a:defPPr>
          </a:lstStyle>
          <a:p xmlns:a="http://schemas.openxmlformats.org/drawingml/2006/main">
            <a:pPr algn="l">
              <a:defRPr sz="2175" b="1">
                <a:solidFill>
                  <a:srgbClr val="102437"/>
                </a:solidFill>
                <a:latin typeface="Arial"/>
                <a:ea typeface="Arial"/>
                <a:cs typeface="Arial"/>
              </a:defRPr>
            </a:pPr>
            <a:r>
              <a:rPr sz="2175" b="1">
                <a:solidFill>
                  <a:srgbClr val="102437"/>
                </a:solidFill>
                <a:latin typeface="Arial"/>
                <a:ea typeface="Arial"/>
                <a:cs typeface="Arial"/>
              </a:rPr>
              <a:t>The first Q policy failed; the learned correction improved it but did not win.</a:t>
            </a:r>
          </a:p>
        </p:txBody>
      </p:sp>
      <p:sp>
        <p:nvSpPr>
          <p:cNvPr id="4" name="">
            <a:extLst xmlns:a="http://schemas.openxmlformats.org/drawingml/2006/main">
              <a:ext uri="{FF2B5EF4-FFF2-40B4-BE49-F238E27FC236}">
                <a16:creationId xmlns:a16="http://schemas.microsoft.com/office/drawing/2014/main" id="{37DC25E7-EBCD-4B35-B98B-87A39F7F928E}"/>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580F2CA7-C6EA-4DDD-8798-CF5AFDA230A9}"/>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51349856-B48F-4D52-B3C9-59B7CA5076E8}"/>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22F0CF29-7C9D-45BD-8556-A06D5ED356C4}"/>
              </a:ext>
            </a:extLst>
          </p:cNvPr>
          <p:cNvSpPr>
            <a:spLocks xmlns:a="http://schemas.openxmlformats.org/drawingml/2006/main" noGrp="1"/>
          </p:cNvSpPr>
          <p:nvPr/>
        </p:nvSpPr>
        <p:spPr>
          <a:xfrm xmlns:a="http://schemas.openxmlformats.org/drawingml/2006/main">
            <a:off x="552450" y="1524000"/>
            <a:ext cx="3048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B94E45"/>
                </a:solidFill>
                <a:latin typeface="Arial"/>
                <a:ea typeface="Arial"/>
                <a:cs typeface="Arial"/>
              </a:defRPr>
            </a:defPPr>
          </a:lstStyle>
          <a:p xmlns:a="http://schemas.openxmlformats.org/drawingml/2006/main">
            <a:pPr algn="l">
              <a:defRPr sz="975" b="1">
                <a:solidFill>
                  <a:srgbClr val="B94E45"/>
                </a:solidFill>
                <a:latin typeface="Arial"/>
                <a:ea typeface="Arial"/>
                <a:cs typeface="Arial"/>
              </a:defRPr>
            </a:pPr>
            <a:r>
              <a:rPr sz="975" b="1">
                <a:solidFill>
                  <a:srgbClr val="B94E45"/>
                </a:solidFill>
                <a:latin typeface="Arial"/>
                <a:ea typeface="Arial"/>
                <a:cs typeface="Arial"/>
              </a:rPr>
              <a:t>ABSOLUTE ACTION PILOT</a:t>
            </a:r>
          </a:p>
        </p:txBody>
      </p:sp>
      <p:sp>
        <p:nvSpPr>
          <p:cNvPr id="8" name="">
            <a:extLst xmlns:a="http://schemas.openxmlformats.org/drawingml/2006/main">
              <a:ext uri="{FF2B5EF4-FFF2-40B4-BE49-F238E27FC236}">
                <a16:creationId xmlns:a16="http://schemas.microsoft.com/office/drawing/2014/main" id="{62C82A9C-2684-4A7F-95F1-894905F69AB7}"/>
              </a:ext>
            </a:extLst>
          </p:cNvPr>
          <p:cNvSpPr>
            <a:spLocks xmlns:a="http://schemas.openxmlformats.org/drawingml/2006/main" noGrp="1"/>
          </p:cNvSpPr>
          <p:nvPr/>
        </p:nvSpPr>
        <p:spPr>
          <a:xfrm xmlns:a="http://schemas.openxmlformats.org/drawingml/2006/main">
            <a:off x="552450" y="1895475"/>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B94E45"/>
                </a:solidFill>
                <a:latin typeface="Arial"/>
                <a:ea typeface="Arial"/>
                <a:cs typeface="Arial"/>
              </a:defRPr>
            </a:defPPr>
          </a:lstStyle>
          <a:p xmlns:a="http://schemas.openxmlformats.org/drawingml/2006/main">
            <a:pPr algn="l">
              <a:defRPr sz="3000" b="1">
                <a:solidFill>
                  <a:srgbClr val="B94E45"/>
                </a:solidFill>
                <a:latin typeface="Arial"/>
                <a:ea typeface="Arial"/>
                <a:cs typeface="Arial"/>
              </a:defRPr>
            </a:pPr>
            <a:r>
              <a:rPr sz="3000" b="1">
                <a:solidFill>
                  <a:srgbClr val="B94E45"/>
                </a:solidFill>
                <a:latin typeface="Arial"/>
                <a:ea typeface="Arial"/>
                <a:cs typeface="Arial"/>
              </a:rPr>
              <a:t>15.20 m</a:t>
            </a:r>
          </a:p>
        </p:txBody>
      </p:sp>
      <p:sp>
        <p:nvSpPr>
          <p:cNvPr id="9" name="">
            <a:extLst xmlns:a="http://schemas.openxmlformats.org/drawingml/2006/main">
              <a:ext uri="{FF2B5EF4-FFF2-40B4-BE49-F238E27FC236}">
                <a16:creationId xmlns:a16="http://schemas.microsoft.com/office/drawing/2014/main" id="{A9C09314-A1A0-4C42-BF82-A100595B47B7}"/>
              </a:ext>
            </a:extLst>
          </p:cNvPr>
          <p:cNvSpPr>
            <a:spLocks xmlns:a="http://schemas.openxmlformats.org/drawingml/2006/main" noGrp="1"/>
          </p:cNvSpPr>
          <p:nvPr/>
        </p:nvSpPr>
        <p:spPr>
          <a:xfrm xmlns:a="http://schemas.openxmlformats.org/drawingml/2006/main">
            <a:off x="552450" y="2466975"/>
            <a:ext cx="2809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667A8A"/>
                </a:solidFill>
                <a:latin typeface="Arial"/>
                <a:ea typeface="Arial"/>
                <a:cs typeface="Arial"/>
              </a:defRPr>
            </a:defPPr>
          </a:lstStyle>
          <a:p xmlns:a="http://schemas.openxmlformats.org/drawingml/2006/main">
            <a:pPr algn="l">
              <a:defRPr sz="1275" b="0">
                <a:solidFill>
                  <a:srgbClr val="667A8A"/>
                </a:solidFill>
                <a:latin typeface="Arial"/>
                <a:ea typeface="Arial"/>
                <a:cs typeface="Arial"/>
              </a:defRPr>
            </a:pPr>
            <a:r>
              <a:rPr sz="1275" b="0">
                <a:solidFill>
                  <a:srgbClr val="667A8A"/>
                </a:solidFill>
                <a:latin typeface="Arial"/>
                <a:ea typeface="Arial"/>
                <a:cs typeface="Arial"/>
              </a:rPr>
              <a:t>in-distribution gap RMSE</a:t>
            </a:r>
          </a:p>
        </p:txBody>
      </p:sp>
      <p:sp>
        <p:nvSpPr>
          <p:cNvPr id="10" name="">
            <a:extLst xmlns:a="http://schemas.openxmlformats.org/drawingml/2006/main">
              <a:ext uri="{FF2B5EF4-FFF2-40B4-BE49-F238E27FC236}">
                <a16:creationId xmlns:a16="http://schemas.microsoft.com/office/drawing/2014/main" id="{93E231BC-0673-4EFA-8EEB-D7FD92EA5269}"/>
              </a:ext>
            </a:extLst>
          </p:cNvPr>
          <p:cNvSpPr>
            <a:spLocks xmlns:a="http://schemas.openxmlformats.org/drawingml/2006/main" noGrp="1"/>
          </p:cNvSpPr>
          <p:nvPr/>
        </p:nvSpPr>
        <p:spPr>
          <a:xfrm xmlns:a="http://schemas.openxmlformats.org/drawingml/2006/main">
            <a:off x="552450" y="3038475"/>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00" b="1">
                <a:solidFill>
                  <a:srgbClr val="102437"/>
                </a:solidFill>
                <a:latin typeface="Arial"/>
                <a:ea typeface="Arial"/>
                <a:cs typeface="Arial"/>
              </a:defRPr>
            </a:defPPr>
          </a:lstStyle>
          <a:p xmlns:a="http://schemas.openxmlformats.org/drawingml/2006/main">
            <a:pPr algn="l">
              <a:defRPr sz="2400" b="1">
                <a:solidFill>
                  <a:srgbClr val="102437"/>
                </a:solidFill>
                <a:latin typeface="Arial"/>
                <a:ea typeface="Arial"/>
                <a:cs typeface="Arial"/>
              </a:defRPr>
            </a:pPr>
            <a:r>
              <a:rPr sz="2400" b="1">
                <a:solidFill>
                  <a:srgbClr val="102437"/>
                </a:solidFill>
                <a:latin typeface="Arial"/>
                <a:ea typeface="Arial"/>
                <a:cs typeface="Arial"/>
              </a:rPr>
              <a:t>1 / 24</a:t>
            </a:r>
          </a:p>
        </p:txBody>
      </p:sp>
      <p:sp>
        <p:nvSpPr>
          <p:cNvPr id="11" name="">
            <a:extLst xmlns:a="http://schemas.openxmlformats.org/drawingml/2006/main">
              <a:ext uri="{FF2B5EF4-FFF2-40B4-BE49-F238E27FC236}">
                <a16:creationId xmlns:a16="http://schemas.microsoft.com/office/drawing/2014/main" id="{4B06CBC6-3229-4EF3-A3AE-8706B9AC318E}"/>
              </a:ext>
            </a:extLst>
          </p:cNvPr>
          <p:cNvSpPr>
            <a:spLocks xmlns:a="http://schemas.openxmlformats.org/drawingml/2006/main" noGrp="1"/>
          </p:cNvSpPr>
          <p:nvPr/>
        </p:nvSpPr>
        <p:spPr>
          <a:xfrm xmlns:a="http://schemas.openxmlformats.org/drawingml/2006/main">
            <a:off x="552450" y="3514725"/>
            <a:ext cx="2809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667A8A"/>
                </a:solidFill>
                <a:latin typeface="Arial"/>
                <a:ea typeface="Arial"/>
                <a:cs typeface="Arial"/>
              </a:defRPr>
            </a:defPPr>
          </a:lstStyle>
          <a:p xmlns:a="http://schemas.openxmlformats.org/drawingml/2006/main">
            <a:pPr algn="l">
              <a:defRPr sz="1275" b="0">
                <a:solidFill>
                  <a:srgbClr val="667A8A"/>
                </a:solidFill>
                <a:latin typeface="Arial"/>
                <a:ea typeface="Arial"/>
                <a:cs typeface="Arial"/>
              </a:defRPr>
            </a:pPr>
            <a:r>
              <a:rPr sz="1275" b="0">
                <a:solidFill>
                  <a:srgbClr val="667A8A"/>
                </a:solidFill>
                <a:latin typeface="Arial"/>
                <a:ea typeface="Arial"/>
                <a:cs typeface="Arial"/>
              </a:rPr>
              <a:t>episodes had a collision</a:t>
            </a:r>
          </a:p>
        </p:txBody>
      </p:sp>
      <p:sp>
        <p:nvSpPr>
          <p:cNvPr id="12" name="">
            <a:extLst xmlns:a="http://schemas.openxmlformats.org/drawingml/2006/main">
              <a:ext uri="{FF2B5EF4-FFF2-40B4-BE49-F238E27FC236}">
                <a16:creationId xmlns:a16="http://schemas.microsoft.com/office/drawing/2014/main" id="{B86CD6BC-4A93-4197-ADD1-0406808EF6F6}"/>
              </a:ext>
            </a:extLst>
          </p:cNvPr>
          <p:cNvSpPr>
            <a:spLocks xmlns:a="http://schemas.openxmlformats.org/drawingml/2006/main" noGrp="1"/>
          </p:cNvSpPr>
          <p:nvPr/>
        </p:nvSpPr>
        <p:spPr>
          <a:xfrm xmlns:a="http://schemas.openxmlformats.org/drawingml/2006/main">
            <a:off x="4000500" y="1524000"/>
            <a:ext cx="0" cy="3695700"/>
          </a:xfrm>
          <a:prstGeom xmlns:a="http://schemas.openxmlformats.org/drawingml/2006/main" prst="line">
            <a:avLst/>
          </a:prstGeom>
          <a:noFill xmlns:a="http://schemas.openxmlformats.org/drawingml/2006/main"/>
          <a:ln xmlns:a="http://schemas.openxmlformats.org/drawingml/2006/main" w="13335">
            <a:solidFill>
              <a:srgbClr val="D8E1E7"/>
            </a:solidFill>
            <a:prstDash val="solid"/>
          </a:ln>
        </p:spPr>
      </p:sp>
      <p:sp>
        <p:nvSpPr>
          <p:cNvPr id="13" name="">
            <a:extLst xmlns:a="http://schemas.openxmlformats.org/drawingml/2006/main">
              <a:ext uri="{FF2B5EF4-FFF2-40B4-BE49-F238E27FC236}">
                <a16:creationId xmlns:a16="http://schemas.microsoft.com/office/drawing/2014/main" id="{5734C111-BC2E-4599-BB18-E6958BAEF1B7}"/>
              </a:ext>
            </a:extLst>
          </p:cNvPr>
          <p:cNvSpPr>
            <a:spLocks xmlns:a="http://schemas.openxmlformats.org/drawingml/2006/main" noGrp="1"/>
          </p:cNvSpPr>
          <p:nvPr/>
        </p:nvSpPr>
        <p:spPr>
          <a:xfrm xmlns:a="http://schemas.openxmlformats.org/drawingml/2006/main">
            <a:off x="4533900" y="1524000"/>
            <a:ext cx="333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RESIDUAL Q REDESIGN</a:t>
            </a:r>
          </a:p>
        </p:txBody>
      </p:sp>
      <p:sp>
        <p:nvSpPr>
          <p:cNvPr id="14" name="">
            <a:extLst xmlns:a="http://schemas.openxmlformats.org/drawingml/2006/main">
              <a:ext uri="{FF2B5EF4-FFF2-40B4-BE49-F238E27FC236}">
                <a16:creationId xmlns:a16="http://schemas.microsoft.com/office/drawing/2014/main" id="{E340A812-B35D-403E-8194-016A041A651A}"/>
              </a:ext>
            </a:extLst>
          </p:cNvPr>
          <p:cNvSpPr>
            <a:spLocks xmlns:a="http://schemas.openxmlformats.org/drawingml/2006/main" noGrp="1"/>
          </p:cNvSpPr>
          <p:nvPr/>
        </p:nvSpPr>
        <p:spPr>
          <a:xfrm xmlns:a="http://schemas.openxmlformats.org/drawingml/2006/main">
            <a:off x="4533900" y="199072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437"/>
                </a:solidFill>
                <a:latin typeface="Arial"/>
                <a:ea typeface="Arial"/>
                <a:cs typeface="Arial"/>
              </a:defRPr>
            </a:defPPr>
          </a:lstStyle>
          <a:p xmlns:a="http://schemas.openxmlformats.org/drawingml/2006/main">
            <a:pPr algn="l">
              <a:defRPr sz="1875" b="1">
                <a:solidFill>
                  <a:srgbClr val="102437"/>
                </a:solidFill>
                <a:latin typeface="Arial"/>
                <a:ea typeface="Arial"/>
                <a:cs typeface="Arial"/>
              </a:defRPr>
            </a:pPr>
            <a:r>
              <a:rPr sz="1875" b="1">
                <a:solidFill>
                  <a:srgbClr val="102437"/>
                </a:solidFill>
                <a:latin typeface="Arial"/>
                <a:ea typeface="Arial"/>
                <a:cs typeface="Arial"/>
              </a:rPr>
              <a:t>CTG-PID action</a:t>
            </a:r>
          </a:p>
        </p:txBody>
      </p:sp>
      <p:sp>
        <p:nvSpPr>
          <p:cNvPr id="15" name="">
            <a:extLst xmlns:a="http://schemas.openxmlformats.org/drawingml/2006/main">
              <a:ext uri="{FF2B5EF4-FFF2-40B4-BE49-F238E27FC236}">
                <a16:creationId xmlns:a16="http://schemas.microsoft.com/office/drawing/2014/main" id="{3B3732A7-40EF-4697-971D-988541857BBB}"/>
              </a:ext>
            </a:extLst>
          </p:cNvPr>
          <p:cNvSpPr>
            <a:spLocks xmlns:a="http://schemas.openxmlformats.org/drawingml/2006/main" noGrp="1"/>
          </p:cNvSpPr>
          <p:nvPr/>
        </p:nvSpPr>
        <p:spPr>
          <a:xfrm xmlns:a="http://schemas.openxmlformats.org/drawingml/2006/main">
            <a:off x="4533900" y="24574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0">
                <a:solidFill>
                  <a:srgbClr val="1D2E3B"/>
                </a:solidFill>
                <a:latin typeface="Arial"/>
                <a:ea typeface="Arial"/>
                <a:cs typeface="Arial"/>
              </a:defRPr>
            </a:defPPr>
          </a:lstStyle>
          <a:p xmlns:a="http://schemas.openxmlformats.org/drawingml/2006/main">
            <a:pPr algn="l">
              <a:defRPr sz="1575" b="0">
                <a:solidFill>
                  <a:srgbClr val="1D2E3B"/>
                </a:solidFill>
                <a:latin typeface="Arial"/>
                <a:ea typeface="Arial"/>
                <a:cs typeface="Arial"/>
              </a:defRPr>
            </a:pPr>
            <a:r>
              <a:rPr sz="1575" b="0">
                <a:solidFill>
                  <a:srgbClr val="1D2E3B"/>
                </a:solidFill>
                <a:latin typeface="Arial"/>
                <a:ea typeface="Arial"/>
                <a:cs typeface="Arial"/>
              </a:rPr>
              <a:t>+ one of seven learned corrections</a:t>
            </a:r>
          </a:p>
        </p:txBody>
      </p:sp>
      <p:sp>
        <p:nvSpPr>
          <p:cNvPr id="16" name="">
            <a:extLst xmlns:a="http://schemas.openxmlformats.org/drawingml/2006/main">
              <a:ext uri="{FF2B5EF4-FFF2-40B4-BE49-F238E27FC236}">
                <a16:creationId xmlns:a16="http://schemas.microsoft.com/office/drawing/2014/main" id="{D781084B-C13E-4220-8D4C-DCF2BF40BBB5}"/>
              </a:ext>
            </a:extLst>
          </p:cNvPr>
          <p:cNvSpPr>
            <a:spLocks xmlns:a="http://schemas.openxmlformats.org/drawingml/2006/main" noGrp="1"/>
          </p:cNvSpPr>
          <p:nvPr/>
        </p:nvSpPr>
        <p:spPr>
          <a:xfrm xmlns:a="http://schemas.openxmlformats.org/drawingml/2006/main">
            <a:off x="4533900" y="2943225"/>
            <a:ext cx="5191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087C75"/>
                </a:solidFill>
                <a:latin typeface="Arial"/>
                <a:ea typeface="Arial"/>
                <a:cs typeface="Arial"/>
              </a:defRPr>
            </a:defPPr>
          </a:lstStyle>
          <a:p xmlns:a="http://schemas.openxmlformats.org/drawingml/2006/main">
            <a:pPr algn="l">
              <a:defRPr sz="1425" b="0">
                <a:solidFill>
                  <a:srgbClr val="087C75"/>
                </a:solidFill>
                <a:latin typeface="Arial"/>
                <a:ea typeface="Arial"/>
                <a:cs typeface="Arial"/>
              </a:defRPr>
            </a:pPr>
            <a:r>
              <a:rPr sz="1425" b="0">
                <a:solidFill>
                  <a:srgbClr val="087C75"/>
                </a:solidFill>
                <a:latin typeface="Arial"/>
                <a:ea typeface="Arial"/>
                <a:cs typeface="Arial"/>
              </a:rPr>
              <a:t>zero residual on ties / unvisited bins</a:t>
            </a:r>
          </a:p>
        </p:txBody>
      </p:sp>
      <p:sp>
        <p:nvSpPr>
          <p:cNvPr id="17" name="">
            <a:extLst xmlns:a="http://schemas.openxmlformats.org/drawingml/2006/main">
              <a:ext uri="{FF2B5EF4-FFF2-40B4-BE49-F238E27FC236}">
                <a16:creationId xmlns:a16="http://schemas.microsoft.com/office/drawing/2014/main" id="{2734048E-0C4B-4E4D-BFEB-E9BCCBF0D565}"/>
              </a:ext>
            </a:extLst>
          </p:cNvPr>
          <p:cNvSpPr>
            <a:spLocks xmlns:a="http://schemas.openxmlformats.org/drawingml/2006/main" noGrp="1"/>
          </p:cNvSpPr>
          <p:nvPr/>
        </p:nvSpPr>
        <p:spPr>
          <a:xfrm xmlns:a="http://schemas.openxmlformats.org/drawingml/2006/main">
            <a:off x="4533900" y="3552825"/>
            <a:ext cx="67818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18" name="">
            <a:extLst xmlns:a="http://schemas.openxmlformats.org/drawingml/2006/main">
              <a:ext uri="{FF2B5EF4-FFF2-40B4-BE49-F238E27FC236}">
                <a16:creationId xmlns:a16="http://schemas.microsoft.com/office/drawing/2014/main" id="{2B47091C-EFC0-47FF-8D18-B4A9B21AEC55}"/>
              </a:ext>
            </a:extLst>
          </p:cNvPr>
          <p:cNvSpPr>
            <a:spLocks xmlns:a="http://schemas.openxmlformats.org/drawingml/2006/main" noGrp="1"/>
          </p:cNvSpPr>
          <p:nvPr/>
        </p:nvSpPr>
        <p:spPr>
          <a:xfrm xmlns:a="http://schemas.openxmlformats.org/drawingml/2006/main">
            <a:off x="4533900" y="38671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MEAN GAP RMSE · 150 COMMON-PROFILE EPISODES EACH</a:t>
            </a:r>
          </a:p>
        </p:txBody>
      </p:sp>
      <p:sp>
        <p:nvSpPr>
          <p:cNvPr id="19" name="">
            <a:extLst xmlns:a="http://schemas.openxmlformats.org/drawingml/2006/main">
              <a:ext uri="{FF2B5EF4-FFF2-40B4-BE49-F238E27FC236}">
                <a16:creationId xmlns:a16="http://schemas.microsoft.com/office/drawing/2014/main" id="{9BC3D2FC-9B51-4C42-AEC3-DFD963AA35F7}"/>
              </a:ext>
            </a:extLst>
          </p:cNvPr>
          <p:cNvSpPr>
            <a:spLocks xmlns:a="http://schemas.openxmlformats.org/drawingml/2006/main" noGrp="1"/>
          </p:cNvSpPr>
          <p:nvPr/>
        </p:nvSpPr>
        <p:spPr>
          <a:xfrm xmlns:a="http://schemas.openxmlformats.org/drawingml/2006/main">
            <a:off x="4533900" y="4238625"/>
            <a:ext cx="1714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F7990"/>
                </a:solidFill>
                <a:latin typeface="Arial"/>
                <a:ea typeface="Arial"/>
                <a:cs typeface="Arial"/>
              </a:defRPr>
            </a:defPPr>
          </a:lstStyle>
          <a:p xmlns:a="http://schemas.openxmlformats.org/drawingml/2006/main">
            <a:pPr algn="l">
              <a:defRPr sz="1050" b="1">
                <a:solidFill>
                  <a:srgbClr val="3F7990"/>
                </a:solidFill>
                <a:latin typeface="Arial"/>
                <a:ea typeface="Arial"/>
                <a:cs typeface="Arial"/>
              </a:defRPr>
            </a:pPr>
            <a:r>
              <a:rPr sz="1050" b="1">
                <a:solidFill>
                  <a:srgbClr val="3F7990"/>
                </a:solidFill>
                <a:latin typeface="Arial"/>
                <a:ea typeface="Arial"/>
                <a:cs typeface="Arial"/>
              </a:rPr>
              <a:t>CTG-PID</a:t>
            </a:r>
          </a:p>
        </p:txBody>
      </p:sp>
      <p:sp>
        <p:nvSpPr>
          <p:cNvPr id="20" name="">
            <a:extLst xmlns:a="http://schemas.openxmlformats.org/drawingml/2006/main">
              <a:ext uri="{FF2B5EF4-FFF2-40B4-BE49-F238E27FC236}">
                <a16:creationId xmlns:a16="http://schemas.microsoft.com/office/drawing/2014/main" id="{853EE684-33F2-4221-87B2-0BCCA27D85B8}"/>
              </a:ext>
            </a:extLst>
          </p:cNvPr>
          <p:cNvSpPr>
            <a:spLocks xmlns:a="http://schemas.openxmlformats.org/drawingml/2006/main" noGrp="1"/>
          </p:cNvSpPr>
          <p:nvPr/>
        </p:nvSpPr>
        <p:spPr>
          <a:xfrm xmlns:a="http://schemas.openxmlformats.org/drawingml/2006/main">
            <a:off x="4533900" y="45243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02437"/>
                </a:solidFill>
                <a:latin typeface="Arial"/>
                <a:ea typeface="Arial"/>
                <a:cs typeface="Arial"/>
              </a:defRPr>
            </a:defPPr>
          </a:lstStyle>
          <a:p xmlns:a="http://schemas.openxmlformats.org/drawingml/2006/main">
            <a:pPr algn="l">
              <a:defRPr sz="2325" b="1">
                <a:solidFill>
                  <a:srgbClr val="102437"/>
                </a:solidFill>
                <a:latin typeface="Arial"/>
                <a:ea typeface="Arial"/>
                <a:cs typeface="Arial"/>
              </a:defRPr>
            </a:pPr>
            <a:r>
              <a:rPr sz="2325" b="1">
                <a:solidFill>
                  <a:srgbClr val="102437"/>
                </a:solidFill>
                <a:latin typeface="Arial"/>
                <a:ea typeface="Arial"/>
                <a:cs typeface="Arial"/>
              </a:rPr>
              <a:t>2.46 m</a:t>
            </a:r>
          </a:p>
        </p:txBody>
      </p:sp>
      <p:sp>
        <p:nvSpPr>
          <p:cNvPr id="21" name="">
            <a:extLst xmlns:a="http://schemas.openxmlformats.org/drawingml/2006/main">
              <a:ext uri="{FF2B5EF4-FFF2-40B4-BE49-F238E27FC236}">
                <a16:creationId xmlns:a16="http://schemas.microsoft.com/office/drawing/2014/main" id="{DB217BE6-B510-4B4F-81EF-732FF6D5AB31}"/>
              </a:ext>
            </a:extLst>
          </p:cNvPr>
          <p:cNvSpPr>
            <a:spLocks xmlns:a="http://schemas.openxmlformats.org/drawingml/2006/main" noGrp="1"/>
          </p:cNvSpPr>
          <p:nvPr/>
        </p:nvSpPr>
        <p:spPr>
          <a:xfrm xmlns:a="http://schemas.openxmlformats.org/drawingml/2006/main">
            <a:off x="6781800" y="4238625"/>
            <a:ext cx="1714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D98F32"/>
                </a:solidFill>
                <a:latin typeface="Arial"/>
                <a:ea typeface="Arial"/>
                <a:cs typeface="Arial"/>
              </a:defRPr>
            </a:defPPr>
          </a:lstStyle>
          <a:p xmlns:a="http://schemas.openxmlformats.org/drawingml/2006/main">
            <a:pPr algn="l">
              <a:defRPr sz="1050" b="1">
                <a:solidFill>
                  <a:srgbClr val="D98F32"/>
                </a:solidFill>
                <a:latin typeface="Arial"/>
                <a:ea typeface="Arial"/>
                <a:cs typeface="Arial"/>
              </a:defRPr>
            </a:pPr>
            <a:r>
              <a:rPr sz="1050" b="1">
                <a:solidFill>
                  <a:srgbClr val="D98F32"/>
                </a:solidFill>
                <a:latin typeface="Arial"/>
                <a:ea typeface="Arial"/>
                <a:cs typeface="Arial"/>
              </a:rPr>
              <a:t>MPC</a:t>
            </a:r>
          </a:p>
        </p:txBody>
      </p:sp>
      <p:sp>
        <p:nvSpPr>
          <p:cNvPr id="22" name="">
            <a:extLst xmlns:a="http://schemas.openxmlformats.org/drawingml/2006/main">
              <a:ext uri="{FF2B5EF4-FFF2-40B4-BE49-F238E27FC236}">
                <a16:creationId xmlns:a16="http://schemas.microsoft.com/office/drawing/2014/main" id="{DD764CC9-25E0-4673-8B7C-40FED529AFEC}"/>
              </a:ext>
            </a:extLst>
          </p:cNvPr>
          <p:cNvSpPr>
            <a:spLocks xmlns:a="http://schemas.openxmlformats.org/drawingml/2006/main" noGrp="1"/>
          </p:cNvSpPr>
          <p:nvPr/>
        </p:nvSpPr>
        <p:spPr>
          <a:xfrm xmlns:a="http://schemas.openxmlformats.org/drawingml/2006/main">
            <a:off x="6781800" y="45243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02437"/>
                </a:solidFill>
                <a:latin typeface="Arial"/>
                <a:ea typeface="Arial"/>
                <a:cs typeface="Arial"/>
              </a:defRPr>
            </a:defPPr>
          </a:lstStyle>
          <a:p xmlns:a="http://schemas.openxmlformats.org/drawingml/2006/main">
            <a:pPr algn="l">
              <a:defRPr sz="2325" b="1">
                <a:solidFill>
                  <a:srgbClr val="102437"/>
                </a:solidFill>
                <a:latin typeface="Arial"/>
                <a:ea typeface="Arial"/>
                <a:cs typeface="Arial"/>
              </a:defRPr>
            </a:pPr>
            <a:r>
              <a:rPr sz="2325" b="1">
                <a:solidFill>
                  <a:srgbClr val="102437"/>
                </a:solidFill>
                <a:latin typeface="Arial"/>
                <a:ea typeface="Arial"/>
                <a:cs typeface="Arial"/>
              </a:rPr>
              <a:t>1.75 m</a:t>
            </a:r>
          </a:p>
        </p:txBody>
      </p:sp>
      <p:sp>
        <p:nvSpPr>
          <p:cNvPr id="23" name="">
            <a:extLst xmlns:a="http://schemas.openxmlformats.org/drawingml/2006/main">
              <a:ext uri="{FF2B5EF4-FFF2-40B4-BE49-F238E27FC236}">
                <a16:creationId xmlns:a16="http://schemas.microsoft.com/office/drawing/2014/main" id="{891543A7-475D-48E5-BA18-205BEBFA2FFB}"/>
              </a:ext>
            </a:extLst>
          </p:cNvPr>
          <p:cNvSpPr>
            <a:spLocks xmlns:a="http://schemas.openxmlformats.org/drawingml/2006/main" noGrp="1"/>
          </p:cNvSpPr>
          <p:nvPr/>
        </p:nvSpPr>
        <p:spPr>
          <a:xfrm xmlns:a="http://schemas.openxmlformats.org/drawingml/2006/main">
            <a:off x="9029700" y="4238625"/>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087C75"/>
                </a:solidFill>
                <a:latin typeface="Arial"/>
                <a:ea typeface="Arial"/>
                <a:cs typeface="Arial"/>
              </a:defRPr>
            </a:defPPr>
          </a:lstStyle>
          <a:p xmlns:a="http://schemas.openxmlformats.org/drawingml/2006/main">
            <a:pPr algn="l">
              <a:defRPr sz="1050" b="1">
                <a:solidFill>
                  <a:srgbClr val="087C75"/>
                </a:solidFill>
                <a:latin typeface="Arial"/>
                <a:ea typeface="Arial"/>
                <a:cs typeface="Arial"/>
              </a:defRPr>
            </a:pPr>
            <a:r>
              <a:rPr sz="1050" b="1">
                <a:solidFill>
                  <a:srgbClr val="087C75"/>
                </a:solidFill>
                <a:latin typeface="Arial"/>
                <a:ea typeface="Arial"/>
                <a:cs typeface="Arial"/>
              </a:rPr>
              <a:t>Residual Q</a:t>
            </a:r>
          </a:p>
        </p:txBody>
      </p:sp>
      <p:sp>
        <p:nvSpPr>
          <p:cNvPr id="24" name="">
            <a:extLst xmlns:a="http://schemas.openxmlformats.org/drawingml/2006/main">
              <a:ext uri="{FF2B5EF4-FFF2-40B4-BE49-F238E27FC236}">
                <a16:creationId xmlns:a16="http://schemas.microsoft.com/office/drawing/2014/main" id="{D1D4CADF-7373-4D80-9027-69FC32BDA957}"/>
              </a:ext>
            </a:extLst>
          </p:cNvPr>
          <p:cNvSpPr>
            <a:spLocks xmlns:a="http://schemas.openxmlformats.org/drawingml/2006/main" noGrp="1"/>
          </p:cNvSpPr>
          <p:nvPr/>
        </p:nvSpPr>
        <p:spPr>
          <a:xfrm xmlns:a="http://schemas.openxmlformats.org/drawingml/2006/main">
            <a:off x="9029700" y="45243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02437"/>
                </a:solidFill>
                <a:latin typeface="Arial"/>
                <a:ea typeface="Arial"/>
                <a:cs typeface="Arial"/>
              </a:defRPr>
            </a:defPPr>
          </a:lstStyle>
          <a:p xmlns:a="http://schemas.openxmlformats.org/drawingml/2006/main">
            <a:pPr algn="l">
              <a:defRPr sz="2325" b="1">
                <a:solidFill>
                  <a:srgbClr val="102437"/>
                </a:solidFill>
                <a:latin typeface="Arial"/>
                <a:ea typeface="Arial"/>
                <a:cs typeface="Arial"/>
              </a:defRPr>
            </a:pPr>
            <a:r>
              <a:rPr sz="2325" b="1">
                <a:solidFill>
                  <a:srgbClr val="102437"/>
                </a:solidFill>
                <a:latin typeface="Arial"/>
                <a:ea typeface="Arial"/>
                <a:cs typeface="Arial"/>
              </a:rPr>
              <a:t>3.24 m</a:t>
            </a:r>
          </a:p>
        </p:txBody>
      </p:sp>
      <p:sp>
        <p:nvSpPr>
          <p:cNvPr id="25" name="">
            <a:extLst xmlns:a="http://schemas.openxmlformats.org/drawingml/2006/main">
              <a:ext uri="{FF2B5EF4-FFF2-40B4-BE49-F238E27FC236}">
                <a16:creationId xmlns:a16="http://schemas.microsoft.com/office/drawing/2014/main" id="{9159EDD7-8482-42AC-957D-56A244A73423}"/>
              </a:ext>
            </a:extLst>
          </p:cNvPr>
          <p:cNvSpPr>
            <a:spLocks xmlns:a="http://schemas.openxmlformats.org/drawingml/2006/main" noGrp="1"/>
          </p:cNvSpPr>
          <p:nvPr/>
        </p:nvSpPr>
        <p:spPr>
          <a:xfrm xmlns:a="http://schemas.openxmlformats.org/drawingml/2006/main">
            <a:off x="552450" y="564832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102437"/>
                </a:solidFill>
                <a:latin typeface="Arial"/>
                <a:ea typeface="Arial"/>
                <a:cs typeface="Arial"/>
              </a:defRPr>
            </a:defPPr>
          </a:lstStyle>
          <a:p xmlns:a="http://schemas.openxmlformats.org/drawingml/2006/main">
            <a:pPr algn="l">
              <a:defRPr sz="1275" b="1">
                <a:solidFill>
                  <a:srgbClr val="102437"/>
                </a:solidFill>
                <a:latin typeface="Arial"/>
                <a:ea typeface="Arial"/>
                <a:cs typeface="Arial"/>
              </a:defRPr>
            </a:pPr>
            <a:r>
              <a:rPr sz="1275" b="1">
                <a:solidFill>
                  <a:srgbClr val="102437"/>
                </a:solidFill>
                <a:latin typeface="Arial"/>
                <a:ea typeface="Arial"/>
                <a:cs typeface="Arial"/>
              </a:rPr>
              <a:t>The pilot is archived; final results use the revised, separately trained table.</a:t>
            </a:r>
          </a:p>
        </p:txBody>
      </p:sp>
    </p:spTree>
    <p:extLst>
      <p:ext uri="{BB962C8B-B14F-4D97-AF65-F5344CB8AC3E}">
        <p14:creationId xmlns:p14="http://schemas.microsoft.com/office/powerpoint/2010/main" val="761992543"/>
      </p:ext>
    </p:extLst>
  </p:cSld>
</p:sld>
</file>

<file path=ppt/slides/slide14.xml><?xml version="1.0" encoding="utf-8"?>
<p:sld xmlns:p="http://schemas.openxmlformats.org/presentationml/2006/main">
  <p:cSld>
    <p:bg>
      <p:bgPr>
        <a:solidFill xmlns:a="http://schemas.openxmlformats.org/drawingml/2006/main">
          <a:srgbClr val="10243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0C0B9D-C9D5-4634-B537-D6FE64FAD81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530D0F-C9C5-4E49-B316-92838C6FE641}"/>
              </a:ext>
            </a:extLst>
          </p:cNvPr>
          <p:cNvSpPr>
            <a:spLocks xmlns:a="http://schemas.openxmlformats.org/drawingml/2006/main" noGrp="1"/>
          </p:cNvSpPr>
          <p:nvPr/>
        </p:nvSpPr>
        <p:spPr>
          <a:xfrm xmlns:a="http://schemas.openxmlformats.org/drawingml/2006/main">
            <a:off x="628650" y="4572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0E9F94"/>
                </a:solidFill>
                <a:latin typeface="Arial"/>
                <a:ea typeface="Arial"/>
                <a:cs typeface="Arial"/>
              </a:defRPr>
            </a:defPPr>
          </a:lstStyle>
          <a:p xmlns:a="http://schemas.openxmlformats.org/drawingml/2006/main">
            <a:pPr algn="l">
              <a:defRPr sz="1050" b="1">
                <a:solidFill>
                  <a:srgbClr val="0E9F94"/>
                </a:solidFill>
                <a:latin typeface="Arial"/>
                <a:ea typeface="Arial"/>
                <a:cs typeface="Arial"/>
              </a:defRPr>
            </a:pPr>
            <a:r>
              <a:rPr sz="1050" b="1">
                <a:solidFill>
                  <a:srgbClr val="0E9F94"/>
                </a:solidFill>
                <a:latin typeface="Arial"/>
                <a:ea typeface="Arial"/>
                <a:cs typeface="Arial"/>
              </a:rPr>
              <a:t>13 · CONCLUSION</a:t>
            </a:r>
          </a:p>
        </p:txBody>
      </p:sp>
      <p:sp>
        <p:nvSpPr>
          <p:cNvPr id="3" name="slide-14-title">
            <a:extLst xmlns:a="http://schemas.openxmlformats.org/drawingml/2006/main">
              <a:ext uri="{FF2B5EF4-FFF2-40B4-BE49-F238E27FC236}">
                <a16:creationId xmlns:a16="http://schemas.microsoft.com/office/drawing/2014/main" id="{3DF99DE3-1449-4636-A550-5A00CC4EDFD4}"/>
              </a:ext>
            </a:extLst>
          </p:cNvPr>
          <p:cNvSpPr>
            <a:spLocks xmlns:a="http://schemas.openxmlformats.org/drawingml/2006/main" noGrp="1"/>
          </p:cNvSpPr>
          <p:nvPr/>
        </p:nvSpPr>
        <p:spPr>
          <a:xfrm xmlns:a="http://schemas.openxmlformats.org/drawingml/2006/main">
            <a:off x="628650" y="933450"/>
            <a:ext cx="10715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FFFFFF"/>
                </a:solidFill>
                <a:latin typeface="Arial"/>
                <a:ea typeface="Arial"/>
                <a:cs typeface="Arial"/>
              </a:defRPr>
            </a:def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So, is the RL controller better?</a:t>
            </a:r>
          </a:p>
        </p:txBody>
      </p:sp>
      <p:sp>
        <p:nvSpPr>
          <p:cNvPr id="4" name="">
            <a:extLst xmlns:a="http://schemas.openxmlformats.org/drawingml/2006/main">
              <a:ext uri="{FF2B5EF4-FFF2-40B4-BE49-F238E27FC236}">
                <a16:creationId xmlns:a16="http://schemas.microsoft.com/office/drawing/2014/main" id="{2162797A-205C-44F5-AEAB-BB7AD2440417}"/>
              </a:ext>
            </a:extLst>
          </p:cNvPr>
          <p:cNvSpPr>
            <a:spLocks xmlns:a="http://schemas.openxmlformats.org/drawingml/2006/main" noGrp="1"/>
          </p:cNvSpPr>
          <p:nvPr/>
        </p:nvSpPr>
        <p:spPr>
          <a:xfrm xmlns:a="http://schemas.openxmlformats.org/drawingml/2006/main">
            <a:off x="10382250" y="641985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8C6D0"/>
                </a:solidFill>
                <a:latin typeface="Arial"/>
                <a:ea typeface="Arial"/>
                <a:cs typeface="Arial"/>
              </a:defRPr>
            </a:defPPr>
          </a:lstStyle>
          <a:p xmlns:a="http://schemas.openxmlformats.org/drawingml/2006/main">
            <a:pPr algn="r">
              <a:defRPr sz="900" b="0">
                <a:solidFill>
                  <a:srgbClr val="B8C6D0"/>
                </a:solidFill>
                <a:latin typeface="Arial"/>
                <a:ea typeface="Arial"/>
                <a:cs typeface="Arial"/>
              </a:defRPr>
            </a:pPr>
            <a:r>
              <a:rPr sz="900" b="0">
                <a:solidFill>
                  <a:srgbClr val="B8C6D0"/>
                </a:solidFill>
                <a:latin typeface="Arial"/>
                <a:ea typeface="Arial"/>
                <a:cs typeface="Arial"/>
              </a:rPr>
              <a:t>14   /   16</a:t>
            </a:r>
          </a:p>
        </p:txBody>
      </p:sp>
      <p:sp>
        <p:nvSpPr>
          <p:cNvPr id="5" name="">
            <a:extLst xmlns:a="http://schemas.openxmlformats.org/drawingml/2006/main">
              <a:ext uri="{FF2B5EF4-FFF2-40B4-BE49-F238E27FC236}">
                <a16:creationId xmlns:a16="http://schemas.microsoft.com/office/drawing/2014/main" id="{8D34DA9A-ECFD-4A7E-8BA0-56BFBA61F4F2}"/>
              </a:ext>
            </a:extLst>
          </p:cNvPr>
          <p:cNvSpPr>
            <a:spLocks xmlns:a="http://schemas.openxmlformats.org/drawingml/2006/main" noGrp="1"/>
          </p:cNvSpPr>
          <p:nvPr/>
        </p:nvSpPr>
        <p:spPr>
          <a:xfrm xmlns:a="http://schemas.openxmlformats.org/drawingml/2006/main">
            <a:off x="638175" y="21907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E9F94"/>
                </a:solidFill>
                <a:latin typeface="Arial"/>
                <a:ea typeface="Arial"/>
                <a:cs typeface="Arial"/>
              </a:defRPr>
            </a:defPPr>
          </a:lstStyle>
          <a:p xmlns:a="http://schemas.openxmlformats.org/drawingml/2006/main">
            <a:pPr algn="l">
              <a:defRPr sz="975" b="1">
                <a:solidFill>
                  <a:srgbClr val="0E9F94"/>
                </a:solidFill>
                <a:latin typeface="Arial"/>
                <a:ea typeface="Arial"/>
                <a:cs typeface="Arial"/>
              </a:defRPr>
            </a:pPr>
            <a:r>
              <a:rPr sz="975" b="1">
                <a:solidFill>
                  <a:srgbClr val="0E9F94"/>
                </a:solidFill>
                <a:latin typeface="Arial"/>
                <a:ea typeface="Arial"/>
                <a:cs typeface="Arial"/>
              </a:rPr>
              <a:t>OVERALL</a:t>
            </a:r>
          </a:p>
        </p:txBody>
      </p:sp>
      <p:sp>
        <p:nvSpPr>
          <p:cNvPr id="6" name="">
            <a:extLst xmlns:a="http://schemas.openxmlformats.org/drawingml/2006/main">
              <a:ext uri="{FF2B5EF4-FFF2-40B4-BE49-F238E27FC236}">
                <a16:creationId xmlns:a16="http://schemas.microsoft.com/office/drawing/2014/main" id="{79BD0AC0-2330-4CCC-A81F-9EF6F321A296}"/>
              </a:ext>
            </a:extLst>
          </p:cNvPr>
          <p:cNvSpPr>
            <a:spLocks xmlns:a="http://schemas.openxmlformats.org/drawingml/2006/main" noGrp="1"/>
          </p:cNvSpPr>
          <p:nvPr/>
        </p:nvSpPr>
        <p:spPr>
          <a:xfrm xmlns:a="http://schemas.openxmlformats.org/drawingml/2006/main">
            <a:off x="638175" y="2600325"/>
            <a:ext cx="30003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No. MPC had the lowest gap error.</a:t>
            </a:r>
          </a:p>
        </p:txBody>
      </p:sp>
      <p:sp>
        <p:nvSpPr>
          <p:cNvPr id="7" name="">
            <a:extLst xmlns:a="http://schemas.openxmlformats.org/drawingml/2006/main">
              <a:ext uri="{FF2B5EF4-FFF2-40B4-BE49-F238E27FC236}">
                <a16:creationId xmlns:a16="http://schemas.microsoft.com/office/drawing/2014/main" id="{4843D7F7-11CB-4B2B-8179-AE46B03CA6AA}"/>
              </a:ext>
            </a:extLst>
          </p:cNvPr>
          <p:cNvSpPr>
            <a:spLocks xmlns:a="http://schemas.openxmlformats.org/drawingml/2006/main" noGrp="1"/>
          </p:cNvSpPr>
          <p:nvPr/>
        </p:nvSpPr>
        <p:spPr>
          <a:xfrm xmlns:a="http://schemas.openxmlformats.org/drawingml/2006/main">
            <a:off x="4076700" y="2190750"/>
            <a:ext cx="0" cy="1819275"/>
          </a:xfrm>
          <a:prstGeom xmlns:a="http://schemas.openxmlformats.org/drawingml/2006/main" prst="line">
            <a:avLst/>
          </a:prstGeom>
          <a:noFill xmlns:a="http://schemas.openxmlformats.org/drawingml/2006/main"/>
          <a:ln xmlns:a="http://schemas.openxmlformats.org/drawingml/2006/main" w="11430">
            <a:solidFill>
              <a:srgbClr val="355063"/>
            </a:solidFill>
            <a:prstDash val="solid"/>
          </a:ln>
        </p:spPr>
      </p:sp>
      <p:sp>
        <p:nvSpPr>
          <p:cNvPr id="8" name="">
            <a:extLst xmlns:a="http://schemas.openxmlformats.org/drawingml/2006/main">
              <a:ext uri="{FF2B5EF4-FFF2-40B4-BE49-F238E27FC236}">
                <a16:creationId xmlns:a16="http://schemas.microsoft.com/office/drawing/2014/main" id="{47049F3E-71DC-4020-96F1-9E2CFF116263}"/>
              </a:ext>
            </a:extLst>
          </p:cNvPr>
          <p:cNvSpPr>
            <a:spLocks xmlns:a="http://schemas.openxmlformats.org/drawingml/2006/main" noGrp="1"/>
          </p:cNvSpPr>
          <p:nvPr/>
        </p:nvSpPr>
        <p:spPr>
          <a:xfrm xmlns:a="http://schemas.openxmlformats.org/drawingml/2006/main">
            <a:off x="4324350" y="21907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E9F94"/>
                </a:solidFill>
                <a:latin typeface="Arial"/>
                <a:ea typeface="Arial"/>
                <a:cs typeface="Arial"/>
              </a:defRPr>
            </a:defPPr>
          </a:lstStyle>
          <a:p xmlns:a="http://schemas.openxmlformats.org/drawingml/2006/main">
            <a:pPr algn="l">
              <a:defRPr sz="975" b="1">
                <a:solidFill>
                  <a:srgbClr val="0E9F94"/>
                </a:solidFill>
                <a:latin typeface="Arial"/>
                <a:ea typeface="Arial"/>
                <a:cs typeface="Arial"/>
              </a:defRPr>
            </a:pPr>
            <a:r>
              <a:rPr sz="975" b="1">
                <a:solidFill>
                  <a:srgbClr val="0E9F94"/>
                </a:solidFill>
                <a:latin typeface="Arial"/>
                <a:ea typeface="Arial"/>
                <a:cs typeface="Arial"/>
              </a:rPr>
              <a:t>CUT-IN</a:t>
            </a:r>
          </a:p>
        </p:txBody>
      </p:sp>
      <p:sp>
        <p:nvSpPr>
          <p:cNvPr id="9" name="">
            <a:extLst xmlns:a="http://schemas.openxmlformats.org/drawingml/2006/main">
              <a:ext uri="{FF2B5EF4-FFF2-40B4-BE49-F238E27FC236}">
                <a16:creationId xmlns:a16="http://schemas.microsoft.com/office/drawing/2014/main" id="{65332A08-7BFA-4095-A7BA-1607CBA22EC9}"/>
              </a:ext>
            </a:extLst>
          </p:cNvPr>
          <p:cNvSpPr>
            <a:spLocks xmlns:a="http://schemas.openxmlformats.org/drawingml/2006/main" noGrp="1"/>
          </p:cNvSpPr>
          <p:nvPr/>
        </p:nvSpPr>
        <p:spPr>
          <a:xfrm xmlns:a="http://schemas.openxmlformats.org/drawingml/2006/main">
            <a:off x="4324350" y="2600325"/>
            <a:ext cx="30003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Guarded Q improved Q’s minimum gap and short-TTC exposure.</a:t>
            </a:r>
          </a:p>
        </p:txBody>
      </p:sp>
      <p:sp>
        <p:nvSpPr>
          <p:cNvPr id="10" name="">
            <a:extLst xmlns:a="http://schemas.openxmlformats.org/drawingml/2006/main">
              <a:ext uri="{FF2B5EF4-FFF2-40B4-BE49-F238E27FC236}">
                <a16:creationId xmlns:a16="http://schemas.microsoft.com/office/drawing/2014/main" id="{70EFAABA-DC12-4EA0-B3A2-7F5BB2BF4B34}"/>
              </a:ext>
            </a:extLst>
          </p:cNvPr>
          <p:cNvSpPr>
            <a:spLocks xmlns:a="http://schemas.openxmlformats.org/drawingml/2006/main" noGrp="1"/>
          </p:cNvSpPr>
          <p:nvPr/>
        </p:nvSpPr>
        <p:spPr>
          <a:xfrm xmlns:a="http://schemas.openxmlformats.org/drawingml/2006/main">
            <a:off x="7762875" y="2190750"/>
            <a:ext cx="0" cy="1819275"/>
          </a:xfrm>
          <a:prstGeom xmlns:a="http://schemas.openxmlformats.org/drawingml/2006/main" prst="line">
            <a:avLst/>
          </a:prstGeom>
          <a:noFill xmlns:a="http://schemas.openxmlformats.org/drawingml/2006/main"/>
          <a:ln xmlns:a="http://schemas.openxmlformats.org/drawingml/2006/main" w="11430">
            <a:solidFill>
              <a:srgbClr val="355063"/>
            </a:solidFill>
            <a:prstDash val="solid"/>
          </a:ln>
        </p:spPr>
      </p:sp>
      <p:sp>
        <p:nvSpPr>
          <p:cNvPr id="11" name="">
            <a:extLst xmlns:a="http://schemas.openxmlformats.org/drawingml/2006/main">
              <a:ext uri="{FF2B5EF4-FFF2-40B4-BE49-F238E27FC236}">
                <a16:creationId xmlns:a16="http://schemas.microsoft.com/office/drawing/2014/main" id="{FA2D3DD2-99C1-4ACA-8E3F-98D824327EAF}"/>
              </a:ext>
            </a:extLst>
          </p:cNvPr>
          <p:cNvSpPr>
            <a:spLocks xmlns:a="http://schemas.openxmlformats.org/drawingml/2006/main" noGrp="1"/>
          </p:cNvSpPr>
          <p:nvPr/>
        </p:nvSpPr>
        <p:spPr>
          <a:xfrm xmlns:a="http://schemas.openxmlformats.org/drawingml/2006/main">
            <a:off x="8010525" y="21907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D98F32"/>
                </a:solidFill>
                <a:latin typeface="Arial"/>
                <a:ea typeface="Arial"/>
                <a:cs typeface="Arial"/>
              </a:defRPr>
            </a:defPPr>
          </a:lstStyle>
          <a:p xmlns:a="http://schemas.openxmlformats.org/drawingml/2006/main">
            <a:pPr algn="l">
              <a:defRPr sz="975" b="1">
                <a:solidFill>
                  <a:srgbClr val="D98F32"/>
                </a:solidFill>
                <a:latin typeface="Arial"/>
                <a:ea typeface="Arial"/>
                <a:cs typeface="Arial"/>
              </a:defRPr>
            </a:pPr>
            <a:r>
              <a:rPr sz="975" b="1">
                <a:solidFill>
                  <a:srgbClr val="D98F32"/>
                </a:solidFill>
                <a:latin typeface="Arial"/>
                <a:ea typeface="Arial"/>
                <a:cs typeface="Arial"/>
              </a:rPr>
              <a:t>COST</a:t>
            </a:r>
          </a:p>
        </p:txBody>
      </p:sp>
      <p:sp>
        <p:nvSpPr>
          <p:cNvPr id="12" name="">
            <a:extLst xmlns:a="http://schemas.openxmlformats.org/drawingml/2006/main">
              <a:ext uri="{FF2B5EF4-FFF2-40B4-BE49-F238E27FC236}">
                <a16:creationId xmlns:a16="http://schemas.microsoft.com/office/drawing/2014/main" id="{8A44E61B-38DE-49E3-A55B-7B36B12EB948}"/>
              </a:ext>
            </a:extLst>
          </p:cNvPr>
          <p:cNvSpPr>
            <a:spLocks xmlns:a="http://schemas.openxmlformats.org/drawingml/2006/main" noGrp="1"/>
          </p:cNvSpPr>
          <p:nvPr/>
        </p:nvSpPr>
        <p:spPr>
          <a:xfrm xmlns:a="http://schemas.openxmlformats.org/drawingml/2006/main">
            <a:off x="8010525" y="2600325"/>
            <a:ext cx="30003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The guard increased jerk and changed the action often.</a:t>
            </a:r>
          </a:p>
        </p:txBody>
      </p:sp>
      <p:sp>
        <p:nvSpPr>
          <p:cNvPr id="13" name="">
            <a:extLst xmlns:a="http://schemas.openxmlformats.org/drawingml/2006/main">
              <a:ext uri="{FF2B5EF4-FFF2-40B4-BE49-F238E27FC236}">
                <a16:creationId xmlns:a16="http://schemas.microsoft.com/office/drawing/2014/main" id="{32B2F49D-FCAE-4402-B5C7-256067392527}"/>
              </a:ext>
            </a:extLst>
          </p:cNvPr>
          <p:cNvSpPr>
            <a:spLocks xmlns:a="http://schemas.openxmlformats.org/drawingml/2006/main" noGrp="1"/>
          </p:cNvSpPr>
          <p:nvPr/>
        </p:nvSpPr>
        <p:spPr>
          <a:xfrm xmlns:a="http://schemas.openxmlformats.org/drawingml/2006/main">
            <a:off x="638175" y="4505325"/>
            <a:ext cx="76200" cy="847725"/>
          </a:xfrm>
          <a:prstGeom xmlns:a="http://schemas.openxmlformats.org/drawingml/2006/main" prst="rect">
            <a:avLst/>
          </a:prstGeom>
          <a:solidFill xmlns:a="http://schemas.openxmlformats.org/drawingml/2006/main">
            <a:srgbClr val="D98F3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00D75AD-D74B-4989-8641-C645FB7A83B8}"/>
              </a:ext>
            </a:extLst>
          </p:cNvPr>
          <p:cNvSpPr>
            <a:spLocks xmlns:a="http://schemas.openxmlformats.org/drawingml/2006/main" noGrp="1"/>
          </p:cNvSpPr>
          <p:nvPr/>
        </p:nvSpPr>
        <p:spPr>
          <a:xfrm xmlns:a="http://schemas.openxmlformats.org/drawingml/2006/main">
            <a:off x="914400" y="4600575"/>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Better than unguarded Q on this cut-in stress—not better than the classical or commercial references overall.</a:t>
            </a:r>
          </a:p>
        </p:txBody>
      </p:sp>
      <p:sp>
        <p:nvSpPr>
          <p:cNvPr id="15" name="">
            <a:extLst xmlns:a="http://schemas.openxmlformats.org/drawingml/2006/main">
              <a:ext uri="{FF2B5EF4-FFF2-40B4-BE49-F238E27FC236}">
                <a16:creationId xmlns:a16="http://schemas.microsoft.com/office/drawing/2014/main" id="{049446A4-1B79-4C74-8487-8310A7EC41C7}"/>
              </a:ext>
            </a:extLst>
          </p:cNvPr>
          <p:cNvSpPr>
            <a:spLocks xmlns:a="http://schemas.openxmlformats.org/drawingml/2006/main" noGrp="1"/>
          </p:cNvSpPr>
          <p:nvPr/>
        </p:nvSpPr>
        <p:spPr>
          <a:xfrm xmlns:a="http://schemas.openxmlformats.org/drawingml/2006/main">
            <a:off x="638175" y="5781675"/>
            <a:ext cx="1028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C8D4DC"/>
                </a:solidFill>
                <a:latin typeface="Arial"/>
                <a:ea typeface="Arial"/>
                <a:cs typeface="Arial"/>
              </a:defRPr>
            </a:defPPr>
          </a:lstStyle>
          <a:p xmlns:a="http://schemas.openxmlformats.org/drawingml/2006/main">
            <a:pPr algn="l">
              <a:defRPr sz="1275" b="0">
                <a:solidFill>
                  <a:srgbClr val="C8D4DC"/>
                </a:solidFill>
                <a:latin typeface="Arial"/>
                <a:ea typeface="Arial"/>
                <a:cs typeface="Arial"/>
              </a:defRPr>
            </a:pPr>
            <a:r>
              <a:rPr sz="1275" b="0">
                <a:solidFill>
                  <a:srgbClr val="C8D4DC"/>
                </a:solidFill>
                <a:latin typeface="Arial"/>
                <a:ea typeface="Arial"/>
                <a:cs typeface="Arial"/>
              </a:rPr>
              <a:t>Next: replay an annotated real cut-in with a vehicle-calibrated model and sensor delay.</a:t>
            </a:r>
          </a:p>
        </p:txBody>
      </p:sp>
    </p:spTree>
    <p:extLst>
      <p:ext uri="{BB962C8B-B14F-4D97-AF65-F5344CB8AC3E}">
        <p14:creationId xmlns:p14="http://schemas.microsoft.com/office/powerpoint/2010/main" val="568565789"/>
      </p:ext>
    </p:extLst>
  </p:cSld>
</p:sld>
</file>

<file path=ppt/slides/slide15.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A3C3AF1-E45D-42C5-B3BE-D8288F052A3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4677C2-AE52-424A-B52F-71BFD2309541}"/>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REFERENCES · 1 OF 2</a:t>
            </a:r>
          </a:p>
        </p:txBody>
      </p:sp>
      <p:sp>
        <p:nvSpPr>
          <p:cNvPr id="3" name="slide-15-title">
            <a:extLst xmlns:a="http://schemas.openxmlformats.org/drawingml/2006/main">
              <a:ext uri="{FF2B5EF4-FFF2-40B4-BE49-F238E27FC236}">
                <a16:creationId xmlns:a16="http://schemas.microsoft.com/office/drawing/2014/main" id="{BAB012BF-1881-4F6A-8D92-B99804554141}"/>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00" b="1">
                <a:solidFill>
                  <a:srgbClr val="102437"/>
                </a:solidFill>
                <a:latin typeface="Arial"/>
                <a:ea typeface="Arial"/>
                <a:cs typeface="Arial"/>
              </a:defRPr>
            </a:defPPr>
          </a:lstStyle>
          <a:p xmlns:a="http://schemas.openxmlformats.org/drawingml/2006/main">
            <a:pPr algn="l">
              <a:defRPr sz="2400" b="1">
                <a:solidFill>
                  <a:srgbClr val="102437"/>
                </a:solidFill>
                <a:latin typeface="Arial"/>
                <a:ea typeface="Arial"/>
                <a:cs typeface="Arial"/>
              </a:defRPr>
            </a:pPr>
            <a:r>
              <a:rPr sz="2400" b="1">
                <a:solidFill>
                  <a:srgbClr val="102437"/>
                </a:solidFill>
                <a:latin typeface="Arial"/>
                <a:ea typeface="Arial"/>
                <a:cs typeface="Arial"/>
              </a:rPr>
              <a:t>ACC control and reinforcement learning</a:t>
            </a:r>
          </a:p>
        </p:txBody>
      </p:sp>
      <p:sp>
        <p:nvSpPr>
          <p:cNvPr id="4" name="">
            <a:extLst xmlns:a="http://schemas.openxmlformats.org/drawingml/2006/main">
              <a:ext uri="{FF2B5EF4-FFF2-40B4-BE49-F238E27FC236}">
                <a16:creationId xmlns:a16="http://schemas.microsoft.com/office/drawing/2014/main" id="{FF767F66-85E6-4F5F-866B-25928414A3C5}"/>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D8E41DE1-F8A0-4364-9668-EEBE08DA147B}"/>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2F7F1054-5C76-47CE-AEAF-98F01580C11A}"/>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C4DE7B76-A3AE-4163-9B1F-B2676B60FAED}"/>
              </a:ext>
            </a:extLst>
          </p:cNvPr>
          <p:cNvSpPr>
            <a:spLocks xmlns:a="http://schemas.openxmlformats.org/drawingml/2006/main" noGrp="1"/>
          </p:cNvSpPr>
          <p:nvPr/>
        </p:nvSpPr>
        <p:spPr>
          <a:xfrm xmlns:a="http://schemas.openxmlformats.org/drawingml/2006/main">
            <a:off x="581025" y="1428750"/>
            <a:ext cx="66675" cy="66675"/>
          </a:xfrm>
          <a:prstGeom xmlns:a="http://schemas.openxmlformats.org/drawingml/2006/main" prst="ellipse">
            <a:avLst/>
          </a:prstGeom>
          <a:solidFill xmlns:a="http://schemas.openxmlformats.org/drawingml/2006/main">
            <a:srgbClr val="3F799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87D46C-5D6A-43DD-A784-48326D61D893}"/>
              </a:ext>
            </a:extLst>
          </p:cNvPr>
          <p:cNvSpPr>
            <a:spLocks xmlns:a="http://schemas.openxmlformats.org/drawingml/2006/main" noGrp="1"/>
          </p:cNvSpPr>
          <p:nvPr/>
        </p:nvSpPr>
        <p:spPr>
          <a:xfrm xmlns:a="http://schemas.openxmlformats.org/drawingml/2006/main">
            <a:off x="762000" y="13811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Bageshwar, V. L., Garrard, W. L., &amp; Rajamani, R. (2004). Model predictive control of transitional maneuvers for adaptive cruise control vehicles. IEEE Transactions on Vehicular Technology, 53(5), 1573–1585. DOI: 10.1109/TVT.2004.833625.</a:t>
            </a:r>
          </a:p>
        </p:txBody>
      </p:sp>
      <p:sp>
        <p:nvSpPr>
          <p:cNvPr id="9" name="">
            <a:extLst xmlns:a="http://schemas.openxmlformats.org/drawingml/2006/main">
              <a:ext uri="{FF2B5EF4-FFF2-40B4-BE49-F238E27FC236}">
                <a16:creationId xmlns:a16="http://schemas.microsoft.com/office/drawing/2014/main" id="{F7A58A51-6713-4315-999B-AAA1657371E9}"/>
              </a:ext>
            </a:extLst>
          </p:cNvPr>
          <p:cNvSpPr>
            <a:spLocks xmlns:a="http://schemas.openxmlformats.org/drawingml/2006/main" noGrp="1"/>
          </p:cNvSpPr>
          <p:nvPr/>
        </p:nvSpPr>
        <p:spPr>
          <a:xfrm xmlns:a="http://schemas.openxmlformats.org/drawingml/2006/main">
            <a:off x="581025" y="1924050"/>
            <a:ext cx="66675" cy="66675"/>
          </a:xfrm>
          <a:prstGeom xmlns:a="http://schemas.openxmlformats.org/drawingml/2006/main" prst="ellipse">
            <a:avLst/>
          </a:prstGeom>
          <a:solidFill xmlns:a="http://schemas.openxmlformats.org/drawingml/2006/main">
            <a:srgbClr val="3F799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DC77132-796F-4B1A-8E07-3E3985597E63}"/>
              </a:ext>
            </a:extLst>
          </p:cNvPr>
          <p:cNvSpPr>
            <a:spLocks xmlns:a="http://schemas.openxmlformats.org/drawingml/2006/main" noGrp="1"/>
          </p:cNvSpPr>
          <p:nvPr/>
        </p:nvSpPr>
        <p:spPr>
          <a:xfrm xmlns:a="http://schemas.openxmlformats.org/drawingml/2006/main">
            <a:off x="762000" y="18764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Li, S. E., Li, K., Rajamani, R., &amp; Wang, J. (2011). Model predictive multi-objective vehicular adaptive cruise control. IEEE Transactions on Control Systems Technology, 19(3), 556–566. DOI: 10.1109/TCST.2010.2049203.</a:t>
            </a:r>
          </a:p>
        </p:txBody>
      </p:sp>
      <p:sp>
        <p:nvSpPr>
          <p:cNvPr id="11" name="">
            <a:extLst xmlns:a="http://schemas.openxmlformats.org/drawingml/2006/main">
              <a:ext uri="{FF2B5EF4-FFF2-40B4-BE49-F238E27FC236}">
                <a16:creationId xmlns:a16="http://schemas.microsoft.com/office/drawing/2014/main" id="{2C1EB41E-6E41-4977-80BB-3E5AE7D54E31}"/>
              </a:ext>
            </a:extLst>
          </p:cNvPr>
          <p:cNvSpPr>
            <a:spLocks xmlns:a="http://schemas.openxmlformats.org/drawingml/2006/main" noGrp="1"/>
          </p:cNvSpPr>
          <p:nvPr/>
        </p:nvSpPr>
        <p:spPr>
          <a:xfrm xmlns:a="http://schemas.openxmlformats.org/drawingml/2006/main">
            <a:off x="581025" y="2419350"/>
            <a:ext cx="66675" cy="66675"/>
          </a:xfrm>
          <a:prstGeom xmlns:a="http://schemas.openxmlformats.org/drawingml/2006/main" prst="ellipse">
            <a:avLst/>
          </a:prstGeom>
          <a:solidFill xmlns:a="http://schemas.openxmlformats.org/drawingml/2006/main">
            <a:srgbClr val="3F799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43D8BD-D498-4AB7-B924-E75DAAB23864}"/>
              </a:ext>
            </a:extLst>
          </p:cNvPr>
          <p:cNvSpPr>
            <a:spLocks xmlns:a="http://schemas.openxmlformats.org/drawingml/2006/main" noGrp="1"/>
          </p:cNvSpPr>
          <p:nvPr/>
        </p:nvSpPr>
        <p:spPr>
          <a:xfrm xmlns:a="http://schemas.openxmlformats.org/drawingml/2006/main">
            <a:off x="762000" y="23717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He, Y. et al. (2019). Adaptive cruise control strategies implemented on experimental vehicles: A review. IFAC-PapersOnLine, 52(5), 21–27. DOI: 10.1016/j.ifacol.2019.09.004.</a:t>
            </a:r>
          </a:p>
        </p:txBody>
      </p:sp>
      <p:sp>
        <p:nvSpPr>
          <p:cNvPr id="13" name="">
            <a:extLst xmlns:a="http://schemas.openxmlformats.org/drawingml/2006/main">
              <a:ext uri="{FF2B5EF4-FFF2-40B4-BE49-F238E27FC236}">
                <a16:creationId xmlns:a16="http://schemas.microsoft.com/office/drawing/2014/main" id="{B3F83A66-9EC6-49A8-AD4C-FB1380B5FC38}"/>
              </a:ext>
            </a:extLst>
          </p:cNvPr>
          <p:cNvSpPr>
            <a:spLocks xmlns:a="http://schemas.openxmlformats.org/drawingml/2006/main" noGrp="1"/>
          </p:cNvSpPr>
          <p:nvPr/>
        </p:nvSpPr>
        <p:spPr>
          <a:xfrm xmlns:a="http://schemas.openxmlformats.org/drawingml/2006/main">
            <a:off x="581025" y="2914650"/>
            <a:ext cx="66675" cy="66675"/>
          </a:xfrm>
          <a:prstGeom xmlns:a="http://schemas.openxmlformats.org/drawingml/2006/main" prst="ellipse">
            <a:avLst/>
          </a:prstGeom>
          <a:solidFill xmlns:a="http://schemas.openxmlformats.org/drawingml/2006/main">
            <a:srgbClr val="3F799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04F95DA-CD36-49C9-8C0E-7918091A6189}"/>
              </a:ext>
            </a:extLst>
          </p:cNvPr>
          <p:cNvSpPr>
            <a:spLocks xmlns:a="http://schemas.openxmlformats.org/drawingml/2006/main" noGrp="1"/>
          </p:cNvSpPr>
          <p:nvPr/>
        </p:nvSpPr>
        <p:spPr>
          <a:xfrm xmlns:a="http://schemas.openxmlformats.org/drawingml/2006/main">
            <a:off x="762000" y="28670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Makridis, M., Mattas, K., Anesiadou, A., &amp; Ciuffo, B. (2021). OpenACC: An open database of car-following experiments to study commercial ACC systems. Transportation Research Part C, 125, 103047. DOI: 10.1016/j.trc.2021.103047.</a:t>
            </a:r>
          </a:p>
        </p:txBody>
      </p:sp>
      <p:sp>
        <p:nvSpPr>
          <p:cNvPr id="15" name="">
            <a:extLst xmlns:a="http://schemas.openxmlformats.org/drawingml/2006/main">
              <a:ext uri="{FF2B5EF4-FFF2-40B4-BE49-F238E27FC236}">
                <a16:creationId xmlns:a16="http://schemas.microsoft.com/office/drawing/2014/main" id="{6C940233-3349-4FD7-9BAB-28731DDE8C3E}"/>
              </a:ext>
            </a:extLst>
          </p:cNvPr>
          <p:cNvSpPr>
            <a:spLocks xmlns:a="http://schemas.openxmlformats.org/drawingml/2006/main" noGrp="1"/>
          </p:cNvSpPr>
          <p:nvPr/>
        </p:nvSpPr>
        <p:spPr>
          <a:xfrm xmlns:a="http://schemas.openxmlformats.org/drawingml/2006/main">
            <a:off x="581025" y="340995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B123693-F21F-4A9E-89C7-7B613A92F9D6}"/>
              </a:ext>
            </a:extLst>
          </p:cNvPr>
          <p:cNvSpPr>
            <a:spLocks xmlns:a="http://schemas.openxmlformats.org/drawingml/2006/main" noGrp="1"/>
          </p:cNvSpPr>
          <p:nvPr/>
        </p:nvSpPr>
        <p:spPr>
          <a:xfrm xmlns:a="http://schemas.openxmlformats.org/drawingml/2006/main">
            <a:off x="762000" y="33623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Watkins, C. J. C. H., &amp; Dayan, P. (1992). Q-learning. Machine Learning, 8, 279–292. DOI: 10.1007/BF00992698.</a:t>
            </a:r>
          </a:p>
        </p:txBody>
      </p:sp>
      <p:sp>
        <p:nvSpPr>
          <p:cNvPr id="17" name="">
            <a:extLst xmlns:a="http://schemas.openxmlformats.org/drawingml/2006/main">
              <a:ext uri="{FF2B5EF4-FFF2-40B4-BE49-F238E27FC236}">
                <a16:creationId xmlns:a16="http://schemas.microsoft.com/office/drawing/2014/main" id="{47D71184-0B00-4A07-9D25-8574BF4636B2}"/>
              </a:ext>
            </a:extLst>
          </p:cNvPr>
          <p:cNvSpPr>
            <a:spLocks xmlns:a="http://schemas.openxmlformats.org/drawingml/2006/main" noGrp="1"/>
          </p:cNvSpPr>
          <p:nvPr/>
        </p:nvSpPr>
        <p:spPr>
          <a:xfrm xmlns:a="http://schemas.openxmlformats.org/drawingml/2006/main">
            <a:off x="581025" y="390525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4E317BC-A8D3-4AD3-A2AB-0792F9228E0D}"/>
              </a:ext>
            </a:extLst>
          </p:cNvPr>
          <p:cNvSpPr>
            <a:spLocks xmlns:a="http://schemas.openxmlformats.org/drawingml/2006/main" noGrp="1"/>
          </p:cNvSpPr>
          <p:nvPr/>
        </p:nvSpPr>
        <p:spPr>
          <a:xfrm xmlns:a="http://schemas.openxmlformats.org/drawingml/2006/main">
            <a:off x="762000" y="38576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Desjardins, C., &amp; Chaib-draa, B. (2011). Cooperative adaptive cruise control: A reinforcement learning approach. IEEE Transactions on Intelligent Transportation Systems, 12(4), 1248–1260. DOI: 10.1109/TITS.2011.2157145.</a:t>
            </a:r>
          </a:p>
        </p:txBody>
      </p:sp>
      <p:sp>
        <p:nvSpPr>
          <p:cNvPr id="19" name="">
            <a:extLst xmlns:a="http://schemas.openxmlformats.org/drawingml/2006/main">
              <a:ext uri="{FF2B5EF4-FFF2-40B4-BE49-F238E27FC236}">
                <a16:creationId xmlns:a16="http://schemas.microsoft.com/office/drawing/2014/main" id="{731DFDB7-7A5F-421F-B0F4-7D9B28504E33}"/>
              </a:ext>
            </a:extLst>
          </p:cNvPr>
          <p:cNvSpPr>
            <a:spLocks xmlns:a="http://schemas.openxmlformats.org/drawingml/2006/main" noGrp="1"/>
          </p:cNvSpPr>
          <p:nvPr/>
        </p:nvSpPr>
        <p:spPr>
          <a:xfrm xmlns:a="http://schemas.openxmlformats.org/drawingml/2006/main">
            <a:off x="581025" y="440055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57AF16F-8255-49DE-82C5-5B00BCDEBAA2}"/>
              </a:ext>
            </a:extLst>
          </p:cNvPr>
          <p:cNvSpPr>
            <a:spLocks xmlns:a="http://schemas.openxmlformats.org/drawingml/2006/main" noGrp="1"/>
          </p:cNvSpPr>
          <p:nvPr/>
        </p:nvSpPr>
        <p:spPr>
          <a:xfrm xmlns:a="http://schemas.openxmlformats.org/drawingml/2006/main">
            <a:off x="762000" y="43529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Zhu, M., Wang, X., &amp; Wang, Y. (2018). Human-like autonomous car-following model with deep reinforcement learning. Transportation Research Part C, 97, 348–368. DOI: 10.1016/j.trc.2018.10.024.</a:t>
            </a:r>
          </a:p>
        </p:txBody>
      </p:sp>
      <p:sp>
        <p:nvSpPr>
          <p:cNvPr id="21" name="">
            <a:extLst xmlns:a="http://schemas.openxmlformats.org/drawingml/2006/main">
              <a:ext uri="{FF2B5EF4-FFF2-40B4-BE49-F238E27FC236}">
                <a16:creationId xmlns:a16="http://schemas.microsoft.com/office/drawing/2014/main" id="{775DD072-BFF1-438E-A90D-57FE71B9A728}"/>
              </a:ext>
            </a:extLst>
          </p:cNvPr>
          <p:cNvSpPr>
            <a:spLocks xmlns:a="http://schemas.openxmlformats.org/drawingml/2006/main" noGrp="1"/>
          </p:cNvSpPr>
          <p:nvPr/>
        </p:nvSpPr>
        <p:spPr>
          <a:xfrm xmlns:a="http://schemas.openxmlformats.org/drawingml/2006/main">
            <a:off x="581025" y="489585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C7F619C-0F82-4219-A229-272FCDC4571A}"/>
              </a:ext>
            </a:extLst>
          </p:cNvPr>
          <p:cNvSpPr>
            <a:spLocks xmlns:a="http://schemas.openxmlformats.org/drawingml/2006/main" noGrp="1"/>
          </p:cNvSpPr>
          <p:nvPr/>
        </p:nvSpPr>
        <p:spPr>
          <a:xfrm xmlns:a="http://schemas.openxmlformats.org/drawingml/2006/main">
            <a:off x="762000" y="48482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Zhu, M. et al. (2020). Safe, efficient, and comfortable velocity control based on reinforcement learning for autonomous driving. Transportation Research Part C, 117, 102662. DOI: 10.1016/j.trc.2020.102662.</a:t>
            </a:r>
          </a:p>
        </p:txBody>
      </p:sp>
      <p:sp>
        <p:nvSpPr>
          <p:cNvPr id="23" name="">
            <a:extLst xmlns:a="http://schemas.openxmlformats.org/drawingml/2006/main">
              <a:ext uri="{FF2B5EF4-FFF2-40B4-BE49-F238E27FC236}">
                <a16:creationId xmlns:a16="http://schemas.microsoft.com/office/drawing/2014/main" id="{5E68897E-3A20-4AF6-8000-26059EB2F444}"/>
              </a:ext>
            </a:extLst>
          </p:cNvPr>
          <p:cNvSpPr>
            <a:spLocks xmlns:a="http://schemas.openxmlformats.org/drawingml/2006/main" noGrp="1"/>
          </p:cNvSpPr>
          <p:nvPr/>
        </p:nvSpPr>
        <p:spPr>
          <a:xfrm xmlns:a="http://schemas.openxmlformats.org/drawingml/2006/main">
            <a:off x="581025" y="539115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617E325-2646-4330-83DB-70441791F548}"/>
              </a:ext>
            </a:extLst>
          </p:cNvPr>
          <p:cNvSpPr>
            <a:spLocks xmlns:a="http://schemas.openxmlformats.org/drawingml/2006/main" noGrp="1"/>
          </p:cNvSpPr>
          <p:nvPr/>
        </p:nvSpPr>
        <p:spPr>
          <a:xfrm xmlns:a="http://schemas.openxmlformats.org/drawingml/2006/main">
            <a:off x="762000" y="534352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13" b="0">
                <a:solidFill>
                  <a:srgbClr val="1D2E3B"/>
                </a:solidFill>
                <a:latin typeface="Arial"/>
                <a:ea typeface="Arial"/>
                <a:cs typeface="Arial"/>
              </a:defRPr>
            </a:defPPr>
          </a:lstStyle>
          <a:p xmlns:a="http://schemas.openxmlformats.org/drawingml/2006/main">
            <a:pPr algn="l">
              <a:defRPr sz="1013" b="0">
                <a:solidFill>
                  <a:srgbClr val="1D2E3B"/>
                </a:solidFill>
                <a:latin typeface="Arial"/>
                <a:ea typeface="Arial"/>
                <a:cs typeface="Arial"/>
              </a:defRPr>
            </a:pPr>
            <a:r>
              <a:rPr sz="1013" b="0">
                <a:solidFill>
                  <a:srgbClr val="1D2E3B"/>
                </a:solidFill>
                <a:latin typeface="Arial"/>
                <a:ea typeface="Arial"/>
                <a:cs typeface="Arial"/>
              </a:rPr>
              <a:t>Lin, Y., McPhee, J., &amp; Azad, N. L. (2021). Comparison of deep reinforcement learning and model predictive control for adaptive cruise control. IEEE Transactions on Intelligent Vehicles, 6, 221–231. DOI: 10.1109/TIV.2020.3012947.</a:t>
            </a:r>
          </a:p>
        </p:txBody>
      </p:sp>
    </p:spTree>
    <p:extLst>
      <p:ext uri="{BB962C8B-B14F-4D97-AF65-F5344CB8AC3E}">
        <p14:creationId xmlns:p14="http://schemas.microsoft.com/office/powerpoint/2010/main" val="1976711921"/>
      </p:ext>
    </p:extLst>
  </p:cSld>
</p:sld>
</file>

<file path=ppt/slides/slide16.xml><?xml version="1.0" encoding="utf-8"?>
<p:sld xmlns:p="http://schemas.openxmlformats.org/presentationml/2006/main">
  <p:cSld>
    <p:bg>
      <p:bgPr>
        <a:solidFill xmlns:a="http://schemas.openxmlformats.org/drawingml/2006/main">
          <a:srgbClr val="F6F8F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F17FDB7-DC96-410C-94C2-C49732BD16F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E9F9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7D21F8-9149-43DB-AADF-9479F8405242}"/>
              </a:ext>
            </a:extLst>
          </p:cNvPr>
          <p:cNvSpPr>
            <a:spLocks xmlns:a="http://schemas.openxmlformats.org/drawingml/2006/main" noGrp="1"/>
          </p:cNvSpPr>
          <p:nvPr/>
        </p:nvSpPr>
        <p:spPr>
          <a:xfrm xmlns:a="http://schemas.openxmlformats.org/drawingml/2006/main">
            <a:off x="552450" y="3048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87C75"/>
                </a:solidFill>
                <a:latin typeface="Arial"/>
                <a:ea typeface="Arial"/>
                <a:cs typeface="Arial"/>
              </a:defRPr>
            </a:defPPr>
          </a:lstStyle>
          <a:p xmlns:a="http://schemas.openxmlformats.org/drawingml/2006/main">
            <a:pPr algn="l">
              <a:defRPr sz="975" b="1">
                <a:solidFill>
                  <a:srgbClr val="087C75"/>
                </a:solidFill>
                <a:latin typeface="Arial"/>
                <a:ea typeface="Arial"/>
                <a:cs typeface="Arial"/>
              </a:defRPr>
            </a:pPr>
            <a:r>
              <a:rPr sz="975" b="1">
                <a:solidFill>
                  <a:srgbClr val="087C75"/>
                </a:solidFill>
                <a:latin typeface="Arial"/>
                <a:ea typeface="Arial"/>
                <a:cs typeface="Arial"/>
              </a:rPr>
              <a:t>REFERENCES · 2 OF 2</a:t>
            </a:r>
          </a:p>
        </p:txBody>
      </p:sp>
      <p:sp>
        <p:nvSpPr>
          <p:cNvPr id="3" name="slide-16-title">
            <a:extLst xmlns:a="http://schemas.openxmlformats.org/drawingml/2006/main">
              <a:ext uri="{FF2B5EF4-FFF2-40B4-BE49-F238E27FC236}">
                <a16:creationId xmlns:a16="http://schemas.microsoft.com/office/drawing/2014/main" id="{66EB7C9C-1ABB-4A28-88F3-E6086B9208C0}"/>
              </a:ext>
            </a:extLst>
          </p:cNvPr>
          <p:cNvSpPr>
            <a:spLocks xmlns:a="http://schemas.openxmlformats.org/drawingml/2006/main" noGrp="1"/>
          </p:cNvSpPr>
          <p:nvPr/>
        </p:nvSpPr>
        <p:spPr>
          <a:xfrm xmlns:a="http://schemas.openxmlformats.org/drawingml/2006/main">
            <a:off x="552450" y="619125"/>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437"/>
                </a:solidFill>
                <a:latin typeface="Arial"/>
                <a:ea typeface="Arial"/>
                <a:cs typeface="Arial"/>
              </a:defRPr>
            </a:defPPr>
          </a:lstStyle>
          <a:p xmlns:a="http://schemas.openxmlformats.org/drawingml/2006/main">
            <a:pPr algn="l">
              <a:defRPr sz="2250" b="1">
                <a:solidFill>
                  <a:srgbClr val="102437"/>
                </a:solidFill>
                <a:latin typeface="Arial"/>
                <a:ea typeface="Arial"/>
                <a:cs typeface="Arial"/>
              </a:defRPr>
            </a:pPr>
            <a:r>
              <a:rPr sz="2250" b="1">
                <a:solidFill>
                  <a:srgbClr val="102437"/>
                </a:solidFill>
                <a:latin typeface="Arial"/>
                <a:ea typeface="Arial"/>
                <a:cs typeface="Arial"/>
              </a:rPr>
              <a:t>Safety methods, production manual, dataset and standards</a:t>
            </a:r>
          </a:p>
        </p:txBody>
      </p:sp>
      <p:sp>
        <p:nvSpPr>
          <p:cNvPr id="4" name="">
            <a:extLst xmlns:a="http://schemas.openxmlformats.org/drawingml/2006/main">
              <a:ext uri="{FF2B5EF4-FFF2-40B4-BE49-F238E27FC236}">
                <a16:creationId xmlns:a16="http://schemas.microsoft.com/office/drawing/2014/main" id="{7C983365-95E1-4822-88FE-B212377B3C8D}"/>
              </a:ext>
            </a:extLst>
          </p:cNvPr>
          <p:cNvSpPr>
            <a:spLocks xmlns:a="http://schemas.openxmlformats.org/drawingml/2006/main" noGrp="1"/>
          </p:cNvSpPr>
          <p:nvPr/>
        </p:nvSpPr>
        <p:spPr>
          <a:xfrm xmlns:a="http://schemas.openxmlformats.org/drawingml/2006/main">
            <a:off x="552450" y="6419850"/>
            <a:ext cx="110871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5" name="">
            <a:extLst xmlns:a="http://schemas.openxmlformats.org/drawingml/2006/main">
              <a:ext uri="{FF2B5EF4-FFF2-40B4-BE49-F238E27FC236}">
                <a16:creationId xmlns:a16="http://schemas.microsoft.com/office/drawing/2014/main" id="{FEB88EA0-7448-4F00-AE65-F89CA20BA457}"/>
              </a:ext>
            </a:extLst>
          </p:cNvPr>
          <p:cNvSpPr>
            <a:spLocks xmlns:a="http://schemas.openxmlformats.org/drawingml/2006/main" noGrp="1"/>
          </p:cNvSpPr>
          <p:nvPr/>
        </p:nvSpPr>
        <p:spPr>
          <a:xfrm xmlns:a="http://schemas.openxmlformats.org/drawingml/2006/main">
            <a:off x="552450" y="6524625"/>
            <a:ext cx="4762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88" b="0">
                <a:solidFill>
                  <a:srgbClr val="667A8A"/>
                </a:solidFill>
                <a:latin typeface="Arial"/>
                <a:ea typeface="Arial"/>
                <a:cs typeface="Arial"/>
              </a:defRPr>
            </a:defPPr>
          </a:lstStyle>
          <a:p xmlns:a="http://schemas.openxmlformats.org/drawingml/2006/main">
            <a:pPr algn="l">
              <a:defRPr sz="788" b="0">
                <a:solidFill>
                  <a:srgbClr val="667A8A"/>
                </a:solidFill>
                <a:latin typeface="Arial"/>
                <a:ea typeface="Arial"/>
                <a:cs typeface="Arial"/>
              </a:defRPr>
            </a:pPr>
            <a:r>
              <a:rPr sz="788" b="0">
                <a:solidFill>
                  <a:srgbClr val="667A8A"/>
                </a:solidFill>
                <a:latin typeface="Arial"/>
                <a:ea typeface="Arial"/>
                <a:cs typeface="Arial"/>
              </a:rPr>
              <a:t>AUTOMOTIVE TECHNOLOGY  ·  ACC + RL</a:t>
            </a:r>
          </a:p>
        </p:txBody>
      </p:sp>
      <p:sp>
        <p:nvSpPr>
          <p:cNvPr id="6" name="">
            <a:extLst xmlns:a="http://schemas.openxmlformats.org/drawingml/2006/main">
              <a:ext uri="{FF2B5EF4-FFF2-40B4-BE49-F238E27FC236}">
                <a16:creationId xmlns:a16="http://schemas.microsoft.com/office/drawing/2014/main" id="{2C8AB766-684A-4E44-88F4-8AFCB772BB24}"/>
              </a:ext>
            </a:extLst>
          </p:cNvPr>
          <p:cNvSpPr>
            <a:spLocks xmlns:a="http://schemas.openxmlformats.org/drawingml/2006/main" noGrp="1"/>
          </p:cNvSpPr>
          <p:nvPr/>
        </p:nvSpPr>
        <p:spPr>
          <a:xfrm xmlns:a="http://schemas.openxmlformats.org/drawingml/2006/main">
            <a:off x="11239500" y="651510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0">
                <a:solidFill>
                  <a:srgbClr val="667A8A"/>
                </a:solidFill>
                <a:latin typeface="Arial"/>
                <a:ea typeface="Arial"/>
                <a:cs typeface="Arial"/>
              </a:defRPr>
            </a:defPPr>
          </a:lstStyle>
          <a:p xmlns:a="http://schemas.openxmlformats.org/drawingml/2006/main">
            <a:pPr algn="r">
              <a:defRPr sz="825" b="0">
                <a:solidFill>
                  <a:srgbClr val="667A8A"/>
                </a:solidFill>
                <a:latin typeface="Arial"/>
                <a:ea typeface="Arial"/>
                <a:cs typeface="Arial"/>
              </a:defRPr>
            </a:pPr>
            <a:r>
              <a:rPr sz="825" b="0">
                <a:solidFill>
                  <a:srgbClr val="667A8A"/>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1B73795F-84AD-4E13-A36B-B444601CEE31}"/>
              </a:ext>
            </a:extLst>
          </p:cNvPr>
          <p:cNvSpPr>
            <a:spLocks xmlns:a="http://schemas.openxmlformats.org/drawingml/2006/main" noGrp="1"/>
          </p:cNvSpPr>
          <p:nvPr/>
        </p:nvSpPr>
        <p:spPr>
          <a:xfrm xmlns:a="http://schemas.openxmlformats.org/drawingml/2006/main">
            <a:off x="581025" y="1409700"/>
            <a:ext cx="66675" cy="66675"/>
          </a:xfrm>
          <a:prstGeom xmlns:a="http://schemas.openxmlformats.org/drawingml/2006/main" prst="ellipse">
            <a:avLst/>
          </a:prstGeom>
          <a:solidFill xmlns:a="http://schemas.openxmlformats.org/drawingml/2006/main">
            <a:srgbClr val="D98F3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C33AFA-C1EA-40EB-B989-2A89637A91EA}"/>
              </a:ext>
            </a:extLst>
          </p:cNvPr>
          <p:cNvSpPr>
            <a:spLocks xmlns:a="http://schemas.openxmlformats.org/drawingml/2006/main" noGrp="1"/>
          </p:cNvSpPr>
          <p:nvPr/>
        </p:nvSpPr>
        <p:spPr>
          <a:xfrm xmlns:a="http://schemas.openxmlformats.org/drawingml/2006/main">
            <a:off x="762000" y="13620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Swaroop &amp; Hedrick (1996). String stability of interconnected systems. IEEE Transactions on Automatic Control, 41(3), 349–357. DOI: 10.1109/9.486636.</a:t>
            </a:r>
          </a:p>
        </p:txBody>
      </p:sp>
      <p:sp>
        <p:nvSpPr>
          <p:cNvPr id="9" name="">
            <a:extLst xmlns:a="http://schemas.openxmlformats.org/drawingml/2006/main">
              <a:ext uri="{FF2B5EF4-FFF2-40B4-BE49-F238E27FC236}">
                <a16:creationId xmlns:a16="http://schemas.microsoft.com/office/drawing/2014/main" id="{702FE5C8-CC9A-4D78-BA4B-9A713F97CDF9}"/>
              </a:ext>
            </a:extLst>
          </p:cNvPr>
          <p:cNvSpPr>
            <a:spLocks xmlns:a="http://schemas.openxmlformats.org/drawingml/2006/main" noGrp="1"/>
          </p:cNvSpPr>
          <p:nvPr/>
        </p:nvSpPr>
        <p:spPr>
          <a:xfrm xmlns:a="http://schemas.openxmlformats.org/drawingml/2006/main">
            <a:off x="581025" y="1847850"/>
            <a:ext cx="66675" cy="66675"/>
          </a:xfrm>
          <a:prstGeom xmlns:a="http://schemas.openxmlformats.org/drawingml/2006/main" prst="ellipse">
            <a:avLst/>
          </a:prstGeom>
          <a:solidFill xmlns:a="http://schemas.openxmlformats.org/drawingml/2006/main">
            <a:srgbClr val="D98F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648C844-80BF-4DEA-B4AE-27400AD4EACA}"/>
              </a:ext>
            </a:extLst>
          </p:cNvPr>
          <p:cNvSpPr>
            <a:spLocks xmlns:a="http://schemas.openxmlformats.org/drawingml/2006/main" noGrp="1"/>
          </p:cNvSpPr>
          <p:nvPr/>
        </p:nvSpPr>
        <p:spPr>
          <a:xfrm xmlns:a="http://schemas.openxmlformats.org/drawingml/2006/main">
            <a:off x="762000" y="180022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Ames et al. (2014). Control barrier function based quadratic programs with application to adaptive cruise control. IEEE CDC. DOI: 10.1109/CDC.2014.7040372.</a:t>
            </a:r>
          </a:p>
        </p:txBody>
      </p:sp>
      <p:sp>
        <p:nvSpPr>
          <p:cNvPr id="11" name="">
            <a:extLst xmlns:a="http://schemas.openxmlformats.org/drawingml/2006/main">
              <a:ext uri="{FF2B5EF4-FFF2-40B4-BE49-F238E27FC236}">
                <a16:creationId xmlns:a16="http://schemas.microsoft.com/office/drawing/2014/main" id="{4A7A2EDB-3D31-4CA7-BEA7-E5A61D6DCBD2}"/>
              </a:ext>
            </a:extLst>
          </p:cNvPr>
          <p:cNvSpPr>
            <a:spLocks xmlns:a="http://schemas.openxmlformats.org/drawingml/2006/main" noGrp="1"/>
          </p:cNvSpPr>
          <p:nvPr/>
        </p:nvSpPr>
        <p:spPr>
          <a:xfrm xmlns:a="http://schemas.openxmlformats.org/drawingml/2006/main">
            <a:off x="581025" y="2286000"/>
            <a:ext cx="66675" cy="66675"/>
          </a:xfrm>
          <a:prstGeom xmlns:a="http://schemas.openxmlformats.org/drawingml/2006/main" prst="ellipse">
            <a:avLst/>
          </a:prstGeom>
          <a:solidFill xmlns:a="http://schemas.openxmlformats.org/drawingml/2006/main">
            <a:srgbClr val="D98F3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E16D360-7D93-45B2-8243-4A79F0C873E9}"/>
              </a:ext>
            </a:extLst>
          </p:cNvPr>
          <p:cNvSpPr>
            <a:spLocks xmlns:a="http://schemas.openxmlformats.org/drawingml/2006/main" noGrp="1"/>
          </p:cNvSpPr>
          <p:nvPr/>
        </p:nvSpPr>
        <p:spPr>
          <a:xfrm xmlns:a="http://schemas.openxmlformats.org/drawingml/2006/main">
            <a:off x="762000" y="22383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Shalev-Shwartz, Shammah &amp; Shashua (2017). On a formal model of safe and scalable self-driving cars. arXiv:1708.06374.</a:t>
            </a:r>
          </a:p>
        </p:txBody>
      </p:sp>
      <p:sp>
        <p:nvSpPr>
          <p:cNvPr id="13" name="">
            <a:extLst xmlns:a="http://schemas.openxmlformats.org/drawingml/2006/main">
              <a:ext uri="{FF2B5EF4-FFF2-40B4-BE49-F238E27FC236}">
                <a16:creationId xmlns:a16="http://schemas.microsoft.com/office/drawing/2014/main" id="{A7E26D17-53DE-46D9-82D7-E34F5B081E6F}"/>
              </a:ext>
            </a:extLst>
          </p:cNvPr>
          <p:cNvSpPr>
            <a:spLocks xmlns:a="http://schemas.openxmlformats.org/drawingml/2006/main" noGrp="1"/>
          </p:cNvSpPr>
          <p:nvPr/>
        </p:nvSpPr>
        <p:spPr>
          <a:xfrm xmlns:a="http://schemas.openxmlformats.org/drawingml/2006/main">
            <a:off x="581025" y="2724150"/>
            <a:ext cx="66675" cy="66675"/>
          </a:xfrm>
          <a:prstGeom xmlns:a="http://schemas.openxmlformats.org/drawingml/2006/main" prst="ellipse">
            <a:avLst/>
          </a:prstGeom>
          <a:solidFill xmlns:a="http://schemas.openxmlformats.org/drawingml/2006/main">
            <a:srgbClr val="D98F3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ABEDBF0-2AD5-4B49-95DF-C9F6F27883A8}"/>
              </a:ext>
            </a:extLst>
          </p:cNvPr>
          <p:cNvSpPr>
            <a:spLocks xmlns:a="http://schemas.openxmlformats.org/drawingml/2006/main" noGrp="1"/>
          </p:cNvSpPr>
          <p:nvPr/>
        </p:nvSpPr>
        <p:spPr>
          <a:xfrm xmlns:a="http://schemas.openxmlformats.org/drawingml/2006/main">
            <a:off x="762000" y="267652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Alshiekh et al. (2018). Safe reinforcement learning via shielding. AAAI, 32(1), 2669–2678. DOI: 10.1609/AAAI.V32I1.11797.</a:t>
            </a:r>
          </a:p>
        </p:txBody>
      </p:sp>
      <p:sp>
        <p:nvSpPr>
          <p:cNvPr id="15" name="">
            <a:extLst xmlns:a="http://schemas.openxmlformats.org/drawingml/2006/main">
              <a:ext uri="{FF2B5EF4-FFF2-40B4-BE49-F238E27FC236}">
                <a16:creationId xmlns:a16="http://schemas.microsoft.com/office/drawing/2014/main" id="{D1845694-A54A-4531-8B35-AA8AA75C88B7}"/>
              </a:ext>
            </a:extLst>
          </p:cNvPr>
          <p:cNvSpPr>
            <a:spLocks xmlns:a="http://schemas.openxmlformats.org/drawingml/2006/main" noGrp="1"/>
          </p:cNvSpPr>
          <p:nvPr/>
        </p:nvSpPr>
        <p:spPr>
          <a:xfrm xmlns:a="http://schemas.openxmlformats.org/drawingml/2006/main">
            <a:off x="581025" y="3162300"/>
            <a:ext cx="66675" cy="66675"/>
          </a:xfrm>
          <a:prstGeom xmlns:a="http://schemas.openxmlformats.org/drawingml/2006/main" prst="ellipse">
            <a:avLst/>
          </a:prstGeom>
          <a:solidFill xmlns:a="http://schemas.openxmlformats.org/drawingml/2006/main">
            <a:srgbClr val="D98F3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D10A1D9-F50A-4202-BB23-2F9E98D79E68}"/>
              </a:ext>
            </a:extLst>
          </p:cNvPr>
          <p:cNvSpPr>
            <a:spLocks xmlns:a="http://schemas.openxmlformats.org/drawingml/2006/main" noGrp="1"/>
          </p:cNvSpPr>
          <p:nvPr/>
        </p:nvSpPr>
        <p:spPr>
          <a:xfrm xmlns:a="http://schemas.openxmlformats.org/drawingml/2006/main">
            <a:off x="762000" y="31146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Hailemichael et al. (2022). Safety filtering for reinforcement learning-based adaptive cruise control. IFAC-PapersOnLine, 55(24). DOI: 10.1016/j.ifacol.2022.10.276.</a:t>
            </a:r>
          </a:p>
        </p:txBody>
      </p:sp>
      <p:sp>
        <p:nvSpPr>
          <p:cNvPr id="17" name="">
            <a:extLst xmlns:a="http://schemas.openxmlformats.org/drawingml/2006/main">
              <a:ext uri="{FF2B5EF4-FFF2-40B4-BE49-F238E27FC236}">
                <a16:creationId xmlns:a16="http://schemas.microsoft.com/office/drawing/2014/main" id="{78704EEC-6182-4C3C-9AA9-ADAE328A1FBA}"/>
              </a:ext>
            </a:extLst>
          </p:cNvPr>
          <p:cNvSpPr>
            <a:spLocks xmlns:a="http://schemas.openxmlformats.org/drawingml/2006/main" noGrp="1"/>
          </p:cNvSpPr>
          <p:nvPr/>
        </p:nvSpPr>
        <p:spPr>
          <a:xfrm xmlns:a="http://schemas.openxmlformats.org/drawingml/2006/main">
            <a:off x="581025" y="3600450"/>
            <a:ext cx="66675" cy="66675"/>
          </a:xfrm>
          <a:prstGeom xmlns:a="http://schemas.openxmlformats.org/drawingml/2006/main" prst="ellipse">
            <a:avLst/>
          </a:prstGeom>
          <a:solidFill xmlns:a="http://schemas.openxmlformats.org/drawingml/2006/main">
            <a:srgbClr val="D98F3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7D78D3B-2612-4498-B530-1673697E383B}"/>
              </a:ext>
            </a:extLst>
          </p:cNvPr>
          <p:cNvSpPr>
            <a:spLocks xmlns:a="http://schemas.openxmlformats.org/drawingml/2006/main" noGrp="1"/>
          </p:cNvSpPr>
          <p:nvPr/>
        </p:nvSpPr>
        <p:spPr>
          <a:xfrm xmlns:a="http://schemas.openxmlformats.org/drawingml/2006/main">
            <a:off x="762000" y="355282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Vogel (2003). A comparison of headway and time to collision as safety indicators. Accident Analysis &amp; Prevention, 35(3), 427–433. DOI: 10.1016/S0001-4575(02)00022-2.</a:t>
            </a:r>
          </a:p>
        </p:txBody>
      </p:sp>
      <p:sp>
        <p:nvSpPr>
          <p:cNvPr id="19" name="">
            <a:extLst xmlns:a="http://schemas.openxmlformats.org/drawingml/2006/main">
              <a:ext uri="{FF2B5EF4-FFF2-40B4-BE49-F238E27FC236}">
                <a16:creationId xmlns:a16="http://schemas.microsoft.com/office/drawing/2014/main" id="{61E82693-367E-4C4E-A46E-51D57C7D8F5A}"/>
              </a:ext>
            </a:extLst>
          </p:cNvPr>
          <p:cNvSpPr>
            <a:spLocks xmlns:a="http://schemas.openxmlformats.org/drawingml/2006/main" noGrp="1"/>
          </p:cNvSpPr>
          <p:nvPr/>
        </p:nvSpPr>
        <p:spPr>
          <a:xfrm xmlns:a="http://schemas.openxmlformats.org/drawingml/2006/main">
            <a:off x="581025" y="403860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9F39D5B-4AFC-402F-B0B1-0302411E6695}"/>
              </a:ext>
            </a:extLst>
          </p:cNvPr>
          <p:cNvSpPr>
            <a:spLocks xmlns:a="http://schemas.openxmlformats.org/drawingml/2006/main" noGrp="1"/>
          </p:cNvSpPr>
          <p:nvPr/>
        </p:nvSpPr>
        <p:spPr>
          <a:xfrm xmlns:a="http://schemas.openxmlformats.org/drawingml/2006/main">
            <a:off x="762000" y="39909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Honda (2025). Accord Hybrid owner’s manual: Adaptive Cruise Control with Low Speed Follow. techinfo.honda.com/rjanisis/pubs/om/ah/a30b2525iom/enu/details/131245047-520366.html.</a:t>
            </a:r>
          </a:p>
        </p:txBody>
      </p:sp>
      <p:sp>
        <p:nvSpPr>
          <p:cNvPr id="21" name="">
            <a:extLst xmlns:a="http://schemas.openxmlformats.org/drawingml/2006/main">
              <a:ext uri="{FF2B5EF4-FFF2-40B4-BE49-F238E27FC236}">
                <a16:creationId xmlns:a16="http://schemas.microsoft.com/office/drawing/2014/main" id="{79020174-EDF7-422A-889B-957C776E4C6D}"/>
              </a:ext>
            </a:extLst>
          </p:cNvPr>
          <p:cNvSpPr>
            <a:spLocks xmlns:a="http://schemas.openxmlformats.org/drawingml/2006/main" noGrp="1"/>
          </p:cNvSpPr>
          <p:nvPr/>
        </p:nvSpPr>
        <p:spPr>
          <a:xfrm xmlns:a="http://schemas.openxmlformats.org/drawingml/2006/main">
            <a:off x="581025" y="447675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AA13CB5-81F7-4734-92B9-9CFC8EDA2232}"/>
              </a:ext>
            </a:extLst>
          </p:cNvPr>
          <p:cNvSpPr>
            <a:spLocks xmlns:a="http://schemas.openxmlformats.org/drawingml/2006/main" noGrp="1"/>
          </p:cNvSpPr>
          <p:nvPr/>
        </p:nvSpPr>
        <p:spPr>
          <a:xfrm xmlns:a="http://schemas.openxmlformats.org/drawingml/2006/main">
            <a:off x="762000" y="442912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European Commission Joint Research Centre. Open ACC Database, Vicolungo sample, DOI: 10.2905/JRC.KMH3D00. data.jrc.ec.europa.eu/dataset/9702c950-c80f-4d2f-982f-44d06ea0009f.</a:t>
            </a:r>
          </a:p>
        </p:txBody>
      </p:sp>
      <p:sp>
        <p:nvSpPr>
          <p:cNvPr id="23" name="">
            <a:extLst xmlns:a="http://schemas.openxmlformats.org/drawingml/2006/main">
              <a:ext uri="{FF2B5EF4-FFF2-40B4-BE49-F238E27FC236}">
                <a16:creationId xmlns:a16="http://schemas.microsoft.com/office/drawing/2014/main" id="{6ACCE0DB-EAD9-46C9-ADC4-A9C74FC0246F}"/>
              </a:ext>
            </a:extLst>
          </p:cNvPr>
          <p:cNvSpPr>
            <a:spLocks xmlns:a="http://schemas.openxmlformats.org/drawingml/2006/main" noGrp="1"/>
          </p:cNvSpPr>
          <p:nvPr/>
        </p:nvSpPr>
        <p:spPr>
          <a:xfrm xmlns:a="http://schemas.openxmlformats.org/drawingml/2006/main">
            <a:off x="581025" y="491490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B59E7F9-0540-42B4-8EF8-16ED5FA77646}"/>
              </a:ext>
            </a:extLst>
          </p:cNvPr>
          <p:cNvSpPr>
            <a:spLocks xmlns:a="http://schemas.openxmlformats.org/drawingml/2006/main" noGrp="1"/>
          </p:cNvSpPr>
          <p:nvPr/>
        </p:nvSpPr>
        <p:spPr>
          <a:xfrm xmlns:a="http://schemas.openxmlformats.org/drawingml/2006/main">
            <a:off x="762000" y="48672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ISO 15622:2018, ACC performance requirements and test procedures; ISO/DIS 15622 is the revision under development. iso.org/standard/71515.html; iso.org/standard/89465.html.</a:t>
            </a:r>
          </a:p>
        </p:txBody>
      </p:sp>
      <p:sp>
        <p:nvSpPr>
          <p:cNvPr id="25" name="">
            <a:extLst xmlns:a="http://schemas.openxmlformats.org/drawingml/2006/main">
              <a:ext uri="{FF2B5EF4-FFF2-40B4-BE49-F238E27FC236}">
                <a16:creationId xmlns:a16="http://schemas.microsoft.com/office/drawing/2014/main" id="{63347AD6-B643-497A-AF29-1277CED291FA}"/>
              </a:ext>
            </a:extLst>
          </p:cNvPr>
          <p:cNvSpPr>
            <a:spLocks xmlns:a="http://schemas.openxmlformats.org/drawingml/2006/main" noGrp="1"/>
          </p:cNvSpPr>
          <p:nvPr/>
        </p:nvSpPr>
        <p:spPr>
          <a:xfrm xmlns:a="http://schemas.openxmlformats.org/drawingml/2006/main">
            <a:off x="581025" y="5353050"/>
            <a:ext cx="66675" cy="66675"/>
          </a:xfrm>
          <a:prstGeom xmlns:a="http://schemas.openxmlformats.org/drawingml/2006/main" prst="ellipse">
            <a:avLst/>
          </a:prstGeom>
          <a:solidFill xmlns:a="http://schemas.openxmlformats.org/drawingml/2006/main">
            <a:srgbClr val="0E9F9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07A483F-206A-45C0-927C-27F047E12AAF}"/>
              </a:ext>
            </a:extLst>
          </p:cNvPr>
          <p:cNvSpPr>
            <a:spLocks xmlns:a="http://schemas.openxmlformats.org/drawingml/2006/main" noGrp="1"/>
          </p:cNvSpPr>
          <p:nvPr/>
        </p:nvSpPr>
        <p:spPr>
          <a:xfrm xmlns:a="http://schemas.openxmlformats.org/drawingml/2006/main">
            <a:off x="762000" y="530542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15" b="0">
                <a:solidFill>
                  <a:srgbClr val="1D2E3B"/>
                </a:solidFill>
                <a:latin typeface="Arial"/>
                <a:ea typeface="Arial"/>
                <a:cs typeface="Arial"/>
              </a:defRPr>
            </a:defPPr>
          </a:lstStyle>
          <a:p xmlns:a="http://schemas.openxmlformats.org/drawingml/2006/main">
            <a:pPr algn="l">
              <a:defRPr sz="915" b="0">
                <a:solidFill>
                  <a:srgbClr val="1D2E3B"/>
                </a:solidFill>
                <a:latin typeface="Arial"/>
                <a:ea typeface="Arial"/>
                <a:cs typeface="Arial"/>
              </a:defRPr>
            </a:pPr>
            <a:r>
              <a:rPr sz="915" b="0">
                <a:solidFill>
                  <a:srgbClr val="1D2E3B"/>
                </a:solidFill>
                <a:latin typeface="Arial"/>
                <a:ea typeface="Arial"/>
                <a:cs typeface="Arial"/>
              </a:rPr>
              <a:t>ISO 21448:2022. Road vehicles — Safety of the intended functionality (SOTIF). iso.org/standard/77490.html.</a:t>
            </a:r>
          </a:p>
        </p:txBody>
      </p:sp>
      <p:sp>
        <p:nvSpPr>
          <p:cNvPr id="27" name="">
            <a:extLst xmlns:a="http://schemas.openxmlformats.org/drawingml/2006/main">
              <a:ext uri="{FF2B5EF4-FFF2-40B4-BE49-F238E27FC236}">
                <a16:creationId xmlns:a16="http://schemas.microsoft.com/office/drawing/2014/main" id="{C13C556D-E1F3-42B1-8A97-44663E3A1795}"/>
              </a:ext>
            </a:extLst>
          </p:cNvPr>
          <p:cNvSpPr>
            <a:spLocks xmlns:a="http://schemas.openxmlformats.org/drawingml/2006/main" noGrp="1"/>
          </p:cNvSpPr>
          <p:nvPr/>
        </p:nvSpPr>
        <p:spPr>
          <a:xfrm xmlns:a="http://schemas.openxmlformats.org/drawingml/2006/main">
            <a:off x="552450" y="5953125"/>
            <a:ext cx="1066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63" b="1">
                <a:solidFill>
                  <a:srgbClr val="087C75"/>
                </a:solidFill>
                <a:latin typeface="Arial"/>
                <a:ea typeface="Arial"/>
                <a:cs typeface="Arial"/>
              </a:defRPr>
            </a:defPPr>
          </a:lstStyle>
          <a:p xmlns:a="http://schemas.openxmlformats.org/drawingml/2006/main">
            <a:pPr algn="l">
              <a:defRPr sz="1163" b="1">
                <a:solidFill>
                  <a:srgbClr val="087C75"/>
                </a:solidFill>
                <a:latin typeface="Arial"/>
                <a:ea typeface="Arial"/>
                <a:cs typeface="Arial"/>
              </a:defRPr>
            </a:pPr>
            <a:r>
              <a:rPr sz="1163" b="1">
                <a:solidFill>
                  <a:srgbClr val="087C75"/>
                </a:solidFill>
                <a:latin typeface="Arial"/>
                <a:ea typeface="Arial"/>
                <a:cs typeface="Arial"/>
              </a:rPr>
              <a:t>Our guard is RSS-inspired; it is not a formal RSS, CBF, SOTIF assessment or certification.</a:t>
            </a:r>
          </a:p>
        </p:txBody>
      </p:sp>
    </p:spTree>
    <p:extLst>
      <p:ext uri="{BB962C8B-B14F-4D97-AF65-F5344CB8AC3E}">
        <p14:creationId xmlns:p14="http://schemas.microsoft.com/office/powerpoint/2010/main" val="1841155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2026-10-16T14:25:03.4790000Z</dcterms:created>
  <dcterms:modified xsi:type="dcterms:W3CDTF">2026-10-16T14:25:03.4790000Z</dcterms:modified>
</coreProperties>
</file>