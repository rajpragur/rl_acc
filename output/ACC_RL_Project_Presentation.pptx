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ba3900817f4ca8" /><Relationship Type="http://schemas.openxmlformats.org/officeDocument/2006/relationships/extended-properties" Target="/docProps/app.xml" Id="R8396f12e25a043e0" /><Relationship Type="http://schemas.openxmlformats.org/officeDocument/2006/relationships/officeDocument" Target="/ppt/presentation.xml" Id="R3827e11e588c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3877c4a1648ac"/>
  </p:sldMasterIdLst>
  <p:notesMasterIdLst>
    <p:notesMasterId xmlns:r="http://schemas.openxmlformats.org/officeDocument/2006/relationships" r:id="Rb3848122dab94ce5"/>
  </p:notesMasterIdLst>
  <p:sldIdLst>
    <p:sldId xmlns:r="http://schemas.openxmlformats.org/officeDocument/2006/relationships" id="256" r:id="R0432198627994815"/>
    <p:sldId xmlns:r="http://schemas.openxmlformats.org/officeDocument/2006/relationships" id="257" r:id="Rb53059f16d15442a"/>
    <p:sldId xmlns:r="http://schemas.openxmlformats.org/officeDocument/2006/relationships" id="258" r:id="Rd6a3713fe5c64264"/>
    <p:sldId xmlns:r="http://schemas.openxmlformats.org/officeDocument/2006/relationships" id="259" r:id="R14d1bcf9b03f42ab"/>
    <p:sldId xmlns:r="http://schemas.openxmlformats.org/officeDocument/2006/relationships" id="260" r:id="R1acf3d612dff41e4"/>
    <p:sldId xmlns:r="http://schemas.openxmlformats.org/officeDocument/2006/relationships" id="261" r:id="Re79d950892a049e4"/>
    <p:sldId xmlns:r="http://schemas.openxmlformats.org/officeDocument/2006/relationships" id="262" r:id="R57e79a3cc1a44db8"/>
    <p:sldId xmlns:r="http://schemas.openxmlformats.org/officeDocument/2006/relationships" id="263" r:id="Rbdbf58a691944bf3"/>
    <p:sldId xmlns:r="http://schemas.openxmlformats.org/officeDocument/2006/relationships" id="264" r:id="Rb5836af8c4ac473b"/>
    <p:sldId xmlns:r="http://schemas.openxmlformats.org/officeDocument/2006/relationships" id="265" r:id="R68a8093d13744f01"/>
    <p:sldId xmlns:r="http://schemas.openxmlformats.org/officeDocument/2006/relationships" id="266" r:id="Rf66f43d9514e4a0c"/>
    <p:sldId xmlns:r="http://schemas.openxmlformats.org/officeDocument/2006/relationships" id="267" r:id="Rc46ed80dd40c4920"/>
    <p:sldId xmlns:r="http://schemas.openxmlformats.org/officeDocument/2006/relationships" id="268" r:id="R82663c828a734800"/>
    <p:sldId xmlns:r="http://schemas.openxmlformats.org/officeDocument/2006/relationships" id="269" r:id="R38f40d2812c64210"/>
    <p:sldId xmlns:r="http://schemas.openxmlformats.org/officeDocument/2006/relationships" id="270" r:id="R856c818c771d440c"/>
    <p:sldId xmlns:r="http://schemas.openxmlformats.org/officeDocument/2006/relationships" id="271" r:id="R9b22f07f77d044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e7c91ef73d441e" /><Relationship Type="http://schemas.openxmlformats.org/officeDocument/2006/relationships/slideMaster" Target="/ppt/slideMasters/slideMaster1.xml" Id="Rfe13877c4a1648ac" /><Relationship Type="http://schemas.openxmlformats.org/officeDocument/2006/relationships/notesMaster" Target="/ppt/notesMasters/notesMaster1.xml" Id="Rb3848122dab94ce5" /><Relationship Type="http://schemas.openxmlformats.org/officeDocument/2006/relationships/presProps" Target="/ppt/presProps.xml" Id="R9f6ad21f29674f11" /><Relationship Type="http://schemas.openxmlformats.org/officeDocument/2006/relationships/tableStyles" Target="/ppt/tableStyles.xml" Id="R787ac46c24a747c4" /><Relationship Type="http://schemas.openxmlformats.org/officeDocument/2006/relationships/slide" Target="/ppt/slides/slide1.xml" Id="R0432198627994815" /><Relationship Type="http://schemas.openxmlformats.org/officeDocument/2006/relationships/slide" Target="/ppt/slides/slide2.xml" Id="Rb53059f16d15442a" /><Relationship Type="http://schemas.openxmlformats.org/officeDocument/2006/relationships/slide" Target="/ppt/slides/slide3.xml" Id="Rd6a3713fe5c64264" /><Relationship Type="http://schemas.openxmlformats.org/officeDocument/2006/relationships/slide" Target="/ppt/slides/slide4.xml" Id="R14d1bcf9b03f42ab" /><Relationship Type="http://schemas.openxmlformats.org/officeDocument/2006/relationships/slide" Target="/ppt/slides/slide5.xml" Id="R1acf3d612dff41e4" /><Relationship Type="http://schemas.openxmlformats.org/officeDocument/2006/relationships/slide" Target="/ppt/slides/slide6.xml" Id="Re79d950892a049e4" /><Relationship Type="http://schemas.openxmlformats.org/officeDocument/2006/relationships/slide" Target="/ppt/slides/slide7.xml" Id="R57e79a3cc1a44db8" /><Relationship Type="http://schemas.openxmlformats.org/officeDocument/2006/relationships/slide" Target="/ppt/slides/slide8.xml" Id="Rbdbf58a691944bf3" /><Relationship Type="http://schemas.openxmlformats.org/officeDocument/2006/relationships/slide" Target="/ppt/slides/slide9.xml" Id="Rb5836af8c4ac473b" /><Relationship Type="http://schemas.openxmlformats.org/officeDocument/2006/relationships/slide" Target="/ppt/slides/slide10.xml" Id="R68a8093d13744f01" /><Relationship Type="http://schemas.openxmlformats.org/officeDocument/2006/relationships/slide" Target="/ppt/slides/slide11.xml" Id="Rf66f43d9514e4a0c" /><Relationship Type="http://schemas.openxmlformats.org/officeDocument/2006/relationships/slide" Target="/ppt/slides/slide12.xml" Id="Rc46ed80dd40c4920" /><Relationship Type="http://schemas.openxmlformats.org/officeDocument/2006/relationships/slide" Target="/ppt/slides/slide13.xml" Id="R82663c828a734800" /><Relationship Type="http://schemas.openxmlformats.org/officeDocument/2006/relationships/slide" Target="/ppt/slides/slide14.xml" Id="R38f40d2812c64210" /><Relationship Type="http://schemas.openxmlformats.org/officeDocument/2006/relationships/slide" Target="/ppt/slides/slide15.xml" Id="R856c818c771d440c" /><Relationship Type="http://schemas.openxmlformats.org/officeDocument/2006/relationships/slide" Target="/ppt/slides/slide16.xml" Id="R9b22f07f77d044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10abcb7989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badb6d4314b39" /><Relationship Type="http://schemas.openxmlformats.org/officeDocument/2006/relationships/notesMaster" Target="/ppt/notesMasters/notesMaster1.xml" Id="R307aef85e3e4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567bbdd544d86" /><Relationship Type="http://schemas.openxmlformats.org/officeDocument/2006/relationships/notesMaster" Target="/ppt/notesMasters/notesMaster1.xml" Id="R308f7ab19b4a46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e468811d734c57" /><Relationship Type="http://schemas.openxmlformats.org/officeDocument/2006/relationships/notesMaster" Target="/ppt/notesMasters/notesMaster1.xml" Id="R2973fde0e813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fcb5a952a4c23" /><Relationship Type="http://schemas.openxmlformats.org/officeDocument/2006/relationships/notesMaster" Target="/ppt/notesMasters/notesMaster1.xml" Id="Rbc4e461c070147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388e2c88af4431" /><Relationship Type="http://schemas.openxmlformats.org/officeDocument/2006/relationships/notesMaster" Target="/ppt/notesMasters/notesMaster1.xml" Id="Rce5bf9e3973047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a371761394328" /><Relationship Type="http://schemas.openxmlformats.org/officeDocument/2006/relationships/notesMaster" Target="/ppt/notesMasters/notesMaster1.xml" Id="Ra2282c62782a4e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0b6e1dc18d48e2" /><Relationship Type="http://schemas.openxmlformats.org/officeDocument/2006/relationships/notesMaster" Target="/ppt/notesMasters/notesMaster1.xml" Id="R4dcda4f2f25643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79474161e1461f" /><Relationship Type="http://schemas.openxmlformats.org/officeDocument/2006/relationships/notesMaster" Target="/ppt/notesMasters/notesMaster1.xml" Id="Re8658c754e214e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23f37f7e04286" /><Relationship Type="http://schemas.openxmlformats.org/officeDocument/2006/relationships/notesMaster" Target="/ppt/notesMasters/notesMaster1.xml" Id="R4b5a346aac74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fa4f80107d4234" /><Relationship Type="http://schemas.openxmlformats.org/officeDocument/2006/relationships/notesMaster" Target="/ppt/notesMasters/notesMaster1.xml" Id="R14f951f846c543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efd1209fa145d2" /><Relationship Type="http://schemas.openxmlformats.org/officeDocument/2006/relationships/notesMaster" Target="/ppt/notesMasters/notesMaster1.xml" Id="Rbb2601a3e01648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3af6ad2792401b" /><Relationship Type="http://schemas.openxmlformats.org/officeDocument/2006/relationships/notesMaster" Target="/ppt/notesMasters/notesMaster1.xml" Id="R7e6be2a7ed5d41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1be8d48bf041d0" /><Relationship Type="http://schemas.openxmlformats.org/officeDocument/2006/relationships/notesMaster" Target="/ppt/notesMasters/notesMaster1.xml" Id="Rc4636af564614f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1109877b2346a4" /><Relationship Type="http://schemas.openxmlformats.org/officeDocument/2006/relationships/notesMaster" Target="/ppt/notesMasters/notesMaster1.xml" Id="Rbebf5f8d5e3a41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6137026ccf4cfa" /><Relationship Type="http://schemas.openxmlformats.org/officeDocument/2006/relationships/notesMaster" Target="/ppt/notesMasters/notesMaster1.xml" Id="Re283881ff68242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214dd35aca4ac6" /><Relationship Type="http://schemas.openxmlformats.org/officeDocument/2006/relationships/notesMaster" Target="/ppt/notesMasters/notesMaster1.xml" Id="R70d2c6dd8d8d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We built a compact longitudinal ACC simulation to test whether a small, transparent Q-learning policy adds value when it is placed around a conventional controller. The project compares it with CTG-PID and a simplified MPC baseline, then examines an RSS-inspired action guard. State clearly that the results are simulation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automotive motivation in engineering terms. ACC is not just a machine-learning benchmark: desired following distance varies with speed, vehicle acceleration is bounded, actuators have delay, comfort matters, and vehicle strings can transmit disturbances. Our prototype deliberately isolates longitudinal following; it has no steering, perception or lane-change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Synthesize by research question. Classical control papers study tracking and transitions; RL studies may reproduce human trajectories, coordinate vehicles, or optimize traffic flow; safety papers define different kinds of filters or formal conditions. Do not treat their results as directly interchangeable. References: Bageshwar et al. 2004, https://doi.org/10.1109/TVT.2004.833625; Li et al. 2011, https://doi.org/10.1109/TCST.2010.2049203; He et al. 2019, https://doi.org/10.1016/j.ifacol.2019.09.004; Desjardins &amp; Chaib-draa 2011, https://doi.org/10.1109/TITS.2011.2157145; Zhu et al. 2018, https://doi.org/10.1016/j.trc.2018.10.024; Zhu et al. 2020, https://doi.org/10.1016/j.trc.2020.102662; Lin et al. 2021, https://doi.org/10.1109/TIV.2020.3012947; Ames et al. 2014, https://doi.org/10.1109/CDC.2014.7040372; Shalev-Shwartz et al. 2017, https://arxiv.org/abs/1708.06374; Alshiekh et al. 2018, https://doi.org/10.1609/AAAI.V32I1.11797; Hailemichael et al. 2022, https://doi.org/10.1016/j.ifacol.2022.10.276.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attached course guide allocates 30–35 marks to the literature review, 10 to own work/findings, and 30–35 to actual research. It separately suggests about 13 papers. We interpreted the mark values correctly and designed a focused review rather than assuming the team needs 30–35 papers.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lead profile sets speed; state features describe the car-following situation; CTG-PID supplies the nominal acceleration; Q chooses a discrete residual; an optional braking-distance guard can clip the command; actuator and longitudinal plant determine next state. In unseen or tied table states the action is zero residual. This fallback does not prove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10 Hz longitudinal point-mass model and the chosen time-gap policy. The Q-table has five discretized state features and seven acceleration residuals. The reward combines normalized tracking, relative-speed, acceleration and jerk penalties, a soft negative-margin shaping cost and a large collision penalty. The discretization is intentionally inspectable but many bins are never visited; the chosen action granularity is a limitation. Q-learning update follows Watkins and Dayan (1992), https://doi.org/10.1007/BF00992698.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protocol: training includes steady, wave and moderate braking; evaluation has three in-distribution profiles and two holdouts. Each of the five scenarios runs against four controllers for eight matched seeds, totalling 160 episodes. The cut-in is modeled as an instantaneous 22 m gap decrease at eight seconds followed by sharper braking. That is a deliberately simplified stress test, not a lane-change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mean episode-level gap RMSE values. In-distribution averages three scenario families × eight seeds (24 episodes); holdout averages two × eight (16). MPC is lowest: 1.58 m in-distribution and 2.43 m holdout. Residual Q is 2.54 m and 4.90 m, respectively. CTG-PID is 2.36 m and 3.55 m. Q+guard equals Q in-distribution because no guard interventions occurred there. This is project simulation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Jerk is a rough proxy for longitudinal smoothness, not a complete measure of ride comfort. CTG-PID has lower mean absolute jerk than Q in both groups. The guard can create sharp command changes; across the two holdouts its mean episode-level jerk rises from 0.726 to 0.902 m/s³. In the training-like group the guard never intervened, so Q and Q+guard match.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synthetic cut-in, residual Q had average minimum gap 3.41 m and TTC under two seconds for 3.125% of closing samples; the per-episode mean is displayed as 3.13%. The RSS-inspired guard increased average minimum gap to 9.14 m and the TTC-below-two indicator to zero, but changed about 32.9 actions per run (8.22% of steps) and increased jerk. This filter is a simplified braking-margin heuristic, not full RSS, a CBF proof or a certification. The cut-in itself is a sudden 22 m gap drop at 8 seconds, not a lane-change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ratio is the last follower’s peak speed deviation divided by the leader’s peak deviation, which was 2.4 m/s. CTG-PID is 0.735, MPC 0.633, and both Q variants 1.040. This selected test suggests attenuation for CTG/MPC and slight amplification for Q. It is a single 4-car, 32-second pulse test, not formal proof of string stability across all frequencies, delays or configurations. References: Swaroop &amp; Hedrick (1996), https://doi.org/10.1109/9.486636; Ploeg et al. (2014), https://doi.org/10.1109/TITS.2013.2291493.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suggests a careful comparison. ACC/MPC work motivates model-based baselines and multi-objective evaluation. RL studies differ in whether they target trajectories, cooperative platoons or network flow. Safety filtering spans heuristics, shields, RSS-style models and formal CBF methods. Our project is scoped to transparent integration and matched simulation, not a new safety proof. Cite Lin et al. 2021, Watkins &amp; Dayan 1992, Ames et al. 2014, Alshiekh et al. 2018, and ISO 21448:2022 for the safety-development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the project’s own iteration. Absolute-action tabular Q performed badly in a pilot, with 15.20 m in-distribution RMSE versus 2.36 CTG and 1.58 MPC, and one collision among 24 in-distribution trials. We retained the pilot artifacts and changed to residual Q: CTG-PID supplies the nominal action, and the learner selects a bounded residual. Formal residual Q is much closer at 2.54 m, but still not better than CTG or MPC and has higher jerk.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answering the question directly. The compact residual Q policy was transparent, but did not beat CTG-PID or simplified MPC on tracking or jerk. The braking-distance guard improved selected holdout indicators at a comfort/intervention cost. The main contribution is a reproducible, honest comparison and a clear next research plan—not evidence that the policy is ready for a 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references support the ACC/MPC, string-stability and RL claims in the talk. For paper-level results consult the full publication, not only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terminology references: Ames et al. 2014 is an ACC-specific CBF-QP study; RSS is a safe-distance model; shielding filters actions against modeled specifications; ISO 15622 covers ACC performance requirements and test procedures; ISO 21448 provides a SOTIF framework. Our simplified guard does not implement or inherit any formal guarantee from these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22a79fecc4c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00b8d8d4f4f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a9a00823b41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5b354f12940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93210c73141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70177be7d44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D159CE-4B6C-4C76-BC95-96F45B999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34CD8B-02E9-4CF5-BEFF-EA43D19BD2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9F97A2-EA57-424F-8651-B61A2C062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67F01-8E94-42B5-BD25-71CD74D9F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6DCE64-11B0-44F9-A216-A531CE7B7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D1EB89-2560-4065-BE03-90D8A6010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97CF18-5563-4CC2-B1C6-2B9C2375B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3E0E2D-EFCC-4234-9C3F-FF2F9DF0B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568A9-ED1D-4169-95DE-CFE01BD32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91870C-D575-45D4-831C-9D6AECFEDF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14d729b5846d7" /><Relationship Type="http://schemas.openxmlformats.org/officeDocument/2006/relationships/slideLayout" Target="/ppt/slideLayouts/slideLayout1.xml" Id="R4e7be897036145d8" /><Relationship Type="http://schemas.openxmlformats.org/officeDocument/2006/relationships/slideLayout" Target="/ppt/slideLayouts/slideLayout2.xml" Id="Rdcab4bde1311478a" /><Relationship Type="http://schemas.openxmlformats.org/officeDocument/2006/relationships/slideLayout" Target="/ppt/slideLayouts/slideLayout3.xml" Id="R913c243e4a784d2e" /><Relationship Type="http://schemas.openxmlformats.org/officeDocument/2006/relationships/slideLayout" Target="/ppt/slideLayouts/slideLayout4.xml" Id="Rc62ab5dd732f4f48" /><Relationship Type="http://schemas.openxmlformats.org/officeDocument/2006/relationships/slideLayout" Target="/ppt/slideLayouts/slideLayout5.xml" Id="R617284d49b784f3c" /><Relationship Type="http://schemas.openxmlformats.org/officeDocument/2006/relationships/slideLayout" Target="/ppt/slideLayouts/slideLayout6.xml" Id="R53c239a1caa6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be897036145d8"/>
    <p:sldLayoutId xmlns:r="http://schemas.openxmlformats.org/officeDocument/2006/relationships" id="2147483650" r:id="Rdcab4bde1311478a"/>
    <p:sldLayoutId xmlns:r="http://schemas.openxmlformats.org/officeDocument/2006/relationships" id="2147483651" r:id="R913c243e4a784d2e"/>
    <p:sldLayoutId xmlns:r="http://schemas.openxmlformats.org/officeDocument/2006/relationships" id="2147483652" r:id="Rc62ab5dd732f4f48"/>
    <p:sldLayoutId xmlns:r="http://schemas.openxmlformats.org/officeDocument/2006/relationships" id="2147483653" r:id="R617284d49b784f3c"/>
    <p:sldLayoutId xmlns:r="http://schemas.openxmlformats.org/officeDocument/2006/relationships" id="2147483654" r:id="R53c239a1caa6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869bad03147a9" /><Relationship Type="http://schemas.openxmlformats.org/officeDocument/2006/relationships/notesSlide" Target="/ppt/notesSlides/notesSlide1.xml" Id="Re4542ad4d5f5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d4f42b1f9442e" /><Relationship Type="http://schemas.openxmlformats.org/officeDocument/2006/relationships/notesSlide" Target="/ppt/notesSlides/notesSlide2.xml" Id="R7c5ce7ae20c347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25c5d56d1469c" /><Relationship Type="http://schemas.openxmlformats.org/officeDocument/2006/relationships/notesSlide" Target="/ppt/notesSlides/notesSlide3.xml" Id="R3d2b45d996454e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eb7a74d9c4716" /><Relationship Type="http://schemas.openxmlformats.org/officeDocument/2006/relationships/notesSlide" Target="/ppt/notesSlides/notesSlide4.xml" Id="R7ea30ed1ad00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a3cd2c3db43f0" /><Relationship Type="http://schemas.openxmlformats.org/officeDocument/2006/relationships/notesSlide" Target="/ppt/notesSlides/notesSlide5.xml" Id="R7ff77f52737344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b229d74f24a60" /><Relationship Type="http://schemas.openxmlformats.org/officeDocument/2006/relationships/notesSlide" Target="/ppt/notesSlides/notesSlide6.xml" Id="R96d8f011998f4a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ededb4d7b4429" /><Relationship Type="http://schemas.openxmlformats.org/officeDocument/2006/relationships/notesSlide" Target="/ppt/notesSlides/notesSlide7.xml" Id="R6408ccf5a0544b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0fa37a7a04640" /><Relationship Type="http://schemas.openxmlformats.org/officeDocument/2006/relationships/chart" Target="/ppt/slides/charts/chart1.xml" Id="R4400767acbd54588" /><Relationship Type="http://schemas.openxmlformats.org/officeDocument/2006/relationships/notesSlide" Target="/ppt/notesSlides/notesSlide8.xml" Id="R526d8eb4d4f041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ce9d6ef514000" /><Relationship Type="http://schemas.openxmlformats.org/officeDocument/2006/relationships/chart" Target="/ppt/slides/charts/chart2.xml" Id="Rf2ac4dd706054d6a" /><Relationship Type="http://schemas.openxmlformats.org/officeDocument/2006/relationships/notesSlide" Target="/ppt/notesSlides/notesSlide9.xml" Id="R839aafcdcc9b42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74c0a9dfd4146" /><Relationship Type="http://schemas.openxmlformats.org/officeDocument/2006/relationships/chart" Target="/ppt/slides/charts/chart3.xml" Id="Rb9bc6ae9baa24af7" /><Relationship Type="http://schemas.openxmlformats.org/officeDocument/2006/relationships/notesSlide" Target="/ppt/notesSlides/notesSlide10.xml" Id="R627ec5faab1244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fc70f4d44416c" /><Relationship Type="http://schemas.openxmlformats.org/officeDocument/2006/relationships/chart" Target="/ppt/slides/charts/chart4.xml" Id="R4a2f590f02c548f4" /><Relationship Type="http://schemas.openxmlformats.org/officeDocument/2006/relationships/notesSlide" Target="/ppt/notesSlides/notesSlide11.xml" Id="Rc84ea8c8ed79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4c56a6a2d4c5f" /><Relationship Type="http://schemas.openxmlformats.org/officeDocument/2006/relationships/notesSlide" Target="/ppt/notesSlides/notesSlide12.xml" Id="R6b0bc1fa5ec040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0004d76684753" /><Relationship Type="http://schemas.openxmlformats.org/officeDocument/2006/relationships/notesSlide" Target="/ppt/notesSlides/notesSlide13.xml" Id="R09d04890eea344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cd09078b54097" /><Relationship Type="http://schemas.openxmlformats.org/officeDocument/2006/relationships/notesSlide" Target="/ppt/notesSlides/notesSlide14.xml" Id="Rb7060766968345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95a257be448ee" /><Relationship Type="http://schemas.openxmlformats.org/officeDocument/2006/relationships/notesSlide" Target="/ppt/notesSlides/notesSlide15.xml" Id="R36f243bc5beb48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0f2c1a1e3438a" /><Relationship Type="http://schemas.openxmlformats.org/officeDocument/2006/relationships/notesSlide" Target="/ppt/notesSlides/notesSlide16.xml" Id="R2256086538a04c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Episode gap RMSE (m) · mean across scenarios and seeds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024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In-distribution (24 episodes)</c:v>
          </c:tx>
          <c:spPr>
            <a:solidFill xmlns:a="http://schemas.openxmlformats.org/drawingml/2006/main">
              <a:srgbClr val="3F799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2.36</c:v>
                </c:pt>
                <c:pt idx="1">
                  <c:v>1.58</c:v>
                </c:pt>
                <c:pt idx="2">
                  <c:v>2.54</c:v>
                </c:pt>
                <c:pt idx="3">
                  <c:v>2.54</c:v>
                </c:pt>
              </c:numCache>
            </c:numRef>
          </c:val>
        </c:ser>
        <c:ser>
          <c:idx val="1"/>
          <c:order val="1"/>
          <c:tx>
            <c:v>Holdout (16 episodes)</c:v>
          </c:tx>
          <c:spPr>
            <a:solidFill xmlns:a="http://schemas.openxmlformats.org/drawingml/2006/main">
              <a:srgbClr val="D98F32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3.55</c:v>
                </c:pt>
                <c:pt idx="1">
                  <c:v>2.43</c:v>
                </c:pt>
                <c:pt idx="2">
                  <c:v>4.9</c:v>
                </c:pt>
                <c:pt idx="3">
                  <c:v>3.92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4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A8A"/>
                    </a:solidFill>
                    <a:latin typeface="Arial"/>
                    <a:ea typeface="Arial"/>
                    <a:cs typeface="Arial"/>
                  </a:rPr>
                  <a:t>RMSE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A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6F8F9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A8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9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Mean absolute jerk (m/s³)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024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In-distribution</c:v>
          </c:tx>
          <c:spPr>
            <a:solidFill xmlns:a="http://schemas.openxmlformats.org/drawingml/2006/main">
              <a:srgbClr val="3F799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0.207</c:v>
                </c:pt>
                <c:pt idx="1">
                  <c:v>0.271</c:v>
                </c:pt>
                <c:pt idx="2">
                  <c:v>0.504</c:v>
                </c:pt>
                <c:pt idx="3">
                  <c:v>0.504</c:v>
                </c:pt>
              </c:numCache>
            </c:numRef>
          </c:val>
        </c:ser>
        <c:ser>
          <c:idx val="1"/>
          <c:order val="1"/>
          <c:tx>
            <c:v>Holdout</c:v>
          </c:tx>
          <c:spPr>
            <a:solidFill xmlns:a="http://schemas.openxmlformats.org/drawingml/2006/main">
              <a:srgbClr val="D98F32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0.277</c:v>
                </c:pt>
                <c:pt idx="1">
                  <c:v>0.587</c:v>
                </c:pt>
                <c:pt idx="2">
                  <c:v>0.726</c:v>
                </c:pt>
                <c:pt idx="3">
                  <c:v>0.902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4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A8A"/>
                    </a:solidFill>
                    <a:latin typeface="Arial"/>
                    <a:ea typeface="Arial"/>
                    <a:cs typeface="Arial"/>
                  </a:rPr>
                  <a:t>m/s³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A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6F8F9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A8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9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Minimum gap in cut-in runs (m) · mean of 8 seeds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024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Minimum gap</c:v>
          </c:tx>
          <c:spPr>
            <a:solidFill xmlns:a="http://schemas.openxmlformats.org/drawingml/2006/main">
              <a:srgbClr val="0E9F94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6.76</c:v>
                </c:pt>
                <c:pt idx="1">
                  <c:v>11.26</c:v>
                </c:pt>
                <c:pt idx="2">
                  <c:v>3.41</c:v>
                </c:pt>
                <c:pt idx="3">
                  <c:v>9.14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4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A8A"/>
                    </a:solidFill>
                    <a:latin typeface="Arial"/>
                    <a:ea typeface="Arial"/>
                    <a:cs typeface="Arial"/>
                  </a:rPr>
                  <a:t>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A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6F8F9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8F9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Last follower / leader peak speed deviation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024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Peak amplification ratio</c:v>
          </c:tx>
          <c:spPr>
            <a:solidFill xmlns:a="http://schemas.openxmlformats.org/drawingml/2006/main">
              <a:srgbClr val="3F799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CTG-PID</c:v>
                </c:pt>
                <c:pt idx="1">
                  <c:v>MPC</c:v>
                </c:pt>
                <c:pt idx="2">
                  <c:v>Residual Q</c:v>
                </c:pt>
                <c:pt idx="3">
                  <c:v>Q + guard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0.735</c:v>
                </c:pt>
                <c:pt idx="1">
                  <c:v>0.633</c:v>
                </c:pt>
                <c:pt idx="2">
                  <c:v>1.04</c:v>
                </c:pt>
                <c:pt idx="3">
                  <c:v>1.04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4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A8A"/>
                    </a:solidFill>
                    <a:latin typeface="Arial"/>
                    <a:ea typeface="Arial"/>
                    <a:cs typeface="Arial"/>
                  </a:rPr>
                  <a:t>ratio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A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6F8F9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8F9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1BFAA-207D-4A65-8EAF-B3B1D2D5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6409A-2736-405C-96F1-423C4AF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COURSE PROJECT</a:t>
            </a:r>
          </a:p>
        </p:txBody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6F896AEF-B280-4844-914F-01CF3926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715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Learning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Adaptive Cruise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253A3-6951-40E5-92C1-21F3753B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6D0"/>
                </a:solidFill>
                <a:latin typeface="Arial"/>
                <a:ea typeface="Arial"/>
                <a:cs typeface="Arial"/>
              </a:rPr>
              <a:t>01   /  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A23AB-DE45-4CD7-BEB8-88C9439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928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D5E0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5E0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0E7"/>
                </a:solidFill>
                <a:latin typeface="Arial"/>
                <a:ea typeface="Arial"/>
                <a:cs typeface="Arial"/>
              </a:rPr>
              <a:t>A transparent tabular policy, classical baselines, and a braking-distance 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C9C43-3D39-4CDC-AA6C-7DCD4C5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957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FE90C-E5C1-43FD-8FB6-4528A8F2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62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 technology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9AD7C-3D0B-4505-A83F-7A1B2F45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719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6D0"/>
                </a:solidFill>
                <a:latin typeface="Arial"/>
                <a:ea typeface="Arial"/>
                <a:cs typeface="Arial"/>
              </a:rPr>
              <a:t>Team members: add names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8CABE-4025-41AB-86AA-819F8C90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29300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6D0"/>
                </a:solidFill>
                <a:latin typeface="Arial"/>
                <a:ea typeface="Arial"/>
                <a:cs typeface="Arial"/>
              </a:rPr>
              <a:t>Simulation evidence · literature synthesis · engineering limits</a:t>
            </a:r>
          </a:p>
        </p:txBody>
      </p:sp>
    </p:spTree>
    <p:extLst>
      <p:ext uri="{BB962C8B-B14F-4D97-AF65-F5344CB8AC3E}">
        <p14:creationId xmlns:p14="http://schemas.microsoft.com/office/powerpoint/2010/main" val="67482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6F198-880A-4295-A939-90B154B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0E0CF-2525-409F-B1A7-DE96CFE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01 · ENGINEERING CONTEXT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3B90D43-0D30-4B5B-97F2-B3B20A1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ACC couples vehicle dynamics, comfort and following distance.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22F61-3FBB-41B6-AFEB-9CE0DF64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E9AC6-BFDE-4E1F-A924-D3FCFB9B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CBDFF-F6B8-4BB2-AD68-BC25969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384A8-E998-4497-89A0-4F77472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An ACC controller must regulate the ego vehicle while the lead vehicle changes speed.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F8F9B-310D-4697-B666-8F27ED6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017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D7B8-9C8B-4321-A8FD-5B6F058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89AE8-A281-410F-A317-0C278AD5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Track a chosen time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6B7E3-869E-4F76-BE03-3FA9F7E1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Spacing changes as ego speed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AB0AF-514F-4BFB-AD5A-FF7E487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6FB6E-78F4-4E68-BAFA-48F9794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Respond to braking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15A15-43A3-4108-BC09-74A32004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Actuator lag delays the vehicle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D477C-02B1-4C12-AC60-03A7CFA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573BB-9758-4AD9-BB83-326AECE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052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Avoid harsh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ECAB9-112D-49AB-BCBC-154531E5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Acceleration and jerk affect comfort.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9C420-C095-4801-B131-B1C7192E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0532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6EB0E-DAF7-433A-944C-859AE52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053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Limit disturbance 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F6D5-8B9B-4594-9A8C-4E77A13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 follower can amplify a traffic wave.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CA46C-5EA0-4AF0-89F3-E4B5C794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The project scope: longitudinal car-following only.</a:t>
            </a:r>
          </a:p>
        </p:txBody>
      </p:sp>
    </p:spTree>
    <p:extLst>
      <p:ext uri="{BB962C8B-B14F-4D97-AF65-F5344CB8AC3E}">
        <p14:creationId xmlns:p14="http://schemas.microsoft.com/office/powerpoint/2010/main" val="1276975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03EF9-D9E2-4276-835D-AC4FA30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ABA3D-47EA-4CD8-83DD-CAC9F6E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02 · LITERATURE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7700B5-51FA-45A6-A987-94CB0C2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Three research threads shape the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9202D-A366-4352-9FF2-21FCB90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E8D92-2DD3-4EDB-802D-1664FC7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48E21-8821-4487-81B2-AB37908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1B6CE-FE92-4E22-837E-F473AA0A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F79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F799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F7990"/>
                </a:solidFill>
                <a:latin typeface="Arial"/>
                <a:ea typeface="Arial"/>
                <a:cs typeface="Arial"/>
              </a:rPr>
              <a:t>CLASSICAL ACC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A6B1-0CD0-4F89-83C9-A54ACCF3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Bageshwar et al. (2004)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Predictive control for transitional maneuvers.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Li et al. (2011)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Multi-objective ACC MPC.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He et al. (2019)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Review of experimental-vehicle strategies.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76456-3A5A-45EA-A432-5C28D58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A070F-F99D-4520-98D8-DB3E84F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Strong baselines; real-vehicle evidence remains comparatively limited.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B6032-3819-4D05-9AA3-93F6E72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85900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1DD2A-363E-4526-A96E-09324E3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LEARNED FOLLOWING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10CA8-0A10-42DA-A11D-C3A0D4E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Desjardins &amp; Chaib-draa (2011)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RL for cooperative ACC.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Zhu et al. (2018, 2020)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Naturalistic car-following and safety/comfort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Lin et al. (2021)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DRL vs MPC for ACC.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FAA2E-6D86-4960-A107-8952D36D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DD7B9-8991-43B3-A22B-408CDB0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52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Objectives and evidence settings vary across papers.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AFE7C-BE6B-4412-AA1D-582A90B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485900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C3621-7952-4246-B8BC-B02F242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SAFETY METHODS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C3B42-6E63-40C5-A959-66D6AA21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Ames et al. (2014)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CBF-QP applied to ACC.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RSS (2017) · shielding (2018)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Explicit safety rules / action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Hailemichael et al. (2022)</a:t>
            </a:r>
          </a:p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Safety filtering for RL-based ACC.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886BA-9FF7-454E-9801-1C67E1D1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A5EBA-B9A9-4D0B-AFCA-350EA70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52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Assurance depends on explicit models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791795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A0AF4-4DC1-4B16-BEE9-BB52CBB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F8EB7-12F9-4A2C-9CB1-E66586D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03 · RESEARCH DESIGN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E57FD26-E9DE-4894-9F91-79836E4E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Can tabular RL improve a CTG controller without hiding the control logic?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66B47-1A87-4A5A-9591-9E7F134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84EA5-C565-4677-85EB-41BEE4C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117D0-F712-432E-BA3A-208B7DF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A6B40-A24E-4A91-842B-890D380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6286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We test a small learned acceleration residual, then compare it with CTG-PID and simplified MPC.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A2A88-BD10-47CC-90DD-A5FD37EB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RUBRIC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127E3-51F2-4732-8FD9-32E9C949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30–35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2AEF4-1EEC-4E39-9E05-FC85AD9B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for the literature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030D0-A692-4F72-AE79-E9EDB3A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10 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98D9B-72AF-483F-9BE7-8E9A91D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48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for own work / 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27076-A0C5-4F5F-9926-C477DBFF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30–35 marks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09B1E-66EE-4B19-963B-F303B062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for actual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E0167-9C99-48D0-BD86-6995AA0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E173F-2B7F-4474-93CD-BA77233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9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27A57-6E94-4D76-B2BC-1167170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43175"/>
            <a:ext cx="321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supplied guide suggests about 13 papers.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AC504-3445-4C38-A882-55F539E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The 30–35 figures are mark bands, not required paper counts.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CE136-922E-48AE-9A07-DF69E27F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1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Project contribution: transparent residual Q + matched evaluation + honest limits.</a:t>
            </a:r>
          </a:p>
        </p:txBody>
      </p:sp>
    </p:spTree>
    <p:extLst>
      <p:ext uri="{BB962C8B-B14F-4D97-AF65-F5344CB8AC3E}">
        <p14:creationId xmlns:p14="http://schemas.microsoft.com/office/powerpoint/2010/main" val="1371936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3C3A7-21A9-4716-AEFF-107781D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07984-9D8D-449D-8BA6-5EB4B5F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04 · ARCHITECTURE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4DB9A0B-A260-41F7-BB90-0647BAAB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learned action is a small residual inside an automotive control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E788-F9D4-42DE-B04E-5FE0959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E861-CC5C-4F07-B36F-601D0E6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72554-3381-4B17-BD47-7FAC3AF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architecture-block-1">
            <a:extLst xmlns:a="http://schemas.openxmlformats.org/drawingml/2006/main">
              <a:ext uri="{FF2B5EF4-FFF2-40B4-BE49-F238E27FC236}">
                <a16:creationId xmlns:a16="http://schemas.microsoft.com/office/drawing/2014/main" id="{4126AC09-80EA-4EE6-93DA-132AC59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666875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C09A5-4D37-4FCC-B0FB-0E32A8F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812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Lead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5793B-34F9-46C5-BC26-34417CB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438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speed + braking</a:t>
            </a:r>
          </a:p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68A65-4DCA-4AAF-8F2A-2CF55686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98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itecture-block-2">
            <a:extLst xmlns:a="http://schemas.openxmlformats.org/drawingml/2006/main">
              <a:ext uri="{FF2B5EF4-FFF2-40B4-BE49-F238E27FC236}">
                <a16:creationId xmlns:a16="http://schemas.microsoft.com/office/drawing/2014/main" id="{F0B3194E-88AA-44ED-BA7A-C2F59FA5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62200"/>
            <a:ext cx="1809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12D03-C393-46EB-A9AF-173A224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812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998A1-C63E-4F45-8675-57F917F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gap error · closing speed</a:t>
            </a:r>
          </a:p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ego speed · acceleration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0D550-AEEC-481E-8BDF-930EB79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itecture-block-3">
            <a:extLst xmlns:a="http://schemas.openxmlformats.org/drawingml/2006/main">
              <a:ext uri="{FF2B5EF4-FFF2-40B4-BE49-F238E27FC236}">
                <a16:creationId xmlns:a16="http://schemas.microsoft.com/office/drawing/2014/main" id="{9943A4C4-7238-4160-996B-A6E54DA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1762125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6CD31-A8EB-4835-89C8-9C29CAE4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81275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CTG-PID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36339-95A2-4BC2-AB15-469110A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0375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nominal time-gap</a:t>
            </a:r>
          </a:p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feedback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3B078-AE44-49D8-A858-0BDAE047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8098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itecture-block-4">
            <a:extLst xmlns:a="http://schemas.openxmlformats.org/drawingml/2006/main">
              <a:ext uri="{FF2B5EF4-FFF2-40B4-BE49-F238E27FC236}">
                <a16:creationId xmlns:a16="http://schemas.microsoft.com/office/drawing/2014/main" id="{0510B91C-E0C2-4DA5-87BD-D7726271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62200"/>
            <a:ext cx="1685925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B1BE5-67DC-4BDD-A8D2-FF2D1E3E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81275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Q 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8274F-08B9-48EA-9E3A-9A9F502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0375"/>
            <a:ext cx="1457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discrete residual</a:t>
            </a:r>
          </a:p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15441-5913-4F57-AB78-E40A1A2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itecture-block-5">
            <a:extLst xmlns:a="http://schemas.openxmlformats.org/drawingml/2006/main">
              <a:ext uri="{FF2B5EF4-FFF2-40B4-BE49-F238E27FC236}">
                <a16:creationId xmlns:a16="http://schemas.microsoft.com/office/drawing/2014/main" id="{33C53785-846A-4148-AAFF-ED54F3E1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67640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78DD2-2AF3-4431-9120-96866D3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81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Action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1EA63-B427-40A2-B058-B2124BE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44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RSS-inspired</a:t>
            </a:r>
          </a:p>
          <a:p xmlns:a="http://schemas.openxmlformats.org/drawingml/2006/main">
            <a:pPr algn="ctr">
              <a:defRPr sz="1163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braking margin</a:t>
            </a:r>
          </a:p>
        </p:txBody>
      </p:sp>
      <p:sp>
        <p:nvSpPr>
          <p:cNvPr id="26" name="vehicle-plant">
            <a:extLst xmlns:a="http://schemas.openxmlformats.org/drawingml/2006/main">
              <a:ext uri="{FF2B5EF4-FFF2-40B4-BE49-F238E27FC236}">
                <a16:creationId xmlns:a16="http://schemas.microsoft.com/office/drawing/2014/main" id="{534B5C0D-CCFD-4A62-9BCE-C19B1910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71950"/>
            <a:ext cx="4543425" cy="847725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69D53-C632-4C6E-89AB-E08C0C06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33875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Actuator + ego vehicle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49F51-B7DB-433F-A0F9-36583AE7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672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0">
                <a:solidFill>
                  <a:srgbClr val="CBD8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CBD8E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8E0"/>
                </a:solidFill>
                <a:latin typeface="Arial"/>
                <a:ea typeface="Arial"/>
                <a:cs typeface="Arial"/>
              </a:rPr>
              <a:t>first-order lag · drag · rolling resistance · bounded acceleration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9ACB9-C268-4853-8747-E7B2956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371975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C3AB9-3788-48F0-89DF-4CB59890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71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ego 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3A519-A59D-4023-A29D-AA317332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 zero residual leaves CTG-PID in charge for tied or unvisited state bins.</a:t>
            </a:r>
          </a:p>
        </p:txBody>
      </p:sp>
    </p:spTree>
    <p:extLst>
      <p:ext uri="{BB962C8B-B14F-4D97-AF65-F5344CB8AC3E}">
        <p14:creationId xmlns:p14="http://schemas.microsoft.com/office/powerpoint/2010/main" val="1793391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CA2CA-ECC7-446A-BA1F-C7D0D4E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DADF7-D768-4D8F-A2C5-13393A9B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05 · MODEL AND POLICY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6A9AD1E-250B-4884-BA52-A8EFB5F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A compact model keeps the experiment inspectable.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AC39-0891-42D7-844C-EEE149B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7BA03-1EE2-42B3-8A6A-215A2A9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4089B-1E6E-45D2-ADF0-7FF40AB0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1D01B-7EEE-4D8A-B1BF-533FD532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VEHICLE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392F7-B92D-4F74-AF8D-6A0D7E6E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437"/>
                </a:solidFill>
                <a:latin typeface="Arial"/>
                <a:ea typeface="Arial"/>
                <a:cs typeface="Arial"/>
              </a:rPr>
              <a:t>Δt = 0.1 s  ·  mass = 1,500 kg</a:t>
            </a:r>
          </a:p>
          <a:p xmlns:a="http://schemas.openxmlformats.org/drawingml/2006/main">
            <a:pPr algn="l">
              <a:defRPr sz="1650" b="0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437"/>
                </a:solidFill>
                <a:latin typeface="Arial"/>
                <a:ea typeface="Arial"/>
                <a:cs typeface="Arial"/>
              </a:rPr>
              <a:t>actuator τ = 0.35 s</a:t>
            </a:r>
          </a:p>
          <a:p xmlns:a="http://schemas.openxmlformats.org/drawingml/2006/main">
            <a:pPr algn="l">
              <a:defRPr sz="1650" b="0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437"/>
                </a:solidFill>
                <a:latin typeface="Arial"/>
                <a:ea typeface="Arial"/>
                <a:cs typeface="Arial"/>
              </a:rPr>
              <a:t>acceleration command = −6 to +2.5 m/s²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6CF18-E39F-4512-B33F-BDEBEB2A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2400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95541-CB31-4F55-AA10-AB500D80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TIME-GAP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4A953-10C2-4A19-A191-3A23ED5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d* = 5 m + 1.3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B02DF-59A3-4E8C-811A-7F94FAB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Five state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6E950-B543-48F1-A21C-D0517674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77478-14F7-4790-AA2B-74C7A60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gap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09830-5014-491F-9D12-25E91D29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01E92-B853-426E-9254-649F1A3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closing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08FD0-C3BF-4F8F-9E2D-A4CA70AB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5813C-9A68-4C34-BDCE-0678797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ego 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F61F-1C6D-4F38-9BB9-5DE0924E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C4304-3D42-4266-B923-53368AB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actual ego acceleration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9D136-3AC3-4830-8977-1D02BAB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6809C-77C1-4C24-8482-51D277A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estimated lead acceleration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E47EB-7255-4512-844A-26AC38F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575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Seven residual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BD613-5243-491D-B6E3-1573636D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−1.2  −0.6  −0.25  0  +0.25  +0.6  +1.2 m/s²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6FAFD-F8B2-49B7-A44F-641B653B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6,000 episodes  ·  α = 0.12  ·  γ = 0.985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C69BC-0267-48CA-A15A-5F538213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The reward penalizes gap error, relative speed, acceleration, jerk, negative braking margin and collision.</a:t>
            </a:r>
          </a:p>
        </p:txBody>
      </p:sp>
    </p:spTree>
    <p:extLst>
      <p:ext uri="{BB962C8B-B14F-4D97-AF65-F5344CB8AC3E}">
        <p14:creationId xmlns:p14="http://schemas.microsoft.com/office/powerpoint/2010/main" val="81997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ED17B8-74BC-4933-9895-0A23FE7D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A7709-FE0A-4333-BD21-2964F166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06 · EVALUATION PROTOCOL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6E2AB45-3552-48F6-B0E6-68B5A7E7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Matched controllers, five scripted scenarios, eight seeds per cell.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C8181-03BA-4B20-8597-926185A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43559-B89C-46DE-A2B6-4374685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37A53-F8EE-4C39-BEA9-42EA0F8B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FF412-568F-44EB-A16C-A078DC3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5B0C2-8EA9-405E-89DB-AC16A051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6,000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27C48-5EF6-43DC-8DC4-7A847ED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steady · smooth wave · moderate brake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99DBF-6F84-4A61-80AC-666AD28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85900"/>
            <a:ext cx="0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07EFE-B668-439C-ACC7-8C41B75B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763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IN-DISTRIBUTION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EDF3E-F67C-4940-9F5B-306E260C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3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FEC52-FF16-422B-B7AD-F4A277D4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steady · wave · brake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0C241-F0D3-445E-8E16-7B440E8B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485900"/>
            <a:ext cx="0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0A2D3-7800-4C57-89F1-8CE99BC7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HOLDOUT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56610-CB63-4572-B8DA-EA0D8597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2 stresses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0E06D-F766-400C-AA76-9BD57329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synthetic gap drop + brake</a:t>
            </a:r>
          </a:p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higher-speed emergency brake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EA3C3-92D9-4931-AFA9-5A2871B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80C45-8F10-4A1A-B93F-6F533BAC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D556A-DFBA-4DF3-809E-CB31C38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CTG-PID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86C60-E8AD-4C01-A6B9-0EAAE3C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385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F0563-0900-4C54-9338-0C35A3C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57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MPC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7C000-E920-46DB-8CF0-C57B00C5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385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67CEF-4D37-4D3B-8B13-5222E760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Residual 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CEEE1-FFE3-4B80-B190-624D6265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385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00CFE-7FCF-456F-B01A-BD12C60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57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E3B"/>
                </a:solidFill>
                <a:latin typeface="Arial"/>
                <a:ea typeface="Arial"/>
                <a:cs typeface="Arial"/>
              </a:rPr>
              <a:t>Q + 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F6060A-E788-458A-9A76-5380848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5 scenarios × 4 controllers × 8 seeds = 160 episodes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1C0AC-D082-4134-A08B-10DC1C0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Same scenario and seed are used across controllers. The cut-in is a 22 m instantaneous gap reduction, not lane-change geometry.</a:t>
            </a:r>
          </a:p>
        </p:txBody>
      </p:sp>
    </p:spTree>
    <p:extLst>
      <p:ext uri="{BB962C8B-B14F-4D97-AF65-F5344CB8AC3E}">
        <p14:creationId xmlns:p14="http://schemas.microsoft.com/office/powerpoint/2010/main" val="116789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67F85-47E4-4AB8-A6F3-42BE25CE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FC276-D9BC-4340-B554-799016B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07 · RESULTS · TRACKING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3A373B8-90F5-4726-BA64-85A45C6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MPC gives the lowest gap error in both evaluation groups.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38B08-7205-438C-A362-9393D74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56C97-2A91-46EC-A8AA-331AF9CE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A5CC6-F29A-46C8-9873-A9F8BD30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ED3220D-1070-4114-B57D-2CF57EFB5C6C}"/>
              </a:ext>
            </a:extLst>
          </p:cNvPr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110871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00767acbd5458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1F1D-D14B-40B3-AE44-B71E7E0C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Lower tracking error does not by itself mean safer or more comfortable control.</a:t>
            </a:r>
          </a:p>
        </p:txBody>
      </p:sp>
    </p:spTree>
    <p:extLst>
      <p:ext uri="{BB962C8B-B14F-4D97-AF65-F5344CB8AC3E}">
        <p14:creationId xmlns:p14="http://schemas.microsoft.com/office/powerpoint/2010/main" val="1264695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37122-A221-48C1-AA9E-06885367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DA03B-376F-44CF-B8D0-F6710236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08 · RESULTS · COMFORT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55DF493-6AB6-45A0-88E4-60F1D01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learned corrections add jerk; the guard adds more on holdout.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8FF9A-9C4F-4C2E-AA0A-3DD1DE1F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7DE1-27BD-40B8-A72A-3AC21FF4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FE5B8-CF02-4C4B-8CB5-607B214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4133EE4-9179-45BC-B25E-544EA3D7E7AD}"/>
              </a:ext>
            </a:extLst>
          </p:cNvPr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8191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ac4dd706054d6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98941-DA2E-4541-844D-6D02943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62100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8BAB5-BCB8-40E8-9BA4-870D1332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66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Comfort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FD784-28CA-44F2-98F4-A7D3ECC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5265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Q adds discrete action changes on top of a smooth nominal controller.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6A024-501A-4C36-B9F6-E20D55A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5814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Q + 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31621-FBDC-4DA3-A84F-CF57953F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010025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0.902 m/s³ holdout mean |jerk|, versus 0.726 for unfiltered Q.</a:t>
            </a:r>
          </a:p>
        </p:txBody>
      </p:sp>
    </p:spTree>
    <p:extLst>
      <p:ext uri="{BB962C8B-B14F-4D97-AF65-F5344CB8AC3E}">
        <p14:creationId xmlns:p14="http://schemas.microsoft.com/office/powerpoint/2010/main" val="995868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37BC2-5F86-4B62-88EF-C86F95E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297DB-86D6-4B51-A0A7-4D77249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09 · RESULTS · HOLDOUT STRESS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7B41B23-E03B-442E-8F8C-FB5BFF11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synthetic cut-in exposes the filter’s safety–comfort trade-off.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30137-C0AB-48D7-8390-377D054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FD4C0-6E9E-4AD1-BB47-5865ABD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47909-BFD6-4DDD-9526-F6D11E5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C24C3F8-D921-41FC-BF7B-568BFAD4A542}"/>
              </a:ext>
            </a:extLst>
          </p:cNvPr>
          <p:cNvGraphicFramePr/>
          <p:nvPr/>
        </p:nvGraphicFramePr>
        <p:xfrm>
          <a:off xmlns:a="http://schemas.openxmlformats.org/drawingml/2006/main" x="552450" y="1438275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bc6ae9baa24af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D643D-3FD9-48D4-AB14-029511D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62100"/>
            <a:ext cx="0" cy="405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57263-B714-4554-B199-489B637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52600"/>
            <a:ext cx="2828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A8A"/>
                </a:solidFill>
                <a:latin typeface="Arial"/>
                <a:ea typeface="Arial"/>
                <a:cs typeface="Arial"/>
              </a:rPr>
              <a:t>Q TIME WITH TTC &lt; 2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81AA6-85BD-45AF-B5E5-ED586B5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9775"/>
            <a:ext cx="2828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94E45"/>
                </a:solidFill>
                <a:latin typeface="Arial"/>
                <a:ea typeface="Arial"/>
                <a:cs typeface="Arial"/>
              </a:rPr>
              <a:t>3.13%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1D042-8D0E-4550-973D-A09A3323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812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Q + guard: 0% in these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CFD3B-259E-4C8D-90C1-5E81460C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57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A8A"/>
                </a:solidFill>
                <a:latin typeface="Arial"/>
                <a:ea typeface="Arial"/>
                <a:cs typeface="Arial"/>
              </a:rPr>
              <a:t>GUARD INTERVENTIONS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7F7C8-307E-441E-80AE-45CBD3D0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147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32.9 /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1873C-134B-4838-AB3E-11CF3FA4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76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8.22% of cut-in time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E5601-03AD-4D6A-8792-BE39D97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3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The modeled cut-in is an instantaneous 22 m gap drop; no lane-change dynamics.</a:t>
            </a:r>
          </a:p>
        </p:txBody>
      </p:sp>
    </p:spTree>
    <p:extLst>
      <p:ext uri="{BB962C8B-B14F-4D97-AF65-F5344CB8AC3E}">
        <p14:creationId xmlns:p14="http://schemas.microsoft.com/office/powerpoint/2010/main" val="18266755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FBC8F-5902-4811-97E3-A0F3F922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B3A7-47F3-4109-AE52-6C5B1B3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10 · RESULTS · DISTURBANCE RESPONSE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0F12C9B-422A-48DC-AF2E-DFC8361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In one four-car pulse, Q slightly amplifies the final speed deviation.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771F3-8737-4FD0-9953-AF5121D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CC312-0598-4731-A24D-2C65D78F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4751C-30EE-4F06-89F6-414A286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3963F1B-5BF8-4A26-8930-773602F6923A}"/>
              </a:ext>
            </a:extLst>
          </p:cNvPr>
          <p:cNvGraphicFramePr/>
          <p:nvPr/>
        </p:nvGraphicFramePr>
        <p:xfrm>
          <a:off xmlns:a="http://schemas.openxmlformats.org/drawingml/2006/main" x="552450" y="1447800"/>
          <a:ext xmlns:a="http://schemas.openxmlformats.org/drawingml/2006/main" cx="7239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f590f02c548f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D2FB3-C3C4-4E76-AE12-B3E84D2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0" cy="399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0AE0C-86F9-4466-8050-0D1EE28A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8592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Read the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45F6-40DD-4E48-BF51-4D62C6A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193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C75"/>
                </a:solidFill>
                <a:latin typeface="Arial"/>
                <a:ea typeface="Arial"/>
                <a:cs typeface="Arial"/>
              </a:rPr>
              <a:t>&lt; 1  ·  this pulse attenuates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EE8A-C432-4649-9D18-57DB850F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B94E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94E4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4E45"/>
                </a:solidFill>
                <a:latin typeface="Arial"/>
                <a:ea typeface="Arial"/>
                <a:cs typeface="Arial"/>
              </a:rPr>
              <a:t>&gt; 1  ·  this pulse amplifies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91A53-8229-4C78-AB87-3C3064EB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4 vehicles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1DF4B-4962-4A9B-9C8A-8EBEE3C2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one 32 s test</a:t>
            </a:r>
          </a:p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−2 m/s² leader pulse for 1.2 s, then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D967C-8A06-49B7-B09C-35B8DDB0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A diagnostic for one pulse—not a general string-stability proof.</a:t>
            </a:r>
          </a:p>
        </p:txBody>
      </p:sp>
    </p:spTree>
    <p:extLst>
      <p:ext uri="{BB962C8B-B14F-4D97-AF65-F5344CB8AC3E}">
        <p14:creationId xmlns:p14="http://schemas.microsoft.com/office/powerpoint/2010/main" val="710138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A8734-D72C-475C-B66C-1E54728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7F37-5A0F-4037-9E9D-8D18481A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11 · LITERATURE SYNTHESIS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47C7113-36AF-43B4-8664-12C30E1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evidence supports testing trade-offs, not assuming RL wins.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02C65-2D63-47F5-96E6-CC6DF8D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1653-AE54-4369-A9CD-EA52D74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8EBD8-029C-4527-961C-5BF82E15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BF2AC-18C7-47D4-99D3-1978DCB0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73281-76E4-48CF-B29C-8F1B27E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62100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Classical methods set a clear reference.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30F6E-3DF8-427E-8D90-CF640B77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MPC can exploit a model and objective; feedback control gives a simple nominal 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895D6-CAD8-4ED4-B85C-545F26D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7175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9413E-078B-4F60-B2DF-D74EEFF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83F60-C0A9-4B55-A8F5-6C1413EB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38450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RL results depend on what is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94DD4-1E54-4AC1-BC81-33B827A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2897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Trajectory imitation, CACC coordination and traffic-wave damping answer different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23FB1-5242-48F6-B83A-D0AEA65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4810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FFA03-A2B5-4807-9417-53E82A17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71B82-20E0-4B85-A300-AB369C7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14800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Safety filters inherit their assumptions.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57E8B-6274-439C-A253-D1E855D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5053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 numerical action guard is weaker evidence than a verified model/specification with explicit guarantees.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9A32B-D705-4E63-9173-4810D24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857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FAE02-F16B-4165-AAE3-B214D4C7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Our niche: an inspectable residual policy, evaluated against transparent baselines and explicit holdouts.</a:t>
            </a:r>
          </a:p>
        </p:txBody>
      </p:sp>
    </p:spTree>
    <p:extLst>
      <p:ext uri="{BB962C8B-B14F-4D97-AF65-F5344CB8AC3E}">
        <p14:creationId xmlns:p14="http://schemas.microsoft.com/office/powerpoint/2010/main" val="281595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775D8-6AF6-4DD8-BFDC-3A00CA41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1B6AD-579E-4818-96BB-7484747D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12 · OWN WORK</a:t>
            </a:r>
          </a:p>
        </p:txBody>
      </p:sp>
      <p:sp>
        <p:nvSpPr>
          <p:cNvPr id="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35A6FE3B-7F2D-4B5E-BE7F-6CB9086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first Q policy failed; the redesign made the baseline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FF834-FB4D-49B1-A1D3-05D23357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09160-F84B-4685-8C35-B1B8E357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103BC-907A-45D4-81B3-9681598E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7BB24-6DF8-43A9-9239-CF086CF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04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4E45"/>
                </a:solidFill>
                <a:latin typeface="Arial"/>
                <a:ea typeface="Arial"/>
                <a:cs typeface="Arial"/>
              </a:rPr>
              <a:t>ABSOLUTE ACTION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4AE7C-5437-4374-97B8-A805F743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B94E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94E45"/>
                </a:solidFill>
                <a:latin typeface="Arial"/>
                <a:ea typeface="Arial"/>
                <a:cs typeface="Arial"/>
              </a:rPr>
              <a:t>15.20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524C6-AEC0-497E-8875-8F0F3CF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809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in-distribution gap RMSE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2D89B-70AA-4BFB-BB7D-80CAED9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1 /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C547B-C4C0-4274-85E8-D54424B5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14725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episodes had a collision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BC4F3-0F99-4A94-8319-4A17ADFC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8EC2C-E89E-4AA8-9976-849BD15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3333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RESIDUAL Q REDESIGN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58CDE-232C-4702-9F1E-E3BC8D8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907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CTG-PID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66803-5E96-4987-B5A3-9D47ABF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+ one of seven learned corrections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323B4-EE8E-4E0E-B723-18E441D9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43225"/>
            <a:ext cx="519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C75"/>
                </a:solidFill>
                <a:latin typeface="Arial"/>
                <a:ea typeface="Arial"/>
                <a:cs typeface="Arial"/>
              </a:rPr>
              <a:t>zero residual on ties / unvisited bins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B2A2B-1CB6-4062-BDAB-D539829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528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AF851-ECDE-4B6E-9FD4-64C5086B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FORMAL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D8A55-10D0-44E8-9608-C76CBEE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95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2.54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829BB-82BC-4AFE-8676-44BFFD72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672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Q gap RMSE</a:t>
            </a:r>
          </a:p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24 in-distribution episodes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B2A63-D99E-4CF3-B57D-101DCF89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3F79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F79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990"/>
                </a:solidFill>
                <a:latin typeface="Arial"/>
                <a:ea typeface="Arial"/>
                <a:cs typeface="Arial"/>
              </a:rPr>
              <a:t>2.36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05DFA-71DC-4244-811D-C12D3936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CTG-PID gap RMSE</a:t>
            </a:r>
          </a:p>
          <a:p xmlns:a="http://schemas.openxmlformats.org/drawingml/2006/main">
            <a:pPr algn="l">
              <a:defRPr sz="1200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24 in-distribution episodes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450C4-ACFA-45BA-B61E-047E505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The pilot is archived; final results use the revised, separately trained table.</a:t>
            </a:r>
          </a:p>
        </p:txBody>
      </p:sp>
    </p:spTree>
    <p:extLst>
      <p:ext uri="{BB962C8B-B14F-4D97-AF65-F5344CB8AC3E}">
        <p14:creationId xmlns:p14="http://schemas.microsoft.com/office/powerpoint/2010/main" val="695942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4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8E609-AB6B-4168-BE87-3A1E116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F435E-5399-4A4C-827F-BCC971D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13 · CONCLUSION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4ADCCAC7-2951-408B-9854-49D9F6E4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this setup, classical control remains the stronger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526E0-4271-4632-9321-B8F48DD4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B8C6D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6D0"/>
                </a:solidFill>
                <a:latin typeface="Arial"/>
                <a:ea typeface="Arial"/>
                <a:cs typeface="Arial"/>
              </a:rPr>
              <a:t>14   /  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44FF5-8AB9-4934-A291-4240639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06363-BF7D-4F9D-8A02-1FAADA96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0325"/>
            <a:ext cx="30003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MPC had the lowest gap RMSE.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92C65-C5B0-4634-8606-E1EA69A6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0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50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32911-898A-4C33-A2C9-26DB5E3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E9F9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94"/>
                </a:solidFill>
                <a:latin typeface="Arial"/>
                <a:ea typeface="Arial"/>
                <a:cs typeface="Arial"/>
              </a:rPr>
              <a:t>COMFORT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5618E-B9EE-4A8B-A5C9-441A32B2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30003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 Q increased mean absolute jerk.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B4521-E9A7-433B-AA73-7F6E1178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0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50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ABF91-49D0-4C69-AC4B-CDFDEC0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90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98F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8F32"/>
                </a:solidFill>
                <a:latin typeface="Arial"/>
                <a:ea typeface="Arial"/>
                <a:cs typeface="Arial"/>
              </a:rPr>
              <a:t>HOLDOUT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4F412-1232-47A2-B79E-A385683C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30003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guard improved Q’s cut-in TTC/gap indicators, with frequent action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07B76-E4E5-49BF-A812-DBC27C96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05325"/>
            <a:ext cx="76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54F73-3064-4473-83C7-90EF1D8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a reproducible teaching simulation—not a vehicle safety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D6049-B792-435E-81F2-378D9CF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C8D4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8D4D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4DC"/>
                </a:solidFill>
                <a:latin typeface="Arial"/>
                <a:ea typeface="Arial"/>
                <a:cs typeface="Arial"/>
              </a:rPr>
              <a:t>Next: broaden uncertainty and scenarios; compare against a formal safety filter.</a:t>
            </a:r>
          </a:p>
        </p:txBody>
      </p:sp>
    </p:spTree>
    <p:extLst>
      <p:ext uri="{BB962C8B-B14F-4D97-AF65-F5344CB8AC3E}">
        <p14:creationId xmlns:p14="http://schemas.microsoft.com/office/powerpoint/2010/main" val="1842067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52BDC-9101-4286-B6EB-56DD67B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C5317-F87B-482F-A380-F247B64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REFERENCES · 1 OF 2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287FFA61-88B7-46CA-AE21-E70E95B2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ACC control and reinforcement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9B2B3-F48A-4045-B591-0F2AB370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799B3-DD1E-459F-AE52-3B30841E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CD2C-A573-4077-9377-228408E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D28CB-8868-4847-80E5-9CB6A67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28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11148-5445-4A1B-8912-034DC03C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Swaroop, D., &amp; Hedrick, J. K. (1996). String stability of interconnected systems. IEEE Transactions on Automatic Control, 41(3), 349–357. DOI: 10.1109/9.486636.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A445A-8EA4-4C84-80F7-DAB05A0B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5DA43-94C1-44B9-975A-BF7A839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Bageshwar, V. L., Garrard, W. L., &amp; Rajamani, R. (2004). Model predictive control of transitional maneuvers for adaptive cruise control vehicles. IEEE Transactions on Vehicular Technology, 53(5), 1573–1585. DOI: 10.1109/TVT.2004.833625.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8FFDB-2408-4D0B-AB52-51A22BEC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19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6D42C-B40C-491C-8A49-63DA314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Li, S. E., Li, K., Rajamani, R., &amp; Wang, J. (2011). Model predictive multi-objective vehicular adaptive cruise control. IEEE Transactions on Control Systems Technology, 19(3), 556–566. DOI: 10.1109/TCST.2010.2049203.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15AB4-422F-4146-864A-6B0663E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14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2E115-6311-42C1-919A-918A011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He, Y. et al. (2019). Adaptive cruise control strategies implemented on experimental vehicles: A review. IFAC-PapersOnLine, 52(5), 21–27. DOI: 10.1016/j.ifacol.2019.09.004.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ACE69-1C83-4741-9D2C-BB457471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7CF18-3A9E-439D-A3F3-EAC9697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Watkins, C. J. C. H., &amp; Dayan, P. (1992). Q-learning. Machine Learning, 8, 279–292. DOI: 10.1007/BF00992698.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9F1D5-9BB8-4650-AD26-4733022F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652CE-98C0-4F76-BA79-58FC2485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Desjardins, C., &amp; Chaib-draa, B. (2011). Cooperative adaptive cruise control: A reinforcement learning approach. IEEE Transactions on Intelligent Transportation Systems, 12(4), 1248–1260. DOI: 10.1109/TITS.2011.2157145.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5F983-14D2-46ED-AF58-5D4D8C3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00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77FC7-1E68-4DC4-BA88-4B68017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Zhu, M., Wang, X., &amp; Wang, Y. (2018). Human-like autonomous car-following model with deep reinforcement learning. Transportation Research Part C, 97, 348–368. DOI: 10.1016/j.trc.2018.10.024.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02044-8A88-46F8-A2EC-F2053DE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92C77-8A83-4F2F-9791-9AD1F83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Zhu, M. et al. (2020). Safe, efficient, and comfortable velocity control based on reinforcement learning for autonomous driving. Transportation Research Part C, 117, 102662. DOI: 10.1016/j.trc.2020.102662.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EBF0D-4BAD-450C-B3DF-E82998DC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91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97B41-39BB-4CFE-A360-722CEC60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Lin, Y., McPhee, J., &amp; Azad, N. L. (2021). Comparison of deep reinforcement learning and model predictive control for adaptive cruise control. IEEE Transactions on Intelligent Vehicles, 6, 221–231. DOI: 10.1109/TIV.2020.3012947.</a:t>
            </a:r>
          </a:p>
        </p:txBody>
      </p:sp>
    </p:spTree>
    <p:extLst>
      <p:ext uri="{BB962C8B-B14F-4D97-AF65-F5344CB8AC3E}">
        <p14:creationId xmlns:p14="http://schemas.microsoft.com/office/powerpoint/2010/main" val="13777457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AF19A-C312-44DA-85BC-434645F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08E87-5DC4-4DE8-9814-F257E16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REFERENCES · 2 OF 2</a:t>
            </a:r>
          </a:p>
        </p:txBody>
      </p:sp>
      <p:sp>
        <p:nvSpPr>
          <p:cNvPr id="3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0F49CE58-183B-4F89-A151-71D1E35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4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437"/>
                </a:solidFill>
                <a:latin typeface="Arial"/>
                <a:ea typeface="Arial"/>
                <a:cs typeface="Arial"/>
              </a:rPr>
              <a:t>Safety filtering, metrics and standards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884A-7F55-4886-9510-F43830E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20232-8A58-4947-9F28-082629D0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AUTOMOTIVE TECHNOLOGY  ·  ACC +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23EB5-9E7E-421D-ACF7-A24CA94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A8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8DDBD-421F-4745-96F3-6183003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28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60ED-D7F5-42E4-82AB-58EADE06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Ames, A. D. et al. (2014). Control barrier function based quadratic programs with application to adaptive cruise control. IEEE CDC. DOI: 10.1109/CDC.2014.7040372.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F941A-4263-4FE9-A0C9-4965D63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92C28-30CD-4535-9161-4E633B3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Shalev-Shwartz, S., Shammah, S., &amp; Shashua, A. (2017). On a formal model of safe and scalable self-driving cars. arXiv:1708.06374.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2C73E-0DC8-4199-A113-7B07CA6F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19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49719-086B-4E26-A24E-D64AC8B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Alshiekh, M. et al. (2018). Safe reinforcement learning via shielding. AAAI, 32(1), 2669–2678. DOI: 10.1609/AAAI.V32I1.11797.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9674D-949A-4230-9A04-A5B1E5C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14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AC2E3-FA22-4E66-A5CE-BCC7130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Ploeg, J., van de Wouw, N., &amp; Nijmeijer, H. (2014). Controller synthesis for string stability of vehicle platoons. IEEE T-ITS, 15(2), 854–865. DOI: 10.1109/TITS.2013.2291493.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9BEA2-82F9-4699-A583-FD4883A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7D-6ECA-42FC-83DC-BAA349D6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Hailemichael, G. et al. (2022). Safety filtering for reinforcement learning-based adaptive cruise control. IFAC-PapersOnLine, 55(24). DOI: 10.1016/j.ifacol.2022.10.276.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B84DE-524C-4B20-BA7D-FD89478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183B3-CB91-4434-A1C2-EA968F3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ElSamadisy, M. et al. (2024). Safe, efficient, and comfortable RL-based car-following for AVs with an analytic safety guarantee and dynamic target speed. TR Record, 2678(1), 643–661. DOI: 10.1177/03611981231171899.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D21DE-50EE-459A-A0BE-97087F0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00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940C8-81D2-43AB-B712-E0B0127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Vogel, K. (2003). A comparison of headway and time to collision as safety indicators. Accident Analysis &amp; Prevention, 35(3), 427–433. DOI: 10.1016/S0001-4575(02)00022-2.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693D1-B083-40C9-B15B-B36C3B4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D5FC1-FC75-469A-BAAD-F4F7636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ISO 15622:2018. Intelligent transport systems — Adaptive cruise control systems — Performance requirements and test procedures. iso.org/standard/71515.html.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D61B9-751D-4009-A2A1-AC0F15B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91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9DD15-2653-4755-8A21-C2A5DA4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1D2E3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D2E3B"/>
                </a:solidFill>
                <a:latin typeface="Arial"/>
                <a:ea typeface="Arial"/>
                <a:cs typeface="Arial"/>
              </a:rPr>
              <a:t>ISO 21448:2022. Road vehicles — Safety of the intended functionality (SOTIF). iso.org/standard/77490.html.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F116D-9FD2-4701-9F7F-5CE9A607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63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63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Our braking-distance guard is RSS-inspired; it is not a formal RSS, CBF, SOTIF assessment or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634570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2026-10-16T13:48:08.1180000Z</dcterms:created>
  <dcterms:modified xsi:type="dcterms:W3CDTF">2026-10-16T13:48:08.1180000Z</dcterms:modified>
</coreProperties>
</file>